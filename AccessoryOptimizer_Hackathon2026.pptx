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046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47A1">
              <a:alpha val="20000"/>
            </a:srgbClr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2194560" cy="502920"/>
          </a:xfrm>
          <a:prstGeom prst="rect">
            <a:avLst/>
          </a:prstGeom>
          <a:solidFill>
            <a:srgbClr val="FFB300"/>
          </a:solidFill>
          <a:ln w="63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HACKATHON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Accessory Demand &amp;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PART  ·  </a:t>
            </a:r>
            <a:r>
              <a:rPr lang="en-US" sz="18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TIME  ·  </a:t>
            </a:r>
            <a:r>
              <a:rPr lang="en-US" sz="1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QTY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Supply Chain Intelligence for Vehicle Logistics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1F3A"/>
          </a:solidFill>
          <a:ln w="12700">
            <a:solidFill>
              <a:srgbClr val="0E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Logistics &amp; Accessories Team  ·  MBUSA  ·  2026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97280"/>
            <a:ext cx="731520" cy="73152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5E87FF83-EFC6-0C92-82CE-5A7438396A23}"/>
              </a:ext>
            </a:extLst>
          </p:cNvPr>
          <p:cNvSpPr/>
          <p:nvPr/>
        </p:nvSpPr>
        <p:spPr>
          <a:xfrm>
            <a:off x="457200" y="39090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0F0"/>
                </a:solidFill>
              </a:rPr>
              <a:t>Team –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8D8EE-1911-CD9D-75AB-D1F0DF467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59" y="3909060"/>
            <a:ext cx="2682201" cy="334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463040" cy="347472"/>
          </a:xfrm>
          <a:prstGeom prst="rect">
            <a:avLst/>
          </a:prstGeom>
          <a:solidFill>
            <a:srgbClr val="D32F2F"/>
          </a:solidFill>
          <a:ln w="63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Forecast Is Broken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disconnected systems. Static proposals. Zero real-time visibility. Revenue walking out the door — every day.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1508760" cy="59436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Alteryx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93392" y="1783080"/>
            <a:ext cx="1508760" cy="59436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93392" y="1783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12464" y="1783080"/>
            <a:ext cx="1508760" cy="59436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12464" y="1783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31536" y="1783080"/>
            <a:ext cx="1508760" cy="59436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31536" y="1783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50608" y="1783080"/>
            <a:ext cx="1508760" cy="59436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50608" y="178308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450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560320" cy="1463040"/>
          </a:xfrm>
          <a:prstGeom prst="rect">
            <a:avLst/>
          </a:prstGeom>
          <a:solidFill>
            <a:srgbClr val="0E1F3A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0584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1×/Month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0292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Manual &amp; reactive.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0" y="2880360"/>
            <a:ext cx="2560320" cy="1463040"/>
          </a:xfrm>
          <a:prstGeom prst="rect">
            <a:avLst/>
          </a:prstGeom>
          <a:solidFill>
            <a:srgbClr val="0E1F3A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301752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4048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Visibility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333756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supply chain data.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035040" y="2880360"/>
            <a:ext cx="2560320" cy="1463040"/>
          </a:xfrm>
          <a:prstGeom prst="rect">
            <a:avLst/>
          </a:prstGeom>
          <a:solidFill>
            <a:srgbClr val="0E1F3A"/>
          </a:solidFill>
          <a:ln w="63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01752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67512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 Wk Lag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17220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with zero proactive alerts.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365760" y="45445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Customer dissatisfaction · Dealer dissatisfaction · MBUSA revenue loss · $10M+ at risk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371600" cy="347472"/>
          </a:xfrm>
          <a:prstGeom prst="rect">
            <a:avLst/>
          </a:prstGeom>
          <a:solidFill>
            <a:srgbClr val="FFB300"/>
          </a:solidFill>
          <a:ln w="63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Reactive Becomes Revenue Loss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137160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accessory revenue at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06040" cy="1371600"/>
          </a:xfrm>
          <a:prstGeom prst="rect">
            <a:avLst/>
          </a:prstGeom>
          <a:solidFill>
            <a:srgbClr val="0E1F3A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8–15wks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lead time with no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1371600"/>
          </a:xfrm>
          <a:prstGeom prst="rect">
            <a:avLst/>
          </a:prstGeom>
          <a:solidFill>
            <a:srgbClr val="0E1F3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3716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Systems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— no unified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8229600" cy="1920240"/>
          </a:xfrm>
          <a:prstGeom prst="rect">
            <a:avLst/>
          </a:prstGeom>
          <a:solidFill>
            <a:srgbClr val="0E1F3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29260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or overage at every VPC location — no single source of truth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3101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SME dependency · High human error risk · Low process efficiency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6941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get deleted</a:t>
            </a:r>
            <a:r>
              <a:rPr lang="en-US" sz="13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disappears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too reactive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0782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and customers dissatisfaction— directly </a:t>
            </a:r>
            <a:r>
              <a:rPr lang="en-US" sz="13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revenue and profit for MBUSA &amp; EBIT for MBAG</a:t>
            </a:r>
            <a:endParaRPr lang="en-US" sz="13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73736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AI-Powered Supply Chain Brain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PART  </a:t>
            </a:r>
            <a:r>
              <a:rPr lang="en-US" sz="2000" kern="0" spc="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2000" b="1" kern="0" spc="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TIME  </a:t>
            </a:r>
            <a:r>
              <a:rPr lang="en-US" sz="2000" kern="0" spc="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20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QTY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AI engine that unifies all data, predicts demand, </a:t>
            </a: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proposals*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3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proactive alerts* </a:t>
            </a: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before revenue is lost.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2011680" cy="2011680"/>
          </a:xfrm>
          <a:prstGeom prst="rect">
            <a:avLst/>
          </a:prstGeom>
          <a:solidFill>
            <a:srgbClr val="0E1F3A"/>
          </a:solidFill>
          <a:ln w="19050">
            <a:solidFill>
              <a:srgbClr val="0097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5786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SWT/VOISv + GLC + VPC + wholesale pipeline — one model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41448" y="2468880"/>
            <a:ext cx="2011680" cy="2011680"/>
          </a:xfrm>
          <a:prstGeom prst="rect">
            <a:avLst/>
          </a:prstGeom>
          <a:solidFill>
            <a:srgbClr val="0E1F3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257860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32888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Model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532888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by part  using live take-rate shifts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08576" y="2468880"/>
            <a:ext cx="2011680" cy="2011680"/>
          </a:xfrm>
          <a:prstGeom prst="rect">
            <a:avLst/>
          </a:prstGeom>
          <a:solidFill>
            <a:srgbClr val="0E1F3A"/>
          </a:solidFill>
          <a:ln w="1905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5786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0016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Auto-Proposals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700016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order recommendations with stock-vs-demand gap scoring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75704" y="2468880"/>
            <a:ext cx="2011680" cy="2011680"/>
          </a:xfrm>
          <a:prstGeom prst="rect">
            <a:avLst/>
          </a:prstGeom>
          <a:solidFill>
            <a:srgbClr val="0E1F3A"/>
          </a:solidFill>
          <a:ln w="19050">
            <a:solidFill>
              <a:srgbClr val="D32F2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257860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67144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67144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before lead-time gaps trigger code removals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A204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85800" y="46360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Natural Language Interface: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anything in plain English — "What accessories are at risk this week at VPC Dallas?"</a:t>
            </a:r>
            <a:endParaRPr 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A4249C-924A-0E77-6164-079545A7B0D3}"/>
              </a:ext>
            </a:extLst>
          </p:cNvPr>
          <p:cNvSpPr txBox="1"/>
          <p:nvPr/>
        </p:nvSpPr>
        <p:spPr>
          <a:xfrm>
            <a:off x="6136991" y="4140446"/>
            <a:ext cx="78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Q2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CFC709-FBFC-155E-F407-EA9622F6B7C0}"/>
              </a:ext>
            </a:extLst>
          </p:cNvPr>
          <p:cNvSpPr txBox="1"/>
          <p:nvPr/>
        </p:nvSpPr>
        <p:spPr>
          <a:xfrm>
            <a:off x="8225731" y="4111228"/>
            <a:ext cx="78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Q2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solidFill>
            <a:srgbClr val="FFB300"/>
          </a:solidFill>
          <a:ln w="63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JOULE Skills We Built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intelligent agents — each solving a specific gap in the current supply chain workflow.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640080"/>
          </a:xfrm>
          <a:prstGeom prst="rect">
            <a:avLst/>
          </a:prstGeom>
          <a:solidFill>
            <a:srgbClr val="0E1F3A"/>
          </a:solidFill>
          <a:ln w="190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1828800"/>
            <a:ext cx="36576" cy="42062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61872" y="1764792"/>
            <a:ext cx="35080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Accessory Parts Inventory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20482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pull of parts availability across all VPC/MY locations. Knows exactly what's in stock, what's on order, and what's critically low — right now.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640080"/>
          </a:xfrm>
          <a:prstGeom prst="rect">
            <a:avLst/>
          </a:prstGeom>
          <a:solidFill>
            <a:srgbClr val="0E1F3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2578608"/>
            <a:ext cx="36576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1872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Acc Code Demand Intelligence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27980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parts required per accessory code against live vehicle allocation pipeline. Translates VLA shifts into precise parts demand forecasts.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8412480" cy="640080"/>
          </a:xfrm>
          <a:prstGeom prst="rect">
            <a:avLst/>
          </a:prstGeom>
          <a:solidFill>
            <a:srgbClr val="0E1F3A"/>
          </a:solidFill>
          <a:ln w="190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3328416"/>
            <a:ext cx="36576" cy="4206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61872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Lead-Time Gap Detector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61872" y="3547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proactive alert engine. Fires warnings before a lead-time gap threatens a code — not after it's already deleted.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68496"/>
            <a:ext cx="8412480" cy="640080"/>
          </a:xfrm>
          <a:prstGeom prst="rect">
            <a:avLst/>
          </a:prstGeom>
          <a:solidFill>
            <a:srgbClr val="0E1F3A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0050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4078224"/>
            <a:ext cx="36576" cy="42062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61872" y="40142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Auto-Proposal Engine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4297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weekly order recommendations per part × VPC location with stock-vs-demand gap scoring. Human override always 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920240" cy="347472"/>
          </a:xfrm>
          <a:prstGeom prst="rect">
            <a:avLst/>
          </a:prstGeom>
          <a:solidFill>
            <a:srgbClr val="00B4D8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AI Demand Forecasting Model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accessory demand 12 months out · Per part · Updated Monthly · Fully automated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3291840" cy="2560320"/>
          </a:xfrm>
          <a:prstGeom prst="rect">
            <a:avLst/>
          </a:prstGeom>
          <a:solidFill>
            <a:srgbClr val="0E1F3A"/>
          </a:solidFill>
          <a:ln w="190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Allocation Pipeline (VLA)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Historical/Future accessory take-rates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demand trends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284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patterns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60604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57600" y="1691640"/>
            <a:ext cx="1645920" cy="2560320"/>
          </a:xfrm>
          <a:prstGeom prst="rect">
            <a:avLst/>
          </a:prstGeom>
          <a:solidFill>
            <a:srgbClr val="0A2A45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96596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49040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606040"/>
            <a:ext cx="457200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0" y="1691640"/>
            <a:ext cx="3291840" cy="2560320"/>
          </a:xfrm>
          <a:prstGeom prst="rect">
            <a:avLst/>
          </a:prstGeom>
          <a:solidFill>
            <a:srgbClr val="0E1F3A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623560" y="17556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623560" y="2176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12-month forecast per acc code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62356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auto-proposals (overridable)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623560" y="2944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alerts before code removals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623560" y="3328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NL dashboard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623560" y="37124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Auto-reports to  Acc Team, MBCS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44074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effort. No spreadsheets. No SME dependency. Just intelligence.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2011680" cy="347472"/>
          </a:xfrm>
          <a:prstGeom prst="rect">
            <a:avLst/>
          </a:prstGeom>
          <a:solidFill>
            <a:srgbClr val="0097A7"/>
          </a:solidFill>
          <a:ln w="635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Connects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468880" cy="2377440"/>
          </a:xfrm>
          <a:prstGeom prst="rect">
            <a:avLst/>
          </a:prstGeom>
          <a:solidFill>
            <a:srgbClr val="0E1F3A"/>
          </a:solidFill>
          <a:ln w="190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28800"/>
            <a:ext cx="219456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SWT / VOISv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76272"/>
            <a:ext cx="219456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219456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5237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Inventory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219456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87121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219456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Allocation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331720"/>
            <a:ext cx="365760" cy="36576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3291840" y="1325880"/>
            <a:ext cx="2743200" cy="2377440"/>
          </a:xfrm>
          <a:prstGeom prst="rect">
            <a:avLst/>
          </a:prstGeom>
          <a:solidFill>
            <a:srgbClr val="0A2040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3832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10512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42900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Skills (4×)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29000" y="2706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42900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429000" y="3364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Interface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33172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583680" y="1325880"/>
            <a:ext cx="2286000" cy="2377440"/>
          </a:xfrm>
          <a:prstGeom prst="rect">
            <a:avLst/>
          </a:prstGeom>
          <a:solidFill>
            <a:srgbClr val="0E1F3A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67512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720840" y="1828800"/>
            <a:ext cx="201168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72084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Auto-Proposals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720840" y="2176272"/>
            <a:ext cx="201168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72084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Alerts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720840" y="2523744"/>
            <a:ext cx="201168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720840" y="2523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Dashboard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720840" y="2871216"/>
            <a:ext cx="201168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720840" y="28712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Auto-Reports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720840" y="3218688"/>
            <a:ext cx="2011680" cy="274320"/>
          </a:xfrm>
          <a:prstGeom prst="rect">
            <a:avLst/>
          </a:prstGeom>
          <a:solidFill>
            <a:srgbClr val="0E1F3A"/>
          </a:solidFill>
          <a:ln w="63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720840" y="32186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274320" y="3858768"/>
            <a:ext cx="8595360" cy="566928"/>
          </a:xfrm>
          <a:prstGeom prst="rect">
            <a:avLst/>
          </a:prstGeom>
          <a:solidFill>
            <a:srgbClr val="0A1A2A"/>
          </a:solidFill>
          <a:ln w="63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502920" y="3904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 Layer  </a:t>
            </a: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SAP BTP · Connects natively to existing SAP landscape · Phase 2: one-click order approval directly in SAP workflow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E1F3A"/>
          </a:solidFill>
          <a:ln w="12700">
            <a:solidFill>
              <a:srgbClr val="0E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0" y="320040"/>
            <a:ext cx="1828800" cy="411480"/>
          </a:xfrm>
          <a:prstGeom prst="rect">
            <a:avLst/>
          </a:prstGeom>
          <a:solidFill>
            <a:srgbClr val="FFB300"/>
          </a:solidFill>
          <a:ln w="635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0" y="320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HACKATHON 2026  ·  MBUSA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PART.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TIME.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QTY.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the brain. Now let's give it the keys."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Logistics &amp; Accessories  ·  CS – ASBD  ·  MBUSA  ·  2026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1F7315-5F24-B1C9-BC34-F878D2BC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828" y="4016033"/>
            <a:ext cx="2682201" cy="3346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Accessory Demand &amp; Inventory Optimizer — SAP Hackathon 2026</dc:title>
  <dc:subject>PptxGenJS Presentation</dc:subject>
  <dc:creator>PptxGenJS</dc:creator>
  <cp:lastModifiedBy>Ravindran, Venkatesh (171)</cp:lastModifiedBy>
  <cp:revision>3</cp:revision>
  <dcterms:created xsi:type="dcterms:W3CDTF">2026-03-18T02:20:32Z</dcterms:created>
  <dcterms:modified xsi:type="dcterms:W3CDTF">2026-03-19T20:07:55Z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2026-03-18T14:38:38Z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58dd451e-a483-4060-9564-9b9e86eff16e</vt:lpwstr>
  </property>
  <property fmtid="{D5CDD505-2E9C-101B-9397-08002B2CF9AE}" pid="8" name="MSIP_Label_924dbb1d-991d-4bbd-aad5-33bac1d8ffaf_ContentBits">
    <vt:lpwstr>0</vt:lpwstr>
  </property>
  <property fmtid="{D5CDD505-2E9C-101B-9397-08002B2CF9AE}" pid="9" name="MSIP_Label_924dbb1d-991d-4bbd-aad5-33bac1d8ffaf_Tag">
    <vt:lpwstr>10, 3, 0, 1</vt:lpwstr>
  </property>
</Properties>
</file>