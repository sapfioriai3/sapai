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2" r:id="rId2"/>
    <p:sldId id="256" r:id="rId3"/>
    <p:sldId id="257" r:id="rId4"/>
    <p:sldId id="258" r:id="rId5"/>
    <p:sldId id="259" r:id="rId6"/>
    <p:sldId id="260" r:id="rId7"/>
    <p:sldId id="261"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51211" autoAdjust="0"/>
  </p:normalViewPr>
  <p:slideViewPr>
    <p:cSldViewPr snapToGrid="0" snapToObjects="1">
      <p:cViewPr varScale="1">
        <p:scale>
          <a:sx n="75" d="100"/>
          <a:sy n="75" d="100"/>
        </p:scale>
        <p:origin x="263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8640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SAP story, end to end.
Top left — Data comes from two SAP systems: VOISV and SWT These systems have CDS views that model the accessory production data.
Top middle — That data is exported as a CSV file. Today we upload it manually. Next step is to automate this with SAP CPI (Cloud Platform Integration).
Top right — The file gets loaded into SAP HANA Cloud. Inside HANA, the data goes into tables, then SAP PAL services run — cleaning the data, training all three models, and storing the results back into HANA tables.
Bottom left — A web app published on Cloud Foundry reads those result tables and shows the forecasts, charts, and model comparisons.
Bottom right — We also published REST APIs on Cloud Foundry. These APIs let you query models, compare results, and even retrain with custom parameters. These same APIs are consumed by SAP Joule.
everything stays in the SAP ecosystem.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through 4 rounds of improvement to build this.
Iteration 1 — We started with SES, a simple "weighted average" method. It proved we can predict accessory demand.
Iteration 2 — We added SARIMA, which catches seasonal patterns — like if something always dips in December. We also started cleaning bad data.
Iteration 3 — We used SAP's AutoML, which tests many algorithms automatically. It recommended BSTS — the most advanced model. BSTS breaks demand into trend, season, and noise.
Iteration 4 — Production. All three models run for every accessory, and the most accurate one wins automatically.
Everything runs inside SAP HANA Cloud using PAL. No data ever leaves the database.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models — three different ways to predict demand.
SES — A weighted average. Recent months count more. Best for steady demand.
SARIMA — Catches seasonal patterns. If something always dips in December, SARIMA sees that.
BSTS — The most advanced. Separates demand into trend, season, and noise, then runs thousands of simulations.
All three run for every accessory. The system picks the winner — whichever had the lowest error. That score is called MAPE — "how far off were the predictions." Lower is better.
Everything runs inside SAP HANA Cloud through PAL.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shows a "before and after" — what we changed and why.
Forecast Horizon — Went from 6 to 12 months because the business needed full-year planning.
Test Holdout — We hold back real data to check accuracy. 3 months worked better than 5.
Models — Started with one, ended with three competing.
BSTS Iterations — More simulations gave better results. 2,000 was the sweet spot.
Data Quality — Shutdowns and bulk orders created bad spikes. Outlier detection fixed that.
Negative Clamping — SARIMA sometimes predicted negative demand. We set any negative to zero.
We made all these settings adjustable through an API — no redeployment needed.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from raw data to forecasts.
1. Raw Data — 33,000 records, 29 months of history, all in HANA Cloud.
2. Data Quality — Remove spikes from shutdowns and one-time events.
3. SAP PAL Training — All three models train inside HANA. Python sends instructions, HANA does the math.
4. Model Competition — Test each model against real held-back data. Lowest error wins.
5. Predictions — Winner forecasts the next 12 months for all 594 accessory-vehicle-location combinations.
Everything stays inside HANA Cloud. No data leaves the database.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example — accessory code D49.
Left side: All three models ran. MAPE is our accuracy score — "on average, how far off were the predictions?" Lower is better. SARIMA won for D49 with only 8.9% error. The system picked it automatically.
Right side: Across ALL accessories, BSTS wins almost half the time. SARIMA wins about a third. SES handles the rest. No single model is best for everything — that's why we run all three.
Note: these numbers are from one training run and may change with new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lessons from this project:
1. AutoML told us BSTS was best. But its own prediction function had a bug. So we took the recommendation and built BSTS ourselves. Best of both worlds.
2. No single model fits all accessories. Steady demand — SES wins. Seasonal patterns — SARIMA wins. Complex patterns — BSTS wins. Running all three means every accessory gets its best fit.
3. Clean data matters more than fancy models. Factory shutdowns and bulk orders created spikes that confused everything. Outlier detection made a huge difference.
4. Small parameter changes give big accuracy gains. We made them all adjustable through an API — no redeployment needed.
5. Everything runs inside SAP HANA Cloud using PAL. No data leaves the database. Enterprise security and speed built in from day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7">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txBody>
          <a:bodyPr/>
          <a:lstStyle/>
          <a:p>
            <a:endParaRPr lang="en-US"/>
          </a:p>
        </p:txBody>
      </p:sp>
      <p:sp>
        <p:nvSpPr>
          <p:cNvPr id="3" name="Shape 1"/>
          <p:cNvSpPr/>
          <p:nvPr/>
        </p:nvSpPr>
        <p:spPr>
          <a:xfrm>
            <a:off x="457200" y="228600"/>
            <a:ext cx="2560320" cy="365760"/>
          </a:xfrm>
          <a:prstGeom prst="rect">
            <a:avLst/>
          </a:prstGeom>
          <a:solidFill>
            <a:srgbClr val="F9A825"/>
          </a:solidFill>
          <a:ln/>
        </p:spPr>
        <p:txBody>
          <a:bodyPr/>
          <a:lstStyle/>
          <a:p>
            <a:endParaRPr lang="en-US"/>
          </a:p>
        </p:txBody>
      </p:sp>
      <p:sp>
        <p:nvSpPr>
          <p:cNvPr id="4" name="Text 2"/>
          <p:cNvSpPr/>
          <p:nvPr/>
        </p:nvSpPr>
        <p:spPr>
          <a:xfrm>
            <a:off x="457200" y="228600"/>
            <a:ext cx="2560320" cy="365760"/>
          </a:xfrm>
          <a:prstGeom prst="rect">
            <a:avLst/>
          </a:prstGeom>
          <a:noFill/>
          <a:ln/>
        </p:spPr>
        <p:txBody>
          <a:bodyPr wrap="square" lIns="0" tIns="0" rIns="0" bIns="0" rtlCol="0" anchor="ctr"/>
          <a:lstStyle/>
          <a:p>
            <a:pPr marL="0" indent="0" algn="ctr">
              <a:buNone/>
            </a:pPr>
            <a:r>
              <a:rPr lang="en-US" sz="1000" b="1" dirty="0">
                <a:solidFill>
                  <a:srgbClr val="1A1A1A"/>
                </a:solidFill>
                <a:latin typeface="Arial" pitchFamily="34" charset="0"/>
                <a:ea typeface="Arial" pitchFamily="34" charset="-122"/>
                <a:cs typeface="Arial" pitchFamily="34" charset="-120"/>
              </a:rPr>
              <a:t>END-TO-END ARCHITECTURE</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From SAP Source Systems to Predictions</a:t>
            </a:r>
            <a:endParaRPr lang="en-US" sz="2800" dirty="0"/>
          </a:p>
        </p:txBody>
      </p:sp>
      <p:sp>
        <p:nvSpPr>
          <p:cNvPr id="6" name="Text 4"/>
          <p:cNvSpPr/>
          <p:nvPr/>
        </p:nvSpPr>
        <p:spPr>
          <a:xfrm>
            <a:off x="457200" y="1097280"/>
            <a:ext cx="8229600" cy="320040"/>
          </a:xfrm>
          <a:prstGeom prst="rect">
            <a:avLst/>
          </a:prstGeom>
          <a:noFill/>
          <a:ln/>
        </p:spPr>
        <p:txBody>
          <a:bodyPr wrap="square" lIns="0" tIns="0" rIns="0" bIns="0" rtlCol="0" anchor="ctr"/>
          <a:lstStyle/>
          <a:p>
            <a:pPr marL="0" indent="0">
              <a:buNone/>
            </a:pPr>
            <a:r>
              <a:rPr lang="en-US" sz="1200" dirty="0">
                <a:solidFill>
                  <a:srgbClr val="B0B8C0"/>
                </a:solidFill>
                <a:latin typeface="Arial" pitchFamily="34" charset="0"/>
                <a:ea typeface="Arial" pitchFamily="34" charset="-122"/>
                <a:cs typeface="Arial" pitchFamily="34" charset="-120"/>
              </a:rPr>
              <a:t>An end-to-end SAP story — source data, HANA Cloud, PAL, and published services for UI and Joule</a:t>
            </a:r>
            <a:endParaRPr lang="en-US" sz="1200" dirty="0"/>
          </a:p>
        </p:txBody>
      </p:sp>
      <p:sp>
        <p:nvSpPr>
          <p:cNvPr id="7" name="Shape 5"/>
          <p:cNvSpPr/>
          <p:nvPr/>
        </p:nvSpPr>
        <p:spPr>
          <a:xfrm>
            <a:off x="274320" y="1600200"/>
            <a:ext cx="1645920" cy="1371600"/>
          </a:xfrm>
          <a:prstGeom prst="rect">
            <a:avLst/>
          </a:prstGeom>
          <a:solidFill>
            <a:srgbClr val="172A3A"/>
          </a:solidFill>
          <a:ln w="19050">
            <a:solidFill>
              <a:srgbClr val="2196F3"/>
            </a:solidFill>
            <a:prstDash val="solid"/>
          </a:ln>
        </p:spPr>
        <p:txBody>
          <a:bodyPr/>
          <a:lstStyle/>
          <a:p>
            <a:endParaRPr lang="en-US"/>
          </a:p>
        </p:txBody>
      </p:sp>
      <p:sp>
        <p:nvSpPr>
          <p:cNvPr id="8" name="Shape 6"/>
          <p:cNvSpPr/>
          <p:nvPr/>
        </p:nvSpPr>
        <p:spPr>
          <a:xfrm>
            <a:off x="274320" y="1600200"/>
            <a:ext cx="1645920" cy="45720"/>
          </a:xfrm>
          <a:prstGeom prst="rect">
            <a:avLst/>
          </a:prstGeom>
          <a:solidFill>
            <a:srgbClr val="2196F3"/>
          </a:solidFill>
          <a:ln/>
        </p:spPr>
        <p:txBody>
          <a:bodyPr/>
          <a:lstStyle/>
          <a:p>
            <a:endParaRPr lang="en-US"/>
          </a:p>
        </p:txBody>
      </p:sp>
      <p:sp>
        <p:nvSpPr>
          <p:cNvPr id="9" name="Text 7"/>
          <p:cNvSpPr/>
          <p:nvPr/>
        </p:nvSpPr>
        <p:spPr>
          <a:xfrm>
            <a:off x="274320" y="1691640"/>
            <a:ext cx="1645920" cy="228600"/>
          </a:xfrm>
          <a:prstGeom prst="rect">
            <a:avLst/>
          </a:prstGeom>
          <a:noFill/>
          <a:ln/>
        </p:spPr>
        <p:txBody>
          <a:bodyPr wrap="square" lIns="0" tIns="0" rIns="0" bIns="0" rtlCol="0" anchor="ctr"/>
          <a:lstStyle/>
          <a:p>
            <a:pPr marL="0" indent="0" algn="ctr">
              <a:buNone/>
            </a:pPr>
            <a:r>
              <a:rPr lang="en-US" sz="900" b="1" dirty="0">
                <a:solidFill>
                  <a:srgbClr val="2196F3"/>
                </a:solidFill>
                <a:latin typeface="Arial" pitchFamily="34" charset="0"/>
                <a:ea typeface="Arial" pitchFamily="34" charset="-122"/>
                <a:cs typeface="Arial" pitchFamily="34" charset="-120"/>
              </a:rPr>
              <a:t>SAP SOURCE SYSTEMS</a:t>
            </a:r>
            <a:endParaRPr lang="en-US" sz="900" dirty="0"/>
          </a:p>
        </p:txBody>
      </p:sp>
      <p:sp>
        <p:nvSpPr>
          <p:cNvPr id="10" name="Shape 8"/>
          <p:cNvSpPr/>
          <p:nvPr/>
        </p:nvSpPr>
        <p:spPr>
          <a:xfrm>
            <a:off x="384048" y="2011680"/>
            <a:ext cx="1426464" cy="320040"/>
          </a:xfrm>
          <a:prstGeom prst="rect">
            <a:avLst/>
          </a:prstGeom>
          <a:solidFill>
            <a:srgbClr val="0D1520"/>
          </a:solidFill>
          <a:ln w="6350">
            <a:solidFill>
              <a:srgbClr val="2196F3"/>
            </a:solidFill>
            <a:prstDash val="solid"/>
          </a:ln>
        </p:spPr>
        <p:txBody>
          <a:bodyPr/>
          <a:lstStyle/>
          <a:p>
            <a:endParaRPr lang="en-US"/>
          </a:p>
        </p:txBody>
      </p:sp>
      <p:sp>
        <p:nvSpPr>
          <p:cNvPr id="11" name="Text 9"/>
          <p:cNvSpPr/>
          <p:nvPr/>
        </p:nvSpPr>
        <p:spPr>
          <a:xfrm>
            <a:off x="384048" y="2011680"/>
            <a:ext cx="1426464" cy="1828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VOISV</a:t>
            </a:r>
            <a:endParaRPr lang="en-US" sz="1100" dirty="0"/>
          </a:p>
        </p:txBody>
      </p:sp>
      <p:sp>
        <p:nvSpPr>
          <p:cNvPr id="13" name="Shape 11"/>
          <p:cNvSpPr/>
          <p:nvPr/>
        </p:nvSpPr>
        <p:spPr>
          <a:xfrm>
            <a:off x="338328" y="2423160"/>
            <a:ext cx="1426464" cy="320040"/>
          </a:xfrm>
          <a:prstGeom prst="rect">
            <a:avLst/>
          </a:prstGeom>
          <a:solidFill>
            <a:srgbClr val="0D1520"/>
          </a:solidFill>
          <a:ln w="6350">
            <a:solidFill>
              <a:srgbClr val="2196F3"/>
            </a:solidFill>
            <a:prstDash val="solid"/>
          </a:ln>
        </p:spPr>
        <p:txBody>
          <a:bodyPr/>
          <a:lstStyle/>
          <a:p>
            <a:endParaRPr lang="en-US"/>
          </a:p>
        </p:txBody>
      </p:sp>
      <p:sp>
        <p:nvSpPr>
          <p:cNvPr id="14" name="Text 12"/>
          <p:cNvSpPr/>
          <p:nvPr/>
        </p:nvSpPr>
        <p:spPr>
          <a:xfrm>
            <a:off x="384048" y="2423160"/>
            <a:ext cx="1426464" cy="1828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SWT</a:t>
            </a:r>
            <a:endParaRPr lang="en-US" sz="1100" dirty="0"/>
          </a:p>
        </p:txBody>
      </p:sp>
      <p:sp>
        <p:nvSpPr>
          <p:cNvPr id="16" name="Text 14"/>
          <p:cNvSpPr/>
          <p:nvPr/>
        </p:nvSpPr>
        <p:spPr>
          <a:xfrm>
            <a:off x="274320" y="2990088"/>
            <a:ext cx="1645920" cy="182880"/>
          </a:xfrm>
          <a:prstGeom prst="rect">
            <a:avLst/>
          </a:prstGeom>
          <a:noFill/>
          <a:ln/>
        </p:spPr>
        <p:txBody>
          <a:bodyPr wrap="square" lIns="0" tIns="0" rIns="0" bIns="0" rtlCol="0" anchor="ctr"/>
          <a:lstStyle/>
          <a:p>
            <a:pPr marL="0" indent="0" algn="ctr">
              <a:buNone/>
            </a:pPr>
            <a:r>
              <a:rPr lang="en-US" sz="800" i="1" dirty="0">
                <a:solidFill>
                  <a:srgbClr val="00BCD4"/>
                </a:solidFill>
                <a:latin typeface="Arial" pitchFamily="34" charset="0"/>
                <a:ea typeface="Arial" pitchFamily="34" charset="-122"/>
                <a:cs typeface="Arial" pitchFamily="34" charset="-120"/>
              </a:rPr>
              <a:t>CDS Views</a:t>
            </a:r>
            <a:endParaRPr lang="en-US" sz="800" dirty="0"/>
          </a:p>
        </p:txBody>
      </p:sp>
      <p:sp>
        <p:nvSpPr>
          <p:cNvPr id="17" name="Text 15"/>
          <p:cNvSpPr/>
          <p:nvPr/>
        </p:nvSpPr>
        <p:spPr>
          <a:xfrm>
            <a:off x="1938528" y="2057400"/>
            <a:ext cx="228600" cy="365760"/>
          </a:xfrm>
          <a:prstGeom prst="rect">
            <a:avLst/>
          </a:prstGeom>
          <a:noFill/>
          <a:ln/>
        </p:spPr>
        <p:txBody>
          <a:bodyPr wrap="square" lIns="0" tIns="0" rIns="0" bIns="0" rtlCol="0" anchor="ctr"/>
          <a:lstStyle/>
          <a:p>
            <a:pPr marL="0" indent="0" algn="ctr">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18" name="Shape 16"/>
          <p:cNvSpPr/>
          <p:nvPr/>
        </p:nvSpPr>
        <p:spPr>
          <a:xfrm>
            <a:off x="2194560" y="1600200"/>
            <a:ext cx="1280160" cy="1371600"/>
          </a:xfrm>
          <a:prstGeom prst="rect">
            <a:avLst/>
          </a:prstGeom>
          <a:solidFill>
            <a:srgbClr val="172A3A"/>
          </a:solidFill>
          <a:ln w="19050">
            <a:solidFill>
              <a:srgbClr val="FF9800"/>
            </a:solidFill>
            <a:prstDash val="solid"/>
          </a:ln>
        </p:spPr>
        <p:txBody>
          <a:bodyPr/>
          <a:lstStyle/>
          <a:p>
            <a:endParaRPr lang="en-US"/>
          </a:p>
        </p:txBody>
      </p:sp>
      <p:sp>
        <p:nvSpPr>
          <p:cNvPr id="19" name="Shape 17"/>
          <p:cNvSpPr/>
          <p:nvPr/>
        </p:nvSpPr>
        <p:spPr>
          <a:xfrm>
            <a:off x="2194560" y="1600200"/>
            <a:ext cx="1280160" cy="45720"/>
          </a:xfrm>
          <a:prstGeom prst="rect">
            <a:avLst/>
          </a:prstGeom>
          <a:solidFill>
            <a:srgbClr val="FF9800"/>
          </a:solidFill>
          <a:ln/>
        </p:spPr>
        <p:txBody>
          <a:bodyPr/>
          <a:lstStyle/>
          <a:p>
            <a:endParaRPr lang="en-US"/>
          </a:p>
        </p:txBody>
      </p:sp>
      <p:sp>
        <p:nvSpPr>
          <p:cNvPr id="20" name="Text 18"/>
          <p:cNvSpPr/>
          <p:nvPr/>
        </p:nvSpPr>
        <p:spPr>
          <a:xfrm>
            <a:off x="2194560" y="1691640"/>
            <a:ext cx="1280160" cy="201168"/>
          </a:xfrm>
          <a:prstGeom prst="rect">
            <a:avLst/>
          </a:prstGeom>
          <a:noFill/>
          <a:ln/>
        </p:spPr>
        <p:txBody>
          <a:bodyPr wrap="square" lIns="0" tIns="0" rIns="0" bIns="0" rtlCol="0" anchor="ctr"/>
          <a:lstStyle/>
          <a:p>
            <a:pPr marL="0" indent="0" algn="ctr">
              <a:buNone/>
            </a:pPr>
            <a:r>
              <a:rPr lang="en-US" sz="900" b="1" dirty="0">
                <a:solidFill>
                  <a:srgbClr val="FF9800"/>
                </a:solidFill>
                <a:latin typeface="Arial" pitchFamily="34" charset="0"/>
                <a:ea typeface="Arial" pitchFamily="34" charset="-122"/>
                <a:cs typeface="Arial" pitchFamily="34" charset="-120"/>
              </a:rPr>
              <a:t>DATA TRANSFER</a:t>
            </a:r>
            <a:endParaRPr lang="en-US" sz="900" dirty="0"/>
          </a:p>
        </p:txBody>
      </p:sp>
      <p:sp>
        <p:nvSpPr>
          <p:cNvPr id="21" name="Shape 19"/>
          <p:cNvSpPr/>
          <p:nvPr/>
        </p:nvSpPr>
        <p:spPr>
          <a:xfrm>
            <a:off x="2514600" y="1965960"/>
            <a:ext cx="640080" cy="411480"/>
          </a:xfrm>
          <a:prstGeom prst="rect">
            <a:avLst/>
          </a:prstGeom>
          <a:solidFill>
            <a:srgbClr val="0D1520"/>
          </a:solidFill>
          <a:ln w="6350">
            <a:solidFill>
              <a:srgbClr val="FF9800"/>
            </a:solidFill>
            <a:prstDash val="solid"/>
          </a:ln>
        </p:spPr>
        <p:txBody>
          <a:bodyPr/>
          <a:lstStyle/>
          <a:p>
            <a:endParaRPr lang="en-US"/>
          </a:p>
        </p:txBody>
      </p:sp>
      <p:sp>
        <p:nvSpPr>
          <p:cNvPr id="22" name="Text 20"/>
          <p:cNvSpPr/>
          <p:nvPr/>
        </p:nvSpPr>
        <p:spPr>
          <a:xfrm>
            <a:off x="2514600" y="1965960"/>
            <a:ext cx="640080" cy="411480"/>
          </a:xfrm>
          <a:prstGeom prst="rect">
            <a:avLst/>
          </a:prstGeom>
          <a:noFill/>
          <a:ln/>
        </p:spPr>
        <p:txBody>
          <a:bodyPr wrap="square" lIns="0" tIns="0" rIns="0" bIns="0" rtlCol="0" anchor="ctr"/>
          <a:lstStyle/>
          <a:p>
            <a:pPr marL="0" indent="0" algn="ctr">
              <a:buNone/>
            </a:pPr>
            <a:r>
              <a:rPr lang="en-US" sz="1200" b="1" dirty="0">
                <a:solidFill>
                  <a:srgbClr val="FF9800"/>
                </a:solidFill>
                <a:latin typeface="Arial" pitchFamily="34" charset="0"/>
                <a:ea typeface="Arial" pitchFamily="34" charset="-122"/>
                <a:cs typeface="Arial" pitchFamily="34" charset="-120"/>
              </a:rPr>
              <a:t>CSV</a:t>
            </a:r>
            <a:endParaRPr lang="en-US" sz="1200" dirty="0"/>
          </a:p>
        </p:txBody>
      </p:sp>
      <p:sp>
        <p:nvSpPr>
          <p:cNvPr id="23" name="Shape 21"/>
          <p:cNvSpPr/>
          <p:nvPr/>
        </p:nvSpPr>
        <p:spPr>
          <a:xfrm>
            <a:off x="2267712" y="2468880"/>
            <a:ext cx="1133856" cy="182880"/>
          </a:xfrm>
          <a:prstGeom prst="rect">
            <a:avLst/>
          </a:prstGeom>
          <a:solidFill>
            <a:srgbClr val="0D1520"/>
          </a:solidFill>
          <a:ln/>
        </p:spPr>
        <p:txBody>
          <a:bodyPr/>
          <a:lstStyle/>
          <a:p>
            <a:endParaRPr lang="en-US"/>
          </a:p>
        </p:txBody>
      </p:sp>
      <p:sp>
        <p:nvSpPr>
          <p:cNvPr id="24" name="Text 22"/>
          <p:cNvSpPr/>
          <p:nvPr/>
        </p:nvSpPr>
        <p:spPr>
          <a:xfrm>
            <a:off x="2267712" y="2468880"/>
            <a:ext cx="1133856" cy="182880"/>
          </a:xfrm>
          <a:prstGeom prst="rect">
            <a:avLst/>
          </a:prstGeom>
          <a:noFill/>
          <a:ln/>
        </p:spPr>
        <p:txBody>
          <a:bodyPr wrap="square" lIns="0" tIns="0" rIns="0" bIns="0" rtlCol="0" anchor="ctr"/>
          <a:lstStyle/>
          <a:p>
            <a:pPr marL="0" indent="0" algn="ctr">
              <a:buNone/>
            </a:pPr>
            <a:r>
              <a:rPr lang="en-US" sz="750" dirty="0">
                <a:solidFill>
                  <a:srgbClr val="B0B8C0"/>
                </a:solidFill>
                <a:latin typeface="Arial" pitchFamily="34" charset="0"/>
                <a:ea typeface="Arial" pitchFamily="34" charset="-122"/>
                <a:cs typeface="Arial" pitchFamily="34" charset="-120"/>
              </a:rPr>
              <a:t>Today: Manual upload</a:t>
            </a:r>
            <a:endParaRPr lang="en-US" sz="750" dirty="0"/>
          </a:p>
        </p:txBody>
      </p:sp>
      <p:sp>
        <p:nvSpPr>
          <p:cNvPr id="25" name="Shape 23"/>
          <p:cNvSpPr/>
          <p:nvPr/>
        </p:nvSpPr>
        <p:spPr>
          <a:xfrm>
            <a:off x="2267712" y="2697480"/>
            <a:ext cx="1133856" cy="182880"/>
          </a:xfrm>
          <a:prstGeom prst="rect">
            <a:avLst/>
          </a:prstGeom>
          <a:solidFill>
            <a:srgbClr val="0D1520"/>
          </a:solidFill>
          <a:ln w="6350">
            <a:solidFill>
              <a:srgbClr val="4CAF50"/>
            </a:solidFill>
            <a:prstDash val="solid"/>
          </a:ln>
        </p:spPr>
        <p:txBody>
          <a:bodyPr/>
          <a:lstStyle/>
          <a:p>
            <a:endParaRPr lang="en-US"/>
          </a:p>
        </p:txBody>
      </p:sp>
      <p:sp>
        <p:nvSpPr>
          <p:cNvPr id="26" name="Text 24"/>
          <p:cNvSpPr/>
          <p:nvPr/>
        </p:nvSpPr>
        <p:spPr>
          <a:xfrm>
            <a:off x="2267712" y="2697480"/>
            <a:ext cx="1133856" cy="182880"/>
          </a:xfrm>
          <a:prstGeom prst="rect">
            <a:avLst/>
          </a:prstGeom>
          <a:noFill/>
          <a:ln/>
        </p:spPr>
        <p:txBody>
          <a:bodyPr wrap="square" lIns="0" tIns="0" rIns="0" bIns="0" rtlCol="0" anchor="ctr"/>
          <a:lstStyle/>
          <a:p>
            <a:pPr marL="0" indent="0" algn="ctr">
              <a:buNone/>
            </a:pPr>
            <a:r>
              <a:rPr lang="en-US" sz="750" b="1" dirty="0">
                <a:solidFill>
                  <a:srgbClr val="4CAF50"/>
                </a:solidFill>
                <a:latin typeface="Arial" pitchFamily="34" charset="0"/>
                <a:ea typeface="Arial" pitchFamily="34" charset="-122"/>
                <a:cs typeface="Arial" pitchFamily="34" charset="-120"/>
              </a:rPr>
              <a:t>Next: SAP CPI automated</a:t>
            </a:r>
            <a:endParaRPr lang="en-US" sz="750" dirty="0"/>
          </a:p>
        </p:txBody>
      </p:sp>
      <p:sp>
        <p:nvSpPr>
          <p:cNvPr id="27" name="Text 25"/>
          <p:cNvSpPr/>
          <p:nvPr/>
        </p:nvSpPr>
        <p:spPr>
          <a:xfrm>
            <a:off x="3493008" y="2057400"/>
            <a:ext cx="228600" cy="365760"/>
          </a:xfrm>
          <a:prstGeom prst="rect">
            <a:avLst/>
          </a:prstGeom>
          <a:noFill/>
          <a:ln/>
        </p:spPr>
        <p:txBody>
          <a:bodyPr wrap="square" lIns="0" tIns="0" rIns="0" bIns="0" rtlCol="0" anchor="ctr"/>
          <a:lstStyle/>
          <a:p>
            <a:pPr marL="0" indent="0" algn="ctr">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28" name="Shape 26"/>
          <p:cNvSpPr/>
          <p:nvPr/>
        </p:nvSpPr>
        <p:spPr>
          <a:xfrm>
            <a:off x="3749040" y="1600200"/>
            <a:ext cx="5120640" cy="1371600"/>
          </a:xfrm>
          <a:prstGeom prst="rect">
            <a:avLst/>
          </a:prstGeom>
          <a:solidFill>
            <a:srgbClr val="0D1520"/>
          </a:solidFill>
          <a:ln w="25400">
            <a:solidFill>
              <a:srgbClr val="00BCD4"/>
            </a:solidFill>
            <a:prstDash val="solid"/>
          </a:ln>
        </p:spPr>
        <p:txBody>
          <a:bodyPr/>
          <a:lstStyle/>
          <a:p>
            <a:endParaRPr lang="en-US"/>
          </a:p>
        </p:txBody>
      </p:sp>
      <p:sp>
        <p:nvSpPr>
          <p:cNvPr id="29" name="Shape 27"/>
          <p:cNvSpPr/>
          <p:nvPr/>
        </p:nvSpPr>
        <p:spPr>
          <a:xfrm>
            <a:off x="3749040" y="1600200"/>
            <a:ext cx="5120640" cy="320040"/>
          </a:xfrm>
          <a:prstGeom prst="rect">
            <a:avLst/>
          </a:prstGeom>
          <a:solidFill>
            <a:srgbClr val="00BCD4"/>
          </a:solidFill>
          <a:ln/>
        </p:spPr>
        <p:txBody>
          <a:bodyPr/>
          <a:lstStyle/>
          <a:p>
            <a:endParaRPr lang="en-US"/>
          </a:p>
        </p:txBody>
      </p:sp>
      <p:sp>
        <p:nvSpPr>
          <p:cNvPr id="30" name="Text 28"/>
          <p:cNvSpPr/>
          <p:nvPr/>
        </p:nvSpPr>
        <p:spPr>
          <a:xfrm>
            <a:off x="3749040" y="1600200"/>
            <a:ext cx="5120640" cy="320040"/>
          </a:xfrm>
          <a:prstGeom prst="rect">
            <a:avLst/>
          </a:prstGeom>
          <a:noFill/>
          <a:ln/>
        </p:spPr>
        <p:txBody>
          <a:bodyPr wrap="square" lIns="0" tIns="0" rIns="0" bIns="0" rtlCol="0" anchor="ctr"/>
          <a:lstStyle/>
          <a:p>
            <a:pPr marL="0" indent="0" algn="ctr">
              <a:buNone/>
            </a:pPr>
            <a:r>
              <a:rPr lang="en-US" sz="1100" b="1" dirty="0">
                <a:solidFill>
                  <a:srgbClr val="0F1923"/>
                </a:solidFill>
                <a:latin typeface="Arial" pitchFamily="34" charset="0"/>
                <a:ea typeface="Arial" pitchFamily="34" charset="-122"/>
                <a:cs typeface="Arial" pitchFamily="34" charset="-120"/>
              </a:rPr>
              <a:t>SAP HANA Cloud  —  HDI Container</a:t>
            </a:r>
            <a:endParaRPr lang="en-US" sz="1100" dirty="0"/>
          </a:p>
        </p:txBody>
      </p:sp>
      <p:sp>
        <p:nvSpPr>
          <p:cNvPr id="31" name="Shape 29"/>
          <p:cNvSpPr/>
          <p:nvPr/>
        </p:nvSpPr>
        <p:spPr>
          <a:xfrm>
            <a:off x="3858768" y="2057400"/>
            <a:ext cx="1508760" cy="777240"/>
          </a:xfrm>
          <a:prstGeom prst="rect">
            <a:avLst/>
          </a:prstGeom>
          <a:solidFill>
            <a:srgbClr val="172A3A"/>
          </a:solidFill>
          <a:ln w="12700">
            <a:solidFill>
              <a:srgbClr val="2196F3"/>
            </a:solidFill>
            <a:prstDash val="solid"/>
          </a:ln>
        </p:spPr>
        <p:txBody>
          <a:bodyPr/>
          <a:lstStyle/>
          <a:p>
            <a:endParaRPr lang="en-US"/>
          </a:p>
        </p:txBody>
      </p:sp>
      <p:sp>
        <p:nvSpPr>
          <p:cNvPr id="32" name="Text 30"/>
          <p:cNvSpPr/>
          <p:nvPr/>
        </p:nvSpPr>
        <p:spPr>
          <a:xfrm>
            <a:off x="3858768" y="2103120"/>
            <a:ext cx="1508760" cy="182880"/>
          </a:xfrm>
          <a:prstGeom prst="rect">
            <a:avLst/>
          </a:prstGeom>
          <a:noFill/>
          <a:ln/>
        </p:spPr>
        <p:txBody>
          <a:bodyPr wrap="square" lIns="0" tIns="0" rIns="0" bIns="0" rtlCol="0" anchor="ctr"/>
          <a:lstStyle/>
          <a:p>
            <a:pPr marL="0" indent="0" algn="ctr">
              <a:buNone/>
            </a:pPr>
            <a:r>
              <a:rPr lang="en-US" sz="800" b="1" dirty="0">
                <a:solidFill>
                  <a:srgbClr val="2196F3"/>
                </a:solidFill>
                <a:latin typeface="Arial" pitchFamily="34" charset="0"/>
                <a:ea typeface="Arial" pitchFamily="34" charset="-122"/>
                <a:cs typeface="Arial" pitchFamily="34" charset="-120"/>
              </a:rPr>
              <a:t>DATA TABLES</a:t>
            </a:r>
            <a:endParaRPr lang="en-US" sz="800" dirty="0"/>
          </a:p>
        </p:txBody>
      </p:sp>
      <p:sp>
        <p:nvSpPr>
          <p:cNvPr id="33" name="Text 31"/>
          <p:cNvSpPr/>
          <p:nvPr/>
        </p:nvSpPr>
        <p:spPr>
          <a:xfrm>
            <a:off x="3904488" y="2313432"/>
            <a:ext cx="1417320" cy="457200"/>
          </a:xfrm>
          <a:prstGeom prst="rect">
            <a:avLst/>
          </a:prstGeom>
          <a:noFill/>
          <a:ln/>
        </p:spPr>
        <p:txBody>
          <a:bodyPr wrap="square" lIns="0" tIns="0" rIns="0" bIns="0" rtlCol="0" anchor="ctr"/>
          <a:lstStyle/>
          <a:p>
            <a:pPr marL="0" indent="0" algn="ctr">
              <a:buNone/>
            </a:pPr>
            <a:r>
              <a:rPr lang="en-US" sz="700" dirty="0">
                <a:solidFill>
                  <a:srgbClr val="B0B8C0"/>
                </a:solidFill>
                <a:latin typeface="Consolas" pitchFamily="34" charset="0"/>
                <a:ea typeface="Consolas" pitchFamily="34" charset="-122"/>
                <a:cs typeface="Consolas" pitchFamily="34" charset="-120"/>
              </a:rPr>
              <a:t>ACCESSORY_FORECAST</a:t>
            </a:r>
            <a:endParaRPr lang="en-US" sz="700" dirty="0"/>
          </a:p>
          <a:p>
            <a:pPr marL="0" indent="0" algn="ctr">
              <a:buNone/>
            </a:pPr>
            <a:r>
              <a:rPr lang="en-US" sz="700" dirty="0">
                <a:solidFill>
                  <a:srgbClr val="B0B8C0"/>
                </a:solidFill>
                <a:latin typeface="Consolas" pitchFamily="34" charset="0"/>
                <a:ea typeface="Consolas" pitchFamily="34" charset="-122"/>
                <a:cs typeface="Consolas" pitchFamily="34" charset="-120"/>
              </a:rPr>
              <a:t>ACCCODE_TIMESERIES</a:t>
            </a:r>
            <a:endParaRPr lang="en-US" sz="700" dirty="0"/>
          </a:p>
          <a:p>
            <a:pPr marL="0" indent="0" algn="ctr">
              <a:buNone/>
            </a:pPr>
            <a:r>
              <a:rPr lang="en-US" sz="700" dirty="0">
                <a:solidFill>
                  <a:srgbClr val="B0B8C0"/>
                </a:solidFill>
                <a:latin typeface="Consolas" pitchFamily="34" charset="0"/>
                <a:ea typeface="Consolas" pitchFamily="34" charset="-122"/>
                <a:cs typeface="Consolas" pitchFamily="34" charset="-120"/>
              </a:rPr>
              <a:t>PAL_TRAINING</a:t>
            </a:r>
            <a:endParaRPr lang="en-US" sz="700" dirty="0"/>
          </a:p>
        </p:txBody>
      </p:sp>
      <p:sp>
        <p:nvSpPr>
          <p:cNvPr id="34" name="Text 32"/>
          <p:cNvSpPr/>
          <p:nvPr/>
        </p:nvSpPr>
        <p:spPr>
          <a:xfrm>
            <a:off x="5367528" y="2286000"/>
            <a:ext cx="109728" cy="274320"/>
          </a:xfrm>
          <a:prstGeom prst="rect">
            <a:avLst/>
          </a:prstGeom>
          <a:noFill/>
          <a:ln/>
        </p:spPr>
        <p:txBody>
          <a:bodyPr wrap="square" lIns="0" tIns="0" rIns="0" bIns="0" rtlCol="0" anchor="ctr"/>
          <a:lstStyle/>
          <a:p>
            <a:pPr marL="0" indent="0" algn="ctr">
              <a:buNone/>
            </a:pPr>
            <a:r>
              <a:rPr lang="en-US" sz="1000" dirty="0">
                <a:solidFill>
                  <a:srgbClr val="00BCD4"/>
                </a:solidFill>
                <a:latin typeface="Arial" pitchFamily="34" charset="0"/>
                <a:ea typeface="Arial" pitchFamily="34" charset="-122"/>
                <a:cs typeface="Arial" pitchFamily="34" charset="-120"/>
              </a:rPr>
              <a:t>▶</a:t>
            </a:r>
            <a:endParaRPr lang="en-US" sz="1000" dirty="0"/>
          </a:p>
        </p:txBody>
      </p:sp>
      <p:sp>
        <p:nvSpPr>
          <p:cNvPr id="35" name="Shape 33"/>
          <p:cNvSpPr/>
          <p:nvPr/>
        </p:nvSpPr>
        <p:spPr>
          <a:xfrm>
            <a:off x="5477256" y="2057400"/>
            <a:ext cx="1508760" cy="777240"/>
          </a:xfrm>
          <a:prstGeom prst="rect">
            <a:avLst/>
          </a:prstGeom>
          <a:solidFill>
            <a:srgbClr val="172A3A"/>
          </a:solidFill>
          <a:ln w="12700">
            <a:solidFill>
              <a:srgbClr val="F9A825"/>
            </a:solidFill>
            <a:prstDash val="solid"/>
          </a:ln>
        </p:spPr>
        <p:txBody>
          <a:bodyPr/>
          <a:lstStyle/>
          <a:p>
            <a:endParaRPr lang="en-US"/>
          </a:p>
        </p:txBody>
      </p:sp>
      <p:sp>
        <p:nvSpPr>
          <p:cNvPr id="36" name="Text 34"/>
          <p:cNvSpPr/>
          <p:nvPr/>
        </p:nvSpPr>
        <p:spPr>
          <a:xfrm>
            <a:off x="5477256" y="2103120"/>
            <a:ext cx="1508760" cy="182880"/>
          </a:xfrm>
          <a:prstGeom prst="rect">
            <a:avLst/>
          </a:prstGeom>
          <a:noFill/>
          <a:ln/>
        </p:spPr>
        <p:txBody>
          <a:bodyPr wrap="square" lIns="0" tIns="0" rIns="0" bIns="0" rtlCol="0" anchor="ctr"/>
          <a:lstStyle/>
          <a:p>
            <a:pPr marL="0" indent="0" algn="ctr">
              <a:buNone/>
            </a:pPr>
            <a:r>
              <a:rPr lang="en-US" sz="800" b="1" dirty="0">
                <a:solidFill>
                  <a:srgbClr val="F9A825"/>
                </a:solidFill>
                <a:latin typeface="Arial" pitchFamily="34" charset="0"/>
                <a:ea typeface="Arial" pitchFamily="34" charset="-122"/>
                <a:cs typeface="Arial" pitchFamily="34" charset="-120"/>
              </a:rPr>
              <a:t>SAP PAL SERVICES</a:t>
            </a:r>
            <a:endParaRPr lang="en-US" sz="800" dirty="0"/>
          </a:p>
        </p:txBody>
      </p:sp>
      <p:sp>
        <p:nvSpPr>
          <p:cNvPr id="37" name="Text 35"/>
          <p:cNvSpPr/>
          <p:nvPr/>
        </p:nvSpPr>
        <p:spPr>
          <a:xfrm>
            <a:off x="5522976" y="2313432"/>
            <a:ext cx="1417320" cy="457200"/>
          </a:xfrm>
          <a:prstGeom prst="rect">
            <a:avLst/>
          </a:prstGeom>
          <a:noFill/>
          <a:ln/>
        </p:spPr>
        <p:txBody>
          <a:bodyPr wrap="square" lIns="0" tIns="0" rIns="0" bIns="0" rtlCol="0" anchor="ctr"/>
          <a:lstStyle/>
          <a:p>
            <a:pPr marL="0" indent="0" algn="ctr">
              <a:buNone/>
            </a:pPr>
            <a:r>
              <a:rPr lang="en-US" sz="750" dirty="0">
                <a:solidFill>
                  <a:srgbClr val="B0B8C0"/>
                </a:solidFill>
                <a:latin typeface="Arial" pitchFamily="34" charset="0"/>
                <a:ea typeface="Arial" pitchFamily="34" charset="-122"/>
                <a:cs typeface="Arial" pitchFamily="34" charset="-120"/>
              </a:rPr>
              <a:t>SES · SARIMA · BSTS</a:t>
            </a:r>
            <a:endParaRPr lang="en-US" sz="750" dirty="0"/>
          </a:p>
          <a:p>
            <a:pPr marL="0" indent="0" algn="ctr">
              <a:buNone/>
            </a:pPr>
            <a:r>
              <a:rPr lang="en-US" sz="750" dirty="0">
                <a:solidFill>
                  <a:srgbClr val="B0B8C0"/>
                </a:solidFill>
                <a:latin typeface="Arial" pitchFamily="34" charset="0"/>
                <a:ea typeface="Arial" pitchFamily="34" charset="-122"/>
                <a:cs typeface="Arial" pitchFamily="34" charset="-120"/>
              </a:rPr>
              <a:t>Outlier Detection</a:t>
            </a:r>
            <a:endParaRPr lang="en-US" sz="750" dirty="0"/>
          </a:p>
          <a:p>
            <a:pPr marL="0" indent="0" algn="ctr">
              <a:buNone/>
            </a:pPr>
            <a:r>
              <a:rPr lang="en-US" sz="750" dirty="0">
                <a:solidFill>
                  <a:srgbClr val="B0B8C0"/>
                </a:solidFill>
                <a:latin typeface="Arial" pitchFamily="34" charset="0"/>
                <a:ea typeface="Arial" pitchFamily="34" charset="-122"/>
                <a:cs typeface="Arial" pitchFamily="34" charset="-120"/>
              </a:rPr>
              <a:t>Model Competition</a:t>
            </a:r>
            <a:endParaRPr lang="en-US" sz="750" dirty="0"/>
          </a:p>
        </p:txBody>
      </p:sp>
      <p:sp>
        <p:nvSpPr>
          <p:cNvPr id="38" name="Text 36"/>
          <p:cNvSpPr/>
          <p:nvPr/>
        </p:nvSpPr>
        <p:spPr>
          <a:xfrm>
            <a:off x="6986016" y="2286000"/>
            <a:ext cx="109728" cy="274320"/>
          </a:xfrm>
          <a:prstGeom prst="rect">
            <a:avLst/>
          </a:prstGeom>
          <a:noFill/>
          <a:ln/>
        </p:spPr>
        <p:txBody>
          <a:bodyPr wrap="square" lIns="0" tIns="0" rIns="0" bIns="0" rtlCol="0" anchor="ctr"/>
          <a:lstStyle/>
          <a:p>
            <a:pPr marL="0" indent="0" algn="ctr">
              <a:buNone/>
            </a:pPr>
            <a:r>
              <a:rPr lang="en-US" sz="1000" dirty="0">
                <a:solidFill>
                  <a:srgbClr val="00BCD4"/>
                </a:solidFill>
                <a:latin typeface="Arial" pitchFamily="34" charset="0"/>
                <a:ea typeface="Arial" pitchFamily="34" charset="-122"/>
                <a:cs typeface="Arial" pitchFamily="34" charset="-120"/>
              </a:rPr>
              <a:t>▶</a:t>
            </a:r>
            <a:endParaRPr lang="en-US" sz="1000" dirty="0"/>
          </a:p>
        </p:txBody>
      </p:sp>
      <p:sp>
        <p:nvSpPr>
          <p:cNvPr id="39" name="Shape 37"/>
          <p:cNvSpPr/>
          <p:nvPr/>
        </p:nvSpPr>
        <p:spPr>
          <a:xfrm>
            <a:off x="7095744" y="2057400"/>
            <a:ext cx="1508760" cy="777240"/>
          </a:xfrm>
          <a:prstGeom prst="rect">
            <a:avLst/>
          </a:prstGeom>
          <a:solidFill>
            <a:srgbClr val="172A3A"/>
          </a:solidFill>
          <a:ln w="12700">
            <a:solidFill>
              <a:srgbClr val="4CAF50"/>
            </a:solidFill>
            <a:prstDash val="solid"/>
          </a:ln>
        </p:spPr>
        <p:txBody>
          <a:bodyPr/>
          <a:lstStyle/>
          <a:p>
            <a:endParaRPr lang="en-US"/>
          </a:p>
        </p:txBody>
      </p:sp>
      <p:sp>
        <p:nvSpPr>
          <p:cNvPr id="40" name="Text 38"/>
          <p:cNvSpPr/>
          <p:nvPr/>
        </p:nvSpPr>
        <p:spPr>
          <a:xfrm>
            <a:off x="7095744" y="2103120"/>
            <a:ext cx="1508760" cy="182880"/>
          </a:xfrm>
          <a:prstGeom prst="rect">
            <a:avLst/>
          </a:prstGeom>
          <a:noFill/>
          <a:ln/>
        </p:spPr>
        <p:txBody>
          <a:bodyPr wrap="square" lIns="0" tIns="0" rIns="0" bIns="0" rtlCol="0" anchor="ctr"/>
          <a:lstStyle/>
          <a:p>
            <a:pPr marL="0" indent="0" algn="ctr">
              <a:buNone/>
            </a:pPr>
            <a:r>
              <a:rPr lang="en-US" sz="800" b="1" dirty="0">
                <a:solidFill>
                  <a:srgbClr val="4CAF50"/>
                </a:solidFill>
                <a:latin typeface="Arial" pitchFamily="34" charset="0"/>
                <a:ea typeface="Arial" pitchFamily="34" charset="-122"/>
                <a:cs typeface="Arial" pitchFamily="34" charset="-120"/>
              </a:rPr>
              <a:t>RESULT TABLES</a:t>
            </a:r>
            <a:endParaRPr lang="en-US" sz="800" dirty="0"/>
          </a:p>
        </p:txBody>
      </p:sp>
      <p:sp>
        <p:nvSpPr>
          <p:cNvPr id="41" name="Text 39"/>
          <p:cNvSpPr/>
          <p:nvPr/>
        </p:nvSpPr>
        <p:spPr>
          <a:xfrm>
            <a:off x="7141464" y="2313432"/>
            <a:ext cx="1417320" cy="457200"/>
          </a:xfrm>
          <a:prstGeom prst="rect">
            <a:avLst/>
          </a:prstGeom>
          <a:noFill/>
          <a:ln/>
        </p:spPr>
        <p:txBody>
          <a:bodyPr wrap="square" lIns="0" tIns="0" rIns="0" bIns="0" rtlCol="0" anchor="ctr"/>
          <a:lstStyle/>
          <a:p>
            <a:pPr marL="0" indent="0" algn="ctr">
              <a:buNone/>
            </a:pPr>
            <a:r>
              <a:rPr lang="en-US" sz="700" dirty="0">
                <a:solidFill>
                  <a:srgbClr val="B0B8C0"/>
                </a:solidFill>
                <a:latin typeface="Consolas" pitchFamily="34" charset="0"/>
                <a:ea typeface="Consolas" pitchFamily="34" charset="-122"/>
                <a:cs typeface="Consolas" pitchFamily="34" charset="-120"/>
              </a:rPr>
              <a:t>FORECAST_RESULTS</a:t>
            </a:r>
            <a:endParaRPr lang="en-US" sz="700" dirty="0"/>
          </a:p>
          <a:p>
            <a:pPr marL="0" indent="0" algn="ctr">
              <a:buNone/>
            </a:pPr>
            <a:r>
              <a:rPr lang="en-US" sz="700" dirty="0">
                <a:solidFill>
                  <a:srgbClr val="B0B8C0"/>
                </a:solidFill>
                <a:latin typeface="Consolas" pitchFamily="34" charset="0"/>
                <a:ea typeface="Consolas" pitchFamily="34" charset="-122"/>
                <a:cs typeface="Consolas" pitchFamily="34" charset="-120"/>
              </a:rPr>
              <a:t>MODEL_COMPARISON</a:t>
            </a:r>
            <a:endParaRPr lang="en-US" sz="700" dirty="0"/>
          </a:p>
          <a:p>
            <a:pPr marL="0" indent="0" algn="ctr">
              <a:buNone/>
            </a:pPr>
            <a:r>
              <a:rPr lang="en-US" sz="700" dirty="0">
                <a:solidFill>
                  <a:srgbClr val="B0B8C0"/>
                </a:solidFill>
                <a:latin typeface="Consolas" pitchFamily="34" charset="0"/>
                <a:ea typeface="Consolas" pitchFamily="34" charset="-122"/>
                <a:cs typeface="Consolas" pitchFamily="34" charset="-120"/>
              </a:rPr>
              <a:t>12-month predictions</a:t>
            </a:r>
            <a:endParaRPr lang="en-US" sz="700" dirty="0"/>
          </a:p>
        </p:txBody>
      </p:sp>
      <p:sp>
        <p:nvSpPr>
          <p:cNvPr id="42" name="Shape 40"/>
          <p:cNvSpPr/>
          <p:nvPr/>
        </p:nvSpPr>
        <p:spPr>
          <a:xfrm>
            <a:off x="274320" y="3108960"/>
            <a:ext cx="8595360" cy="201168"/>
          </a:xfrm>
          <a:prstGeom prst="rect">
            <a:avLst/>
          </a:prstGeom>
          <a:solidFill>
            <a:srgbClr val="172A3A"/>
          </a:solidFill>
          <a:ln/>
        </p:spPr>
        <p:txBody>
          <a:bodyPr/>
          <a:lstStyle/>
          <a:p>
            <a:endParaRPr lang="en-US"/>
          </a:p>
        </p:txBody>
      </p:sp>
      <p:sp>
        <p:nvSpPr>
          <p:cNvPr id="43" name="Text 41"/>
          <p:cNvSpPr/>
          <p:nvPr/>
        </p:nvSpPr>
        <p:spPr>
          <a:xfrm>
            <a:off x="274320" y="3108960"/>
            <a:ext cx="8595360" cy="201168"/>
          </a:xfrm>
          <a:prstGeom prst="rect">
            <a:avLst/>
          </a:prstGeom>
          <a:noFill/>
          <a:ln/>
        </p:spPr>
        <p:txBody>
          <a:bodyPr wrap="square" lIns="0" tIns="0" rIns="0" bIns="0" rtlCol="0" anchor="ctr"/>
          <a:lstStyle/>
          <a:p>
            <a:pPr marL="0" indent="0" algn="ctr">
              <a:buNone/>
            </a:pPr>
            <a:r>
              <a:rPr lang="en-US" sz="900" b="1" dirty="0">
                <a:solidFill>
                  <a:srgbClr val="00BCD4"/>
                </a:solidFill>
                <a:latin typeface="Arial" pitchFamily="34" charset="0"/>
                <a:ea typeface="Arial" pitchFamily="34" charset="-122"/>
                <a:cs typeface="Arial" pitchFamily="34" charset="-120"/>
              </a:rPr>
              <a:t>Published on SAP BTP  —  Cloud Foundry</a:t>
            </a:r>
            <a:endParaRPr lang="en-US" sz="900" dirty="0"/>
          </a:p>
        </p:txBody>
      </p:sp>
      <p:sp>
        <p:nvSpPr>
          <p:cNvPr id="44" name="Text 42"/>
          <p:cNvSpPr/>
          <p:nvPr/>
        </p:nvSpPr>
        <p:spPr>
          <a:xfrm>
            <a:off x="2926080" y="2971800"/>
            <a:ext cx="274320" cy="182880"/>
          </a:xfrm>
          <a:prstGeom prst="rect">
            <a:avLst/>
          </a:prstGeom>
          <a:noFill/>
          <a:ln/>
        </p:spPr>
        <p:txBody>
          <a:bodyPr wrap="square" lIns="0" tIns="0" rIns="0" bIns="0" rtlCol="0" anchor="ctr"/>
          <a:lstStyle/>
          <a:p>
            <a:pPr marL="0" indent="0" algn="ctr">
              <a:buNone/>
            </a:pPr>
            <a:r>
              <a:rPr lang="en-US" sz="1200" dirty="0">
                <a:solidFill>
                  <a:srgbClr val="00BCD4"/>
                </a:solidFill>
                <a:latin typeface="Arial" pitchFamily="34" charset="0"/>
                <a:ea typeface="Arial" pitchFamily="34" charset="-122"/>
                <a:cs typeface="Arial" pitchFamily="34" charset="-120"/>
              </a:rPr>
              <a:t>▼</a:t>
            </a:r>
            <a:endParaRPr lang="en-US" sz="1200" dirty="0"/>
          </a:p>
        </p:txBody>
      </p:sp>
      <p:sp>
        <p:nvSpPr>
          <p:cNvPr id="45" name="Text 43"/>
          <p:cNvSpPr/>
          <p:nvPr/>
        </p:nvSpPr>
        <p:spPr>
          <a:xfrm>
            <a:off x="6217920" y="2971800"/>
            <a:ext cx="274320" cy="182880"/>
          </a:xfrm>
          <a:prstGeom prst="rect">
            <a:avLst/>
          </a:prstGeom>
          <a:noFill/>
          <a:ln/>
        </p:spPr>
        <p:txBody>
          <a:bodyPr wrap="square" lIns="0" tIns="0" rIns="0" bIns="0" rtlCol="0" anchor="ctr"/>
          <a:lstStyle/>
          <a:p>
            <a:pPr marL="0" indent="0" algn="ctr">
              <a:buNone/>
            </a:pPr>
            <a:r>
              <a:rPr lang="en-US" sz="1200" dirty="0">
                <a:solidFill>
                  <a:srgbClr val="00BCD4"/>
                </a:solidFill>
                <a:latin typeface="Arial" pitchFamily="34" charset="0"/>
                <a:ea typeface="Arial" pitchFamily="34" charset="-122"/>
                <a:cs typeface="Arial" pitchFamily="34" charset="-120"/>
              </a:rPr>
              <a:t>▼</a:t>
            </a:r>
            <a:endParaRPr lang="en-US" sz="1200" dirty="0"/>
          </a:p>
        </p:txBody>
      </p:sp>
      <p:sp>
        <p:nvSpPr>
          <p:cNvPr id="46" name="Shape 44"/>
          <p:cNvSpPr/>
          <p:nvPr/>
        </p:nvSpPr>
        <p:spPr>
          <a:xfrm>
            <a:off x="274320" y="3337560"/>
            <a:ext cx="4160520" cy="1463040"/>
          </a:xfrm>
          <a:prstGeom prst="rect">
            <a:avLst/>
          </a:prstGeom>
          <a:solidFill>
            <a:srgbClr val="172A3A"/>
          </a:solidFill>
          <a:ln w="19050">
            <a:solidFill>
              <a:srgbClr val="4CAF50"/>
            </a:solidFill>
            <a:prstDash val="solid"/>
          </a:ln>
        </p:spPr>
        <p:txBody>
          <a:bodyPr/>
          <a:lstStyle/>
          <a:p>
            <a:endParaRPr lang="en-US"/>
          </a:p>
        </p:txBody>
      </p:sp>
      <p:sp>
        <p:nvSpPr>
          <p:cNvPr id="47" name="Shape 45"/>
          <p:cNvSpPr/>
          <p:nvPr/>
        </p:nvSpPr>
        <p:spPr>
          <a:xfrm>
            <a:off x="274320" y="3337560"/>
            <a:ext cx="4160520" cy="45720"/>
          </a:xfrm>
          <a:prstGeom prst="rect">
            <a:avLst/>
          </a:prstGeom>
          <a:solidFill>
            <a:srgbClr val="4CAF50"/>
          </a:solidFill>
          <a:ln/>
        </p:spPr>
        <p:txBody>
          <a:bodyPr/>
          <a:lstStyle/>
          <a:p>
            <a:endParaRPr lang="en-US"/>
          </a:p>
        </p:txBody>
      </p:sp>
      <p:sp>
        <p:nvSpPr>
          <p:cNvPr id="48" name="Text 46"/>
          <p:cNvSpPr/>
          <p:nvPr/>
        </p:nvSpPr>
        <p:spPr>
          <a:xfrm>
            <a:off x="365760" y="3429000"/>
            <a:ext cx="1828800" cy="228600"/>
          </a:xfrm>
          <a:prstGeom prst="rect">
            <a:avLst/>
          </a:prstGeom>
          <a:noFill/>
          <a:ln/>
        </p:spPr>
        <p:txBody>
          <a:bodyPr wrap="square" lIns="0" tIns="0" rIns="0" bIns="0" rtlCol="0" anchor="ctr"/>
          <a:lstStyle/>
          <a:p>
            <a:pPr marL="0" indent="0" algn="l">
              <a:buNone/>
            </a:pPr>
            <a:r>
              <a:rPr lang="en-US" sz="1000" b="1" dirty="0">
                <a:solidFill>
                  <a:srgbClr val="4CAF50"/>
                </a:solidFill>
                <a:latin typeface="Arial" pitchFamily="34" charset="0"/>
                <a:ea typeface="Arial" pitchFamily="34" charset="-122"/>
                <a:cs typeface="Arial" pitchFamily="34" charset="-120"/>
              </a:rPr>
              <a:t>WEB APPLICATION</a:t>
            </a:r>
            <a:endParaRPr lang="en-US" sz="1000" dirty="0"/>
          </a:p>
        </p:txBody>
      </p:sp>
      <p:sp>
        <p:nvSpPr>
          <p:cNvPr id="49" name="Shape 47"/>
          <p:cNvSpPr/>
          <p:nvPr/>
        </p:nvSpPr>
        <p:spPr>
          <a:xfrm>
            <a:off x="365760" y="3749040"/>
            <a:ext cx="1920240" cy="274320"/>
          </a:xfrm>
          <a:prstGeom prst="rect">
            <a:avLst/>
          </a:prstGeom>
          <a:solidFill>
            <a:srgbClr val="0D1520"/>
          </a:solidFill>
          <a:ln w="6350">
            <a:solidFill>
              <a:srgbClr val="4CAF50"/>
            </a:solidFill>
            <a:prstDash val="solid"/>
          </a:ln>
        </p:spPr>
        <p:txBody>
          <a:bodyPr/>
          <a:lstStyle/>
          <a:p>
            <a:endParaRPr lang="en-US"/>
          </a:p>
        </p:txBody>
      </p:sp>
      <p:sp>
        <p:nvSpPr>
          <p:cNvPr id="50" name="Text 48"/>
          <p:cNvSpPr/>
          <p:nvPr/>
        </p:nvSpPr>
        <p:spPr>
          <a:xfrm>
            <a:off x="365760" y="3749040"/>
            <a:ext cx="1920240" cy="274320"/>
          </a:xfrm>
          <a:prstGeom prst="rect">
            <a:avLst/>
          </a:prstGeom>
          <a:noFill/>
          <a:ln/>
        </p:spPr>
        <p:txBody>
          <a:bodyPr wrap="square" lIns="0" tIns="0" rIns="0" bIns="0" rtlCol="0" anchor="ctr"/>
          <a:lstStyle/>
          <a:p>
            <a:pPr marL="0" indent="0" algn="ctr">
              <a:buNone/>
            </a:pPr>
            <a:r>
              <a:rPr lang="en-US" sz="800" dirty="0">
                <a:solidFill>
                  <a:srgbClr val="4CAF50"/>
                </a:solidFill>
                <a:latin typeface="Arial" pitchFamily="34" charset="0"/>
                <a:ea typeface="Arial" pitchFamily="34" charset="-122"/>
                <a:cs typeface="Arial" pitchFamily="34" charset="-120"/>
              </a:rPr>
              <a:t>Forecast Dashboard</a:t>
            </a:r>
            <a:endParaRPr lang="en-US" sz="800" dirty="0"/>
          </a:p>
        </p:txBody>
      </p:sp>
      <p:sp>
        <p:nvSpPr>
          <p:cNvPr id="51" name="Shape 49"/>
          <p:cNvSpPr/>
          <p:nvPr/>
        </p:nvSpPr>
        <p:spPr>
          <a:xfrm>
            <a:off x="2377440" y="3749040"/>
            <a:ext cx="1920240" cy="274320"/>
          </a:xfrm>
          <a:prstGeom prst="rect">
            <a:avLst/>
          </a:prstGeom>
          <a:solidFill>
            <a:srgbClr val="0D1520"/>
          </a:solidFill>
          <a:ln w="6350">
            <a:solidFill>
              <a:srgbClr val="00BCD4"/>
            </a:solidFill>
            <a:prstDash val="solid"/>
          </a:ln>
        </p:spPr>
        <p:txBody>
          <a:bodyPr/>
          <a:lstStyle/>
          <a:p>
            <a:endParaRPr lang="en-US"/>
          </a:p>
        </p:txBody>
      </p:sp>
      <p:sp>
        <p:nvSpPr>
          <p:cNvPr id="52" name="Text 50"/>
          <p:cNvSpPr/>
          <p:nvPr/>
        </p:nvSpPr>
        <p:spPr>
          <a:xfrm>
            <a:off x="2377440" y="3749040"/>
            <a:ext cx="1920240" cy="274320"/>
          </a:xfrm>
          <a:prstGeom prst="rect">
            <a:avLst/>
          </a:prstGeom>
          <a:noFill/>
          <a:ln/>
        </p:spPr>
        <p:txBody>
          <a:bodyPr wrap="square" lIns="0" tIns="0" rIns="0" bIns="0" rtlCol="0" anchor="ctr"/>
          <a:lstStyle/>
          <a:p>
            <a:pPr marL="0" indent="0" algn="ctr">
              <a:buNone/>
            </a:pPr>
            <a:r>
              <a:rPr lang="en-US" sz="800" dirty="0">
                <a:solidFill>
                  <a:srgbClr val="00BCD4"/>
                </a:solidFill>
                <a:latin typeface="Arial" pitchFamily="34" charset="0"/>
                <a:ea typeface="Arial" pitchFamily="34" charset="-122"/>
                <a:cs typeface="Arial" pitchFamily="34" charset="-120"/>
              </a:rPr>
              <a:t>Actual vs Predicted Charts</a:t>
            </a:r>
            <a:endParaRPr lang="en-US" sz="800" dirty="0"/>
          </a:p>
        </p:txBody>
      </p:sp>
      <p:sp>
        <p:nvSpPr>
          <p:cNvPr id="53" name="Shape 51"/>
          <p:cNvSpPr/>
          <p:nvPr/>
        </p:nvSpPr>
        <p:spPr>
          <a:xfrm>
            <a:off x="365760" y="4096512"/>
            <a:ext cx="1920240" cy="274320"/>
          </a:xfrm>
          <a:prstGeom prst="rect">
            <a:avLst/>
          </a:prstGeom>
          <a:solidFill>
            <a:srgbClr val="0D1520"/>
          </a:solidFill>
          <a:ln w="6350">
            <a:solidFill>
              <a:srgbClr val="F9A825"/>
            </a:solidFill>
            <a:prstDash val="solid"/>
          </a:ln>
        </p:spPr>
        <p:txBody>
          <a:bodyPr/>
          <a:lstStyle/>
          <a:p>
            <a:endParaRPr lang="en-US"/>
          </a:p>
        </p:txBody>
      </p:sp>
      <p:sp>
        <p:nvSpPr>
          <p:cNvPr id="54" name="Text 52"/>
          <p:cNvSpPr/>
          <p:nvPr/>
        </p:nvSpPr>
        <p:spPr>
          <a:xfrm>
            <a:off x="365760" y="4096512"/>
            <a:ext cx="1920240" cy="274320"/>
          </a:xfrm>
          <a:prstGeom prst="rect">
            <a:avLst/>
          </a:prstGeom>
          <a:noFill/>
          <a:ln/>
        </p:spPr>
        <p:txBody>
          <a:bodyPr wrap="square" lIns="0" tIns="0" rIns="0" bIns="0" rtlCol="0" anchor="ctr"/>
          <a:lstStyle/>
          <a:p>
            <a:pPr marL="0" indent="0" algn="ctr">
              <a:buNone/>
            </a:pPr>
            <a:r>
              <a:rPr lang="en-US" sz="800" dirty="0">
                <a:solidFill>
                  <a:srgbClr val="F9A825"/>
                </a:solidFill>
                <a:latin typeface="Arial" pitchFamily="34" charset="0"/>
                <a:ea typeface="Arial" pitchFamily="34" charset="-122"/>
                <a:cs typeface="Arial" pitchFamily="34" charset="-120"/>
              </a:rPr>
              <a:t>Model Comparison Tables</a:t>
            </a:r>
            <a:endParaRPr lang="en-US" sz="800" dirty="0"/>
          </a:p>
        </p:txBody>
      </p:sp>
      <p:sp>
        <p:nvSpPr>
          <p:cNvPr id="55" name="Shape 53"/>
          <p:cNvSpPr/>
          <p:nvPr/>
        </p:nvSpPr>
        <p:spPr>
          <a:xfrm>
            <a:off x="2377440" y="4096512"/>
            <a:ext cx="1920240" cy="274320"/>
          </a:xfrm>
          <a:prstGeom prst="rect">
            <a:avLst/>
          </a:prstGeom>
          <a:solidFill>
            <a:srgbClr val="0D1520"/>
          </a:solidFill>
          <a:ln w="6350">
            <a:solidFill>
              <a:srgbClr val="2196F3"/>
            </a:solidFill>
            <a:prstDash val="solid"/>
          </a:ln>
        </p:spPr>
        <p:txBody>
          <a:bodyPr/>
          <a:lstStyle/>
          <a:p>
            <a:endParaRPr lang="en-US"/>
          </a:p>
        </p:txBody>
      </p:sp>
      <p:sp>
        <p:nvSpPr>
          <p:cNvPr id="56" name="Text 54"/>
          <p:cNvSpPr/>
          <p:nvPr/>
        </p:nvSpPr>
        <p:spPr>
          <a:xfrm>
            <a:off x="2377440" y="4096512"/>
            <a:ext cx="1920240" cy="274320"/>
          </a:xfrm>
          <a:prstGeom prst="rect">
            <a:avLst/>
          </a:prstGeom>
          <a:noFill/>
          <a:ln/>
        </p:spPr>
        <p:txBody>
          <a:bodyPr wrap="square" lIns="0" tIns="0" rIns="0" bIns="0" rtlCol="0" anchor="ctr"/>
          <a:lstStyle/>
          <a:p>
            <a:pPr marL="0" indent="0" algn="ctr">
              <a:buNone/>
            </a:pPr>
            <a:r>
              <a:rPr lang="en-US" sz="800" dirty="0">
                <a:solidFill>
                  <a:srgbClr val="2196F3"/>
                </a:solidFill>
                <a:latin typeface="Arial" pitchFamily="34" charset="0"/>
                <a:ea typeface="Arial" pitchFamily="34" charset="-122"/>
                <a:cs typeface="Arial" pitchFamily="34" charset="-120"/>
              </a:rPr>
              <a:t>Search by Accessory Code</a:t>
            </a:r>
            <a:endParaRPr lang="en-US" sz="800" dirty="0"/>
          </a:p>
        </p:txBody>
      </p:sp>
      <p:sp>
        <p:nvSpPr>
          <p:cNvPr id="57" name="Text 55"/>
          <p:cNvSpPr/>
          <p:nvPr/>
        </p:nvSpPr>
        <p:spPr>
          <a:xfrm>
            <a:off x="365760" y="4526280"/>
            <a:ext cx="3977640" cy="182880"/>
          </a:xfrm>
          <a:prstGeom prst="rect">
            <a:avLst/>
          </a:prstGeom>
          <a:noFill/>
          <a:ln/>
        </p:spPr>
        <p:txBody>
          <a:bodyPr wrap="square" lIns="0" tIns="0" rIns="0" bIns="0" rtlCol="0" anchor="ctr"/>
          <a:lstStyle/>
          <a:p>
            <a:pPr marL="0" indent="0" algn="ctr">
              <a:buNone/>
            </a:pPr>
            <a:r>
              <a:rPr lang="en-US" sz="800" i="1" dirty="0">
                <a:solidFill>
                  <a:srgbClr val="B0B8C0"/>
                </a:solidFill>
                <a:latin typeface="Arial" pitchFamily="34" charset="0"/>
                <a:ea typeface="Arial" pitchFamily="34" charset="-122"/>
                <a:cs typeface="Arial" pitchFamily="34" charset="-120"/>
              </a:rPr>
              <a:t>Reads directly from HANA result tables</a:t>
            </a:r>
            <a:endParaRPr lang="en-US" sz="800" dirty="0"/>
          </a:p>
        </p:txBody>
      </p:sp>
      <p:sp>
        <p:nvSpPr>
          <p:cNvPr id="58" name="Shape 56"/>
          <p:cNvSpPr/>
          <p:nvPr/>
        </p:nvSpPr>
        <p:spPr>
          <a:xfrm>
            <a:off x="4709160" y="3337560"/>
            <a:ext cx="4160520" cy="1463040"/>
          </a:xfrm>
          <a:prstGeom prst="rect">
            <a:avLst/>
          </a:prstGeom>
          <a:solidFill>
            <a:srgbClr val="172A3A"/>
          </a:solidFill>
          <a:ln w="19050">
            <a:solidFill>
              <a:srgbClr val="FF9800"/>
            </a:solidFill>
            <a:prstDash val="solid"/>
          </a:ln>
        </p:spPr>
        <p:txBody>
          <a:bodyPr/>
          <a:lstStyle/>
          <a:p>
            <a:endParaRPr lang="en-US"/>
          </a:p>
        </p:txBody>
      </p:sp>
      <p:sp>
        <p:nvSpPr>
          <p:cNvPr id="59" name="Shape 57"/>
          <p:cNvSpPr/>
          <p:nvPr/>
        </p:nvSpPr>
        <p:spPr>
          <a:xfrm>
            <a:off x="4709160" y="3337560"/>
            <a:ext cx="4160520" cy="45720"/>
          </a:xfrm>
          <a:prstGeom prst="rect">
            <a:avLst/>
          </a:prstGeom>
          <a:solidFill>
            <a:srgbClr val="FF9800"/>
          </a:solidFill>
          <a:ln/>
        </p:spPr>
        <p:txBody>
          <a:bodyPr/>
          <a:lstStyle/>
          <a:p>
            <a:endParaRPr lang="en-US"/>
          </a:p>
        </p:txBody>
      </p:sp>
      <p:sp>
        <p:nvSpPr>
          <p:cNvPr id="60" name="Text 58"/>
          <p:cNvSpPr/>
          <p:nvPr/>
        </p:nvSpPr>
        <p:spPr>
          <a:xfrm>
            <a:off x="4800600" y="3429000"/>
            <a:ext cx="1371600" cy="228600"/>
          </a:xfrm>
          <a:prstGeom prst="rect">
            <a:avLst/>
          </a:prstGeom>
          <a:noFill/>
          <a:ln/>
        </p:spPr>
        <p:txBody>
          <a:bodyPr wrap="square" lIns="0" tIns="0" rIns="0" bIns="0" rtlCol="0" anchor="ctr"/>
          <a:lstStyle/>
          <a:p>
            <a:pPr marL="0" indent="0" algn="l">
              <a:buNone/>
            </a:pPr>
            <a:r>
              <a:rPr lang="en-US" sz="1000" b="1" dirty="0">
                <a:solidFill>
                  <a:srgbClr val="FF9800"/>
                </a:solidFill>
                <a:latin typeface="Arial" pitchFamily="34" charset="0"/>
                <a:ea typeface="Arial" pitchFamily="34" charset="-122"/>
                <a:cs typeface="Arial" pitchFamily="34" charset="-120"/>
              </a:rPr>
              <a:t>REST API</a:t>
            </a:r>
            <a:endParaRPr lang="en-US" sz="1000" dirty="0"/>
          </a:p>
        </p:txBody>
      </p:sp>
      <p:sp>
        <p:nvSpPr>
          <p:cNvPr id="61" name="Shape 59"/>
          <p:cNvSpPr/>
          <p:nvPr/>
        </p:nvSpPr>
        <p:spPr>
          <a:xfrm>
            <a:off x="4800600" y="3721608"/>
            <a:ext cx="3977640" cy="219456"/>
          </a:xfrm>
          <a:prstGeom prst="rect">
            <a:avLst/>
          </a:prstGeom>
          <a:solidFill>
            <a:srgbClr val="0D1520"/>
          </a:solidFill>
          <a:ln/>
        </p:spPr>
        <p:txBody>
          <a:bodyPr/>
          <a:lstStyle/>
          <a:p>
            <a:endParaRPr lang="en-US"/>
          </a:p>
        </p:txBody>
      </p:sp>
      <p:sp>
        <p:nvSpPr>
          <p:cNvPr id="62" name="Text 60"/>
          <p:cNvSpPr/>
          <p:nvPr/>
        </p:nvSpPr>
        <p:spPr>
          <a:xfrm>
            <a:off x="4846320" y="3721608"/>
            <a:ext cx="3886200" cy="219456"/>
          </a:xfrm>
          <a:prstGeom prst="rect">
            <a:avLst/>
          </a:prstGeom>
          <a:noFill/>
          <a:ln/>
        </p:spPr>
        <p:txBody>
          <a:bodyPr wrap="square" lIns="0" tIns="0" rIns="0" bIns="0" rtlCol="0" anchor="ctr"/>
          <a:lstStyle/>
          <a:p>
            <a:pPr marL="0" indent="0" algn="l">
              <a:buNone/>
            </a:pPr>
            <a:r>
              <a:rPr lang="en-US" sz="750" b="1" dirty="0">
                <a:solidFill>
                  <a:srgbClr val="FF9800"/>
                </a:solidFill>
                <a:latin typeface="Consolas" pitchFamily="34" charset="0"/>
                <a:ea typeface="Consolas" pitchFamily="34" charset="-122"/>
                <a:cs typeface="Consolas" pitchFamily="34" charset="-120"/>
              </a:rPr>
              <a:t>/api/models</a:t>
            </a:r>
            <a:r>
              <a:rPr lang="en-US" sz="750" dirty="0">
                <a:solidFill>
                  <a:srgbClr val="B0B8C0"/>
                </a:solidFill>
                <a:latin typeface="Arial" pitchFamily="34" charset="0"/>
                <a:ea typeface="Arial" pitchFamily="34" charset="-122"/>
                <a:cs typeface="Arial" pitchFamily="34" charset="-120"/>
              </a:rPr>
              <a:t>  —  List all models &amp; params</a:t>
            </a:r>
            <a:endParaRPr lang="en-US" sz="750" dirty="0"/>
          </a:p>
        </p:txBody>
      </p:sp>
      <p:sp>
        <p:nvSpPr>
          <p:cNvPr id="63" name="Shape 61"/>
          <p:cNvSpPr/>
          <p:nvPr/>
        </p:nvSpPr>
        <p:spPr>
          <a:xfrm>
            <a:off x="4800600" y="3977640"/>
            <a:ext cx="3977640" cy="219456"/>
          </a:xfrm>
          <a:prstGeom prst="rect">
            <a:avLst/>
          </a:prstGeom>
          <a:solidFill>
            <a:srgbClr val="0D1520"/>
          </a:solidFill>
          <a:ln/>
        </p:spPr>
        <p:txBody>
          <a:bodyPr/>
          <a:lstStyle/>
          <a:p>
            <a:endParaRPr lang="en-US"/>
          </a:p>
        </p:txBody>
      </p:sp>
      <p:sp>
        <p:nvSpPr>
          <p:cNvPr id="64" name="Text 62"/>
          <p:cNvSpPr/>
          <p:nvPr/>
        </p:nvSpPr>
        <p:spPr>
          <a:xfrm>
            <a:off x="4846320" y="3977640"/>
            <a:ext cx="3886200" cy="219456"/>
          </a:xfrm>
          <a:prstGeom prst="rect">
            <a:avLst/>
          </a:prstGeom>
          <a:noFill/>
          <a:ln/>
        </p:spPr>
        <p:txBody>
          <a:bodyPr wrap="square" lIns="0" tIns="0" rIns="0" bIns="0" rtlCol="0" anchor="ctr"/>
          <a:lstStyle/>
          <a:p>
            <a:pPr marL="0" indent="0" algn="l">
              <a:buNone/>
            </a:pPr>
            <a:r>
              <a:rPr lang="en-US" sz="750" b="1" dirty="0">
                <a:solidFill>
                  <a:srgbClr val="FF9800"/>
                </a:solidFill>
                <a:latin typeface="Consolas" pitchFamily="34" charset="0"/>
                <a:ea typeface="Consolas" pitchFamily="34" charset="-122"/>
                <a:cs typeface="Consolas" pitchFamily="34" charset="-120"/>
              </a:rPr>
              <a:t>/api/models/acccode/&lt;code&gt;</a:t>
            </a:r>
            <a:r>
              <a:rPr lang="en-US" sz="750" dirty="0">
                <a:solidFill>
                  <a:srgbClr val="B0B8C0"/>
                </a:solidFill>
                <a:latin typeface="Arial" pitchFamily="34" charset="0"/>
                <a:ea typeface="Arial" pitchFamily="34" charset="-122"/>
                <a:cs typeface="Arial" pitchFamily="34" charset="-120"/>
              </a:rPr>
              <a:t>  —  Model comparison</a:t>
            </a:r>
            <a:endParaRPr lang="en-US" sz="750" dirty="0"/>
          </a:p>
        </p:txBody>
      </p:sp>
      <p:sp>
        <p:nvSpPr>
          <p:cNvPr id="65" name="Shape 63"/>
          <p:cNvSpPr/>
          <p:nvPr/>
        </p:nvSpPr>
        <p:spPr>
          <a:xfrm>
            <a:off x="4800600" y="4233672"/>
            <a:ext cx="3977640" cy="219456"/>
          </a:xfrm>
          <a:prstGeom prst="rect">
            <a:avLst/>
          </a:prstGeom>
          <a:solidFill>
            <a:srgbClr val="0D1520"/>
          </a:solidFill>
          <a:ln/>
        </p:spPr>
        <p:txBody>
          <a:bodyPr/>
          <a:lstStyle/>
          <a:p>
            <a:endParaRPr lang="en-US"/>
          </a:p>
        </p:txBody>
      </p:sp>
      <p:sp>
        <p:nvSpPr>
          <p:cNvPr id="66" name="Text 64"/>
          <p:cNvSpPr/>
          <p:nvPr/>
        </p:nvSpPr>
        <p:spPr>
          <a:xfrm>
            <a:off x="4846320" y="4233672"/>
            <a:ext cx="3886200" cy="219456"/>
          </a:xfrm>
          <a:prstGeom prst="rect">
            <a:avLst/>
          </a:prstGeom>
          <a:noFill/>
          <a:ln/>
        </p:spPr>
        <p:txBody>
          <a:bodyPr wrap="square" lIns="0" tIns="0" rIns="0" bIns="0" rtlCol="0" anchor="ctr"/>
          <a:lstStyle/>
          <a:p>
            <a:pPr marL="0" indent="0" algn="l">
              <a:buNone/>
            </a:pPr>
            <a:r>
              <a:rPr lang="en-US" sz="750" b="1" dirty="0">
                <a:solidFill>
                  <a:srgbClr val="FF9800"/>
                </a:solidFill>
                <a:latin typeface="Consolas" pitchFamily="34" charset="0"/>
                <a:ea typeface="Consolas" pitchFamily="34" charset="-122"/>
                <a:cs typeface="Consolas" pitchFamily="34" charset="-120"/>
              </a:rPr>
              <a:t>/api/retrain/acccode/&lt;code&gt;</a:t>
            </a:r>
            <a:r>
              <a:rPr lang="en-US" sz="750" dirty="0">
                <a:solidFill>
                  <a:srgbClr val="B0B8C0"/>
                </a:solidFill>
                <a:latin typeface="Arial" pitchFamily="34" charset="0"/>
                <a:ea typeface="Arial" pitchFamily="34" charset="-122"/>
                <a:cs typeface="Arial" pitchFamily="34" charset="-120"/>
              </a:rPr>
              <a:t>  —  Re-train with custom params</a:t>
            </a:r>
            <a:endParaRPr lang="en-US" sz="750" dirty="0"/>
          </a:p>
        </p:txBody>
      </p:sp>
      <p:sp>
        <p:nvSpPr>
          <p:cNvPr id="67" name="Text 65"/>
          <p:cNvSpPr/>
          <p:nvPr/>
        </p:nvSpPr>
        <p:spPr>
          <a:xfrm>
            <a:off x="5989320" y="4507992"/>
            <a:ext cx="182880" cy="228600"/>
          </a:xfrm>
          <a:prstGeom prst="rect">
            <a:avLst/>
          </a:prstGeom>
          <a:noFill/>
          <a:ln/>
        </p:spPr>
        <p:txBody>
          <a:bodyPr wrap="square" lIns="0" tIns="0" rIns="0" bIns="0" rtlCol="0" anchor="ctr"/>
          <a:lstStyle/>
          <a:p>
            <a:pPr marL="0" indent="0" algn="ctr">
              <a:buNone/>
            </a:pPr>
            <a:r>
              <a:rPr lang="en-US" sz="1000" dirty="0">
                <a:solidFill>
                  <a:srgbClr val="00BCD4"/>
                </a:solidFill>
                <a:latin typeface="Arial" pitchFamily="34" charset="0"/>
                <a:ea typeface="Arial" pitchFamily="34" charset="-122"/>
                <a:cs typeface="Arial" pitchFamily="34" charset="-120"/>
              </a:rPr>
              <a:t>▶</a:t>
            </a:r>
            <a:endParaRPr lang="en-US" sz="1000" dirty="0"/>
          </a:p>
        </p:txBody>
      </p:sp>
      <p:sp>
        <p:nvSpPr>
          <p:cNvPr id="68" name="Shape 66"/>
          <p:cNvSpPr/>
          <p:nvPr/>
        </p:nvSpPr>
        <p:spPr>
          <a:xfrm>
            <a:off x="6217920" y="4453128"/>
            <a:ext cx="2468880" cy="292608"/>
          </a:xfrm>
          <a:prstGeom prst="rect">
            <a:avLst/>
          </a:prstGeom>
          <a:solidFill>
            <a:srgbClr val="0D1520"/>
          </a:solidFill>
          <a:ln w="12700">
            <a:solidFill>
              <a:srgbClr val="00BCD4"/>
            </a:solidFill>
            <a:prstDash val="solid"/>
          </a:ln>
        </p:spPr>
        <p:txBody>
          <a:bodyPr/>
          <a:lstStyle/>
          <a:p>
            <a:endParaRPr lang="en-US"/>
          </a:p>
        </p:txBody>
      </p:sp>
      <p:sp>
        <p:nvSpPr>
          <p:cNvPr id="69" name="Text 67"/>
          <p:cNvSpPr/>
          <p:nvPr/>
        </p:nvSpPr>
        <p:spPr>
          <a:xfrm>
            <a:off x="6217920" y="4453128"/>
            <a:ext cx="2468880" cy="292608"/>
          </a:xfrm>
          <a:prstGeom prst="rect">
            <a:avLst/>
          </a:prstGeom>
          <a:noFill/>
          <a:ln/>
        </p:spPr>
        <p:txBody>
          <a:bodyPr wrap="square" lIns="0" tIns="0" rIns="0" bIns="0" rtlCol="0" anchor="ctr"/>
          <a:lstStyle/>
          <a:p>
            <a:pPr marL="0" indent="0" algn="ctr">
              <a:buNone/>
            </a:pPr>
            <a:r>
              <a:rPr lang="en-US" sz="850" b="1" dirty="0">
                <a:solidFill>
                  <a:srgbClr val="00BCD4"/>
                </a:solidFill>
                <a:latin typeface="Arial" pitchFamily="34" charset="0"/>
                <a:ea typeface="Arial" pitchFamily="34" charset="-122"/>
                <a:cs typeface="Arial" pitchFamily="34" charset="-120"/>
              </a:rPr>
              <a:t>Consumed by SAP Joule AI Assistant</a:t>
            </a:r>
            <a:endParaRPr lang="en-US" sz="850" dirty="0"/>
          </a:p>
        </p:txBody>
      </p:sp>
      <p:sp>
        <p:nvSpPr>
          <p:cNvPr id="70" name="Shape 68"/>
          <p:cNvSpPr/>
          <p:nvPr/>
        </p:nvSpPr>
        <p:spPr>
          <a:xfrm>
            <a:off x="274320" y="4937760"/>
            <a:ext cx="8595360" cy="182880"/>
          </a:xfrm>
          <a:prstGeom prst="rect">
            <a:avLst/>
          </a:prstGeom>
          <a:solidFill>
            <a:srgbClr val="172A3A"/>
          </a:solidFill>
          <a:ln/>
        </p:spPr>
        <p:txBody>
          <a:bodyPr/>
          <a:lstStyle/>
          <a:p>
            <a:endParaRPr lang="en-US"/>
          </a:p>
        </p:txBody>
      </p:sp>
      <p:sp>
        <p:nvSpPr>
          <p:cNvPr id="71" name="Text 69"/>
          <p:cNvSpPr/>
          <p:nvPr/>
        </p:nvSpPr>
        <p:spPr>
          <a:xfrm>
            <a:off x="274320" y="4937760"/>
            <a:ext cx="8595360" cy="182880"/>
          </a:xfrm>
          <a:prstGeom prst="rect">
            <a:avLst/>
          </a:prstGeom>
          <a:noFill/>
          <a:ln/>
        </p:spPr>
        <p:txBody>
          <a:bodyPr wrap="square" lIns="0" tIns="0" rIns="0" bIns="0" rtlCol="0" anchor="ctr"/>
          <a:lstStyle/>
          <a:p>
            <a:pPr marL="0" indent="0" algn="ctr">
              <a:buNone/>
            </a:pPr>
            <a:r>
              <a:rPr lang="en-US" sz="850" dirty="0">
                <a:solidFill>
                  <a:srgbClr val="00BCD4"/>
                </a:solidFill>
                <a:latin typeface="Arial" pitchFamily="34" charset="0"/>
                <a:ea typeface="Arial" pitchFamily="34" charset="-122"/>
                <a:cs typeface="Arial" pitchFamily="34" charset="-120"/>
              </a:rPr>
              <a:t>100% SAP ecosystem  ·  VOISV &amp; SWT → CDS Views → HANA Cloud → PAL → Cloud Foundry → Joule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txBody>
          <a:bodyPr/>
          <a:lstStyle/>
          <a:p>
            <a:endParaRPr lang="en-US"/>
          </a:p>
        </p:txBody>
      </p:sp>
      <p:sp>
        <p:nvSpPr>
          <p:cNvPr id="3" name="Shape 1"/>
          <p:cNvSpPr/>
          <p:nvPr/>
        </p:nvSpPr>
        <p:spPr>
          <a:xfrm>
            <a:off x="457200" y="228600"/>
            <a:ext cx="2011680" cy="365760"/>
          </a:xfrm>
          <a:prstGeom prst="rect">
            <a:avLst/>
          </a:prstGeom>
          <a:solidFill>
            <a:srgbClr val="F9A825"/>
          </a:solidFill>
          <a:ln/>
        </p:spPr>
        <p:txBody>
          <a:bodyPr/>
          <a:lstStyle/>
          <a:p>
            <a:endParaRPr lang="en-US"/>
          </a:p>
        </p:txBody>
      </p:sp>
      <p:sp>
        <p:nvSpPr>
          <p:cNvPr id="4" name="Text 2"/>
          <p:cNvSpPr/>
          <p:nvPr/>
        </p:nvSpPr>
        <p:spPr>
          <a:xfrm>
            <a:off x="457200" y="228600"/>
            <a:ext cx="2011680" cy="365760"/>
          </a:xfrm>
          <a:prstGeom prst="rect">
            <a:avLst/>
          </a:prstGeom>
          <a:noFill/>
          <a:ln/>
        </p:spPr>
        <p:txBody>
          <a:bodyPr wrap="square" lIns="0" tIns="0" rIns="0" bIns="0" rtlCol="0" anchor="ctr"/>
          <a:lstStyle/>
          <a:p>
            <a:pPr marL="0" indent="0" algn="ctr">
              <a:buNone/>
            </a:pPr>
            <a:r>
              <a:rPr lang="en-US" sz="1000" b="1" dirty="0">
                <a:solidFill>
                  <a:srgbClr val="1A1A1A"/>
                </a:solidFill>
                <a:latin typeface="Arial" pitchFamily="34" charset="0"/>
                <a:ea typeface="Arial" pitchFamily="34" charset="-122"/>
                <a:cs typeface="Arial" pitchFamily="34" charset="-120"/>
              </a:rPr>
              <a:t>OUR SAP PAL JOURNEY</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From Guesswork to AI Intelligence</a:t>
            </a:r>
            <a:endParaRPr lang="en-US" sz="36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marL="0" indent="0">
              <a:buNone/>
            </a:pPr>
            <a:r>
              <a:rPr lang="en-US" sz="1300" dirty="0">
                <a:solidFill>
                  <a:srgbClr val="B0B8C0"/>
                </a:solidFill>
                <a:latin typeface="Arial" pitchFamily="34" charset="0"/>
                <a:ea typeface="Arial" pitchFamily="34" charset="-122"/>
                <a:cs typeface="Arial" pitchFamily="34" charset="-120"/>
              </a:rPr>
              <a:t>4 iterations, 13 experimental scripts, and deep SAP PAL exploration to build a production forecasting engine</a:t>
            </a:r>
            <a:endParaRPr lang="en-US" sz="1300" dirty="0"/>
          </a:p>
        </p:txBody>
      </p:sp>
      <p:sp>
        <p:nvSpPr>
          <p:cNvPr id="7" name="Shape 5"/>
          <p:cNvSpPr/>
          <p:nvPr/>
        </p:nvSpPr>
        <p:spPr>
          <a:xfrm>
            <a:off x="731520" y="1965960"/>
            <a:ext cx="7680960" cy="0"/>
          </a:xfrm>
          <a:prstGeom prst="line">
            <a:avLst/>
          </a:prstGeom>
          <a:noFill/>
          <a:ln w="31750">
            <a:solidFill>
              <a:srgbClr val="00BCD4"/>
            </a:solidFill>
            <a:prstDash val="solid"/>
          </a:ln>
        </p:spPr>
        <p:txBody>
          <a:bodyPr/>
          <a:lstStyle/>
          <a:p>
            <a:endParaRPr lang="en-US"/>
          </a:p>
        </p:txBody>
      </p:sp>
      <p:sp>
        <p:nvSpPr>
          <p:cNvPr id="8" name="Shape 6"/>
          <p:cNvSpPr/>
          <p:nvPr/>
        </p:nvSpPr>
        <p:spPr>
          <a:xfrm>
            <a:off x="1097280" y="1737360"/>
            <a:ext cx="457200" cy="457200"/>
          </a:xfrm>
          <a:prstGeom prst="ellipse">
            <a:avLst/>
          </a:prstGeom>
          <a:solidFill>
            <a:srgbClr val="00BCD4"/>
          </a:solidFill>
          <a:ln w="38100">
            <a:solidFill>
              <a:srgbClr val="0F1923"/>
            </a:solidFill>
            <a:prstDash val="solid"/>
          </a:ln>
        </p:spPr>
        <p:txBody>
          <a:bodyPr/>
          <a:lstStyle/>
          <a:p>
            <a:endParaRPr lang="en-US"/>
          </a:p>
        </p:txBody>
      </p:sp>
      <p:sp>
        <p:nvSpPr>
          <p:cNvPr id="9" name="Text 7"/>
          <p:cNvSpPr/>
          <p:nvPr/>
        </p:nvSpPr>
        <p:spPr>
          <a:xfrm>
            <a:off x="1097280" y="1737360"/>
            <a:ext cx="457200" cy="457200"/>
          </a:xfrm>
          <a:prstGeom prst="rect">
            <a:avLst/>
          </a:prstGeom>
          <a:noFill/>
          <a:ln/>
        </p:spPr>
        <p:txBody>
          <a:bodyPr wrap="square" lIns="0" tIns="0" rIns="0" bIns="0" rtlCol="0" anchor="ctr"/>
          <a:lstStyle/>
          <a:p>
            <a:pPr marL="0" indent="0" algn="ctr">
              <a:buNone/>
            </a:pPr>
            <a:r>
              <a:rPr lang="en-US" sz="1200" b="1" dirty="0">
                <a:solidFill>
                  <a:srgbClr val="0F1923"/>
                </a:solidFill>
                <a:latin typeface="Arial" pitchFamily="34" charset="0"/>
                <a:ea typeface="Arial" pitchFamily="34" charset="-122"/>
                <a:cs typeface="Arial" pitchFamily="34" charset="-120"/>
              </a:rPr>
              <a:t>01</a:t>
            </a:r>
            <a:endParaRPr lang="en-US" sz="1200" dirty="0"/>
          </a:p>
        </p:txBody>
      </p:sp>
      <p:sp>
        <p:nvSpPr>
          <p:cNvPr id="10" name="Shape 8"/>
          <p:cNvSpPr/>
          <p:nvPr/>
        </p:nvSpPr>
        <p:spPr>
          <a:xfrm>
            <a:off x="457200" y="2377440"/>
            <a:ext cx="1920240" cy="2148840"/>
          </a:xfrm>
          <a:prstGeom prst="rect">
            <a:avLst/>
          </a:prstGeom>
          <a:solidFill>
            <a:srgbClr val="172A3A"/>
          </a:solidFill>
          <a:ln w="19050">
            <a:solidFill>
              <a:srgbClr val="00BCD4"/>
            </a:solidFill>
            <a:prstDash val="solid"/>
          </a:ln>
        </p:spPr>
        <p:txBody>
          <a:bodyPr/>
          <a:lstStyle/>
          <a:p>
            <a:endParaRPr lang="en-US"/>
          </a:p>
        </p:txBody>
      </p:sp>
      <p:sp>
        <p:nvSpPr>
          <p:cNvPr id="11" name="Text 9"/>
          <p:cNvSpPr/>
          <p:nvPr/>
        </p:nvSpPr>
        <p:spPr>
          <a:xfrm>
            <a:off x="548640" y="2450592"/>
            <a:ext cx="1737360" cy="228600"/>
          </a:xfrm>
          <a:prstGeom prst="rect">
            <a:avLst/>
          </a:prstGeom>
          <a:noFill/>
          <a:ln/>
        </p:spPr>
        <p:txBody>
          <a:bodyPr wrap="square" lIns="0" tIns="0" rIns="0" bIns="0" rtlCol="0" anchor="ctr"/>
          <a:lstStyle/>
          <a:p>
            <a:pPr marL="0" indent="0" algn="l">
              <a:buNone/>
            </a:pPr>
            <a:r>
              <a:rPr lang="en-US" sz="800" b="1" dirty="0">
                <a:solidFill>
                  <a:srgbClr val="00BCD4"/>
                </a:solidFill>
                <a:latin typeface="Arial" pitchFamily="34" charset="0"/>
                <a:ea typeface="Arial" pitchFamily="34" charset="-122"/>
                <a:cs typeface="Arial" pitchFamily="34" charset="-120"/>
              </a:rPr>
              <a:t>ITERATION 1</a:t>
            </a:r>
            <a:endParaRPr lang="en-US" sz="800" dirty="0"/>
          </a:p>
        </p:txBody>
      </p:sp>
      <p:sp>
        <p:nvSpPr>
          <p:cNvPr id="12" name="Text 10"/>
          <p:cNvSpPr/>
          <p:nvPr/>
        </p:nvSpPr>
        <p:spPr>
          <a:xfrm>
            <a:off x="548640" y="2679192"/>
            <a:ext cx="1737360" cy="36576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SES Baseline</a:t>
            </a:r>
            <a:endParaRPr lang="en-US" sz="1400" dirty="0"/>
          </a:p>
        </p:txBody>
      </p:sp>
      <p:sp>
        <p:nvSpPr>
          <p:cNvPr id="13" name="Text 11"/>
          <p:cNvSpPr/>
          <p:nvPr/>
        </p:nvSpPr>
        <p:spPr>
          <a:xfrm>
            <a:off x="548640" y="3063240"/>
            <a:ext cx="173736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PAL_BROWN_EXPSMOOTH</a:t>
            </a:r>
            <a:endParaRPr lang="en-US" sz="1000" dirty="0"/>
          </a:p>
        </p:txBody>
      </p:sp>
      <p:sp>
        <p:nvSpPr>
          <p:cNvPr id="14" name="Text 12"/>
          <p:cNvSpPr/>
          <p:nvPr/>
        </p:nvSpPr>
        <p:spPr>
          <a:xfrm>
            <a:off x="548640" y="338328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6-month forecast horizon</a:t>
            </a:r>
            <a:endParaRPr lang="en-US" sz="950" dirty="0"/>
          </a:p>
        </p:txBody>
      </p:sp>
      <p:sp>
        <p:nvSpPr>
          <p:cNvPr id="15" name="Text 13"/>
          <p:cNvSpPr/>
          <p:nvPr/>
        </p:nvSpPr>
        <p:spPr>
          <a:xfrm>
            <a:off x="548640" y="370332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Single param: FORECAST_NUM</a:t>
            </a:r>
            <a:endParaRPr lang="en-US" sz="950" dirty="0"/>
          </a:p>
        </p:txBody>
      </p:sp>
      <p:sp>
        <p:nvSpPr>
          <p:cNvPr id="16" name="Text 14"/>
          <p:cNvSpPr/>
          <p:nvPr/>
        </p:nvSpPr>
        <p:spPr>
          <a:xfrm>
            <a:off x="548640" y="402336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Proved the concept works</a:t>
            </a:r>
            <a:endParaRPr lang="en-US" sz="950" dirty="0"/>
          </a:p>
        </p:txBody>
      </p:sp>
      <p:sp>
        <p:nvSpPr>
          <p:cNvPr id="17" name="Shape 15"/>
          <p:cNvSpPr/>
          <p:nvPr/>
        </p:nvSpPr>
        <p:spPr>
          <a:xfrm>
            <a:off x="3246120" y="1737360"/>
            <a:ext cx="457200" cy="457200"/>
          </a:xfrm>
          <a:prstGeom prst="ellipse">
            <a:avLst/>
          </a:prstGeom>
          <a:solidFill>
            <a:srgbClr val="F9A825"/>
          </a:solidFill>
          <a:ln w="38100">
            <a:solidFill>
              <a:srgbClr val="0F1923"/>
            </a:solidFill>
            <a:prstDash val="solid"/>
          </a:ln>
        </p:spPr>
        <p:txBody>
          <a:bodyPr/>
          <a:lstStyle/>
          <a:p>
            <a:endParaRPr lang="en-US"/>
          </a:p>
        </p:txBody>
      </p:sp>
      <p:sp>
        <p:nvSpPr>
          <p:cNvPr id="18" name="Text 16"/>
          <p:cNvSpPr/>
          <p:nvPr/>
        </p:nvSpPr>
        <p:spPr>
          <a:xfrm>
            <a:off x="3246120" y="1737360"/>
            <a:ext cx="457200" cy="457200"/>
          </a:xfrm>
          <a:prstGeom prst="rect">
            <a:avLst/>
          </a:prstGeom>
          <a:noFill/>
          <a:ln/>
        </p:spPr>
        <p:txBody>
          <a:bodyPr wrap="square" lIns="0" tIns="0" rIns="0" bIns="0" rtlCol="0" anchor="ctr"/>
          <a:lstStyle/>
          <a:p>
            <a:pPr marL="0" indent="0" algn="ctr">
              <a:buNone/>
            </a:pPr>
            <a:r>
              <a:rPr lang="en-US" sz="1200" b="1" dirty="0">
                <a:solidFill>
                  <a:srgbClr val="0F1923"/>
                </a:solidFill>
                <a:latin typeface="Arial" pitchFamily="34" charset="0"/>
                <a:ea typeface="Arial" pitchFamily="34" charset="-122"/>
                <a:cs typeface="Arial" pitchFamily="34" charset="-120"/>
              </a:rPr>
              <a:t>02</a:t>
            </a:r>
            <a:endParaRPr lang="en-US" sz="1200" dirty="0"/>
          </a:p>
        </p:txBody>
      </p:sp>
      <p:sp>
        <p:nvSpPr>
          <p:cNvPr id="19" name="Shape 17"/>
          <p:cNvSpPr/>
          <p:nvPr/>
        </p:nvSpPr>
        <p:spPr>
          <a:xfrm>
            <a:off x="2606040" y="2377440"/>
            <a:ext cx="1920240" cy="2148840"/>
          </a:xfrm>
          <a:prstGeom prst="rect">
            <a:avLst/>
          </a:prstGeom>
          <a:solidFill>
            <a:srgbClr val="172A3A"/>
          </a:solidFill>
          <a:ln w="19050">
            <a:solidFill>
              <a:srgbClr val="F9A825"/>
            </a:solidFill>
            <a:prstDash val="solid"/>
          </a:ln>
        </p:spPr>
        <p:txBody>
          <a:bodyPr/>
          <a:lstStyle/>
          <a:p>
            <a:endParaRPr lang="en-US"/>
          </a:p>
        </p:txBody>
      </p:sp>
      <p:sp>
        <p:nvSpPr>
          <p:cNvPr id="20" name="Text 18"/>
          <p:cNvSpPr/>
          <p:nvPr/>
        </p:nvSpPr>
        <p:spPr>
          <a:xfrm>
            <a:off x="2697480" y="2450592"/>
            <a:ext cx="1737360" cy="228600"/>
          </a:xfrm>
          <a:prstGeom prst="rect">
            <a:avLst/>
          </a:prstGeom>
          <a:noFill/>
          <a:ln/>
        </p:spPr>
        <p:txBody>
          <a:bodyPr wrap="square" lIns="0" tIns="0" rIns="0" bIns="0" rtlCol="0" anchor="ctr"/>
          <a:lstStyle/>
          <a:p>
            <a:pPr marL="0" indent="0" algn="l">
              <a:buNone/>
            </a:pPr>
            <a:r>
              <a:rPr lang="en-US" sz="800" b="1" dirty="0">
                <a:solidFill>
                  <a:srgbClr val="F9A825"/>
                </a:solidFill>
                <a:latin typeface="Arial" pitchFamily="34" charset="0"/>
                <a:ea typeface="Arial" pitchFamily="34" charset="-122"/>
                <a:cs typeface="Arial" pitchFamily="34" charset="-120"/>
              </a:rPr>
              <a:t>ITERATION 2</a:t>
            </a:r>
            <a:endParaRPr lang="en-US" sz="800" dirty="0"/>
          </a:p>
        </p:txBody>
      </p:sp>
      <p:sp>
        <p:nvSpPr>
          <p:cNvPr id="21" name="Text 19"/>
          <p:cNvSpPr/>
          <p:nvPr/>
        </p:nvSpPr>
        <p:spPr>
          <a:xfrm>
            <a:off x="2697480" y="2679192"/>
            <a:ext cx="1737360" cy="36576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SARIMA + Quality</a:t>
            </a:r>
            <a:endParaRPr lang="en-US" sz="1400" dirty="0"/>
          </a:p>
        </p:txBody>
      </p:sp>
      <p:sp>
        <p:nvSpPr>
          <p:cNvPr id="22" name="Text 20"/>
          <p:cNvSpPr/>
          <p:nvPr/>
        </p:nvSpPr>
        <p:spPr>
          <a:xfrm>
            <a:off x="2697480" y="3063240"/>
            <a:ext cx="173736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PAL_AUTOARIMA added</a:t>
            </a:r>
            <a:endParaRPr lang="en-US" sz="1000" dirty="0"/>
          </a:p>
        </p:txBody>
      </p:sp>
      <p:sp>
        <p:nvSpPr>
          <p:cNvPr id="23" name="Text 21"/>
          <p:cNvSpPr/>
          <p:nvPr/>
        </p:nvSpPr>
        <p:spPr>
          <a:xfrm>
            <a:off x="2697480" y="338328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Outlier detection via PAL</a:t>
            </a:r>
            <a:endParaRPr lang="en-US" sz="950" dirty="0"/>
          </a:p>
        </p:txBody>
      </p:sp>
      <p:sp>
        <p:nvSpPr>
          <p:cNvPr id="24" name="Text 22"/>
          <p:cNvSpPr/>
          <p:nvPr/>
        </p:nvSpPr>
        <p:spPr>
          <a:xfrm>
            <a:off x="2697480" y="370332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Data cliff checks added</a:t>
            </a:r>
            <a:endParaRPr lang="en-US" sz="950" dirty="0"/>
          </a:p>
        </p:txBody>
      </p:sp>
      <p:sp>
        <p:nvSpPr>
          <p:cNvPr id="25" name="Text 23"/>
          <p:cNvSpPr/>
          <p:nvPr/>
        </p:nvSpPr>
        <p:spPr>
          <a:xfrm>
            <a:off x="2697480" y="402336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Seasonal Naive baseline</a:t>
            </a:r>
            <a:endParaRPr lang="en-US" sz="950" dirty="0"/>
          </a:p>
        </p:txBody>
      </p:sp>
      <p:sp>
        <p:nvSpPr>
          <p:cNvPr id="26" name="Shape 24"/>
          <p:cNvSpPr/>
          <p:nvPr/>
        </p:nvSpPr>
        <p:spPr>
          <a:xfrm>
            <a:off x="5394960" y="1737360"/>
            <a:ext cx="457200" cy="457200"/>
          </a:xfrm>
          <a:prstGeom prst="ellipse">
            <a:avLst/>
          </a:prstGeom>
          <a:solidFill>
            <a:srgbClr val="FF9800"/>
          </a:solidFill>
          <a:ln w="38100">
            <a:solidFill>
              <a:srgbClr val="0F1923"/>
            </a:solidFill>
            <a:prstDash val="solid"/>
          </a:ln>
        </p:spPr>
        <p:txBody>
          <a:bodyPr/>
          <a:lstStyle/>
          <a:p>
            <a:endParaRPr lang="en-US"/>
          </a:p>
        </p:txBody>
      </p:sp>
      <p:sp>
        <p:nvSpPr>
          <p:cNvPr id="27" name="Text 25"/>
          <p:cNvSpPr/>
          <p:nvPr/>
        </p:nvSpPr>
        <p:spPr>
          <a:xfrm>
            <a:off x="5394960" y="1737360"/>
            <a:ext cx="457200" cy="457200"/>
          </a:xfrm>
          <a:prstGeom prst="rect">
            <a:avLst/>
          </a:prstGeom>
          <a:noFill/>
          <a:ln/>
        </p:spPr>
        <p:txBody>
          <a:bodyPr wrap="square" lIns="0" tIns="0" rIns="0" bIns="0" rtlCol="0" anchor="ctr"/>
          <a:lstStyle/>
          <a:p>
            <a:pPr marL="0" indent="0" algn="ctr">
              <a:buNone/>
            </a:pPr>
            <a:r>
              <a:rPr lang="en-US" sz="1200" b="1" dirty="0">
                <a:solidFill>
                  <a:srgbClr val="0F1923"/>
                </a:solidFill>
                <a:latin typeface="Arial" pitchFamily="34" charset="0"/>
                <a:ea typeface="Arial" pitchFamily="34" charset="-122"/>
                <a:cs typeface="Arial" pitchFamily="34" charset="-120"/>
              </a:rPr>
              <a:t>03</a:t>
            </a:r>
            <a:endParaRPr lang="en-US" sz="1200" dirty="0"/>
          </a:p>
        </p:txBody>
      </p:sp>
      <p:sp>
        <p:nvSpPr>
          <p:cNvPr id="28" name="Shape 26"/>
          <p:cNvSpPr/>
          <p:nvPr/>
        </p:nvSpPr>
        <p:spPr>
          <a:xfrm>
            <a:off x="4754880" y="2377440"/>
            <a:ext cx="1920240" cy="2148840"/>
          </a:xfrm>
          <a:prstGeom prst="rect">
            <a:avLst/>
          </a:prstGeom>
          <a:solidFill>
            <a:srgbClr val="172A3A"/>
          </a:solidFill>
          <a:ln w="19050">
            <a:solidFill>
              <a:srgbClr val="FF9800"/>
            </a:solidFill>
            <a:prstDash val="solid"/>
          </a:ln>
        </p:spPr>
        <p:txBody>
          <a:bodyPr/>
          <a:lstStyle/>
          <a:p>
            <a:endParaRPr lang="en-US"/>
          </a:p>
        </p:txBody>
      </p:sp>
      <p:sp>
        <p:nvSpPr>
          <p:cNvPr id="29" name="Text 27"/>
          <p:cNvSpPr/>
          <p:nvPr/>
        </p:nvSpPr>
        <p:spPr>
          <a:xfrm>
            <a:off x="4846320" y="2450592"/>
            <a:ext cx="1737360" cy="228600"/>
          </a:xfrm>
          <a:prstGeom prst="rect">
            <a:avLst/>
          </a:prstGeom>
          <a:noFill/>
          <a:ln/>
        </p:spPr>
        <p:txBody>
          <a:bodyPr wrap="square" lIns="0" tIns="0" rIns="0" bIns="0" rtlCol="0" anchor="ctr"/>
          <a:lstStyle/>
          <a:p>
            <a:pPr marL="0" indent="0" algn="l">
              <a:buNone/>
            </a:pPr>
            <a:r>
              <a:rPr lang="en-US" sz="800" b="1" dirty="0">
                <a:solidFill>
                  <a:srgbClr val="FF9800"/>
                </a:solidFill>
                <a:latin typeface="Arial" pitchFamily="34" charset="0"/>
                <a:ea typeface="Arial" pitchFamily="34" charset="-122"/>
                <a:cs typeface="Arial" pitchFamily="34" charset="-120"/>
              </a:rPr>
              <a:t>ITERATION 3</a:t>
            </a:r>
            <a:endParaRPr lang="en-US" sz="800" dirty="0"/>
          </a:p>
        </p:txBody>
      </p:sp>
      <p:sp>
        <p:nvSpPr>
          <p:cNvPr id="30" name="Text 28"/>
          <p:cNvSpPr/>
          <p:nvPr/>
        </p:nvSpPr>
        <p:spPr>
          <a:xfrm>
            <a:off x="4846320" y="2679192"/>
            <a:ext cx="1737360" cy="36576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AutoML → BSTS</a:t>
            </a:r>
            <a:endParaRPr lang="en-US" sz="1400" dirty="0"/>
          </a:p>
        </p:txBody>
      </p:sp>
      <p:sp>
        <p:nvSpPr>
          <p:cNvPr id="31" name="Text 29"/>
          <p:cNvSpPr/>
          <p:nvPr/>
        </p:nvSpPr>
        <p:spPr>
          <a:xfrm>
            <a:off x="4846320" y="3063240"/>
            <a:ext cx="173736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PAL_AUTOML_FIT tested</a:t>
            </a:r>
            <a:endParaRPr lang="en-US" sz="1000" dirty="0"/>
          </a:p>
        </p:txBody>
      </p:sp>
      <p:sp>
        <p:nvSpPr>
          <p:cNvPr id="32" name="Text 30"/>
          <p:cNvSpPr/>
          <p:nvPr/>
        </p:nvSpPr>
        <p:spPr>
          <a:xfrm>
            <a:off x="4846320" y="338328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9 scripts, 4 BSTS iterations</a:t>
            </a:r>
            <a:endParaRPr lang="en-US" sz="950" dirty="0"/>
          </a:p>
        </p:txBody>
      </p:sp>
      <p:sp>
        <p:nvSpPr>
          <p:cNvPr id="33" name="Text 31"/>
          <p:cNvSpPr/>
          <p:nvPr/>
        </p:nvSpPr>
        <p:spPr>
          <a:xfrm>
            <a:off x="4846320" y="370332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AutoML recommended BSTS</a:t>
            </a:r>
            <a:endParaRPr lang="en-US" sz="950" dirty="0"/>
          </a:p>
        </p:txBody>
      </p:sp>
      <p:sp>
        <p:nvSpPr>
          <p:cNvPr id="34" name="Text 32"/>
          <p:cNvSpPr/>
          <p:nvPr/>
        </p:nvSpPr>
        <p:spPr>
          <a:xfrm>
            <a:off x="4846320" y="402336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hana_ml BSTS implemented</a:t>
            </a:r>
            <a:endParaRPr lang="en-US" sz="950" dirty="0"/>
          </a:p>
        </p:txBody>
      </p:sp>
      <p:sp>
        <p:nvSpPr>
          <p:cNvPr id="35" name="Shape 33"/>
          <p:cNvSpPr/>
          <p:nvPr/>
        </p:nvSpPr>
        <p:spPr>
          <a:xfrm>
            <a:off x="7543800" y="1737360"/>
            <a:ext cx="457200" cy="457200"/>
          </a:xfrm>
          <a:prstGeom prst="ellipse">
            <a:avLst/>
          </a:prstGeom>
          <a:solidFill>
            <a:srgbClr val="4CAF50"/>
          </a:solidFill>
          <a:ln w="38100">
            <a:solidFill>
              <a:srgbClr val="0F1923"/>
            </a:solidFill>
            <a:prstDash val="solid"/>
          </a:ln>
        </p:spPr>
        <p:txBody>
          <a:bodyPr/>
          <a:lstStyle/>
          <a:p>
            <a:endParaRPr lang="en-US"/>
          </a:p>
        </p:txBody>
      </p:sp>
      <p:sp>
        <p:nvSpPr>
          <p:cNvPr id="36" name="Text 34"/>
          <p:cNvSpPr/>
          <p:nvPr/>
        </p:nvSpPr>
        <p:spPr>
          <a:xfrm>
            <a:off x="7543800" y="1737360"/>
            <a:ext cx="457200" cy="457200"/>
          </a:xfrm>
          <a:prstGeom prst="rect">
            <a:avLst/>
          </a:prstGeom>
          <a:noFill/>
          <a:ln/>
        </p:spPr>
        <p:txBody>
          <a:bodyPr wrap="square" lIns="0" tIns="0" rIns="0" bIns="0" rtlCol="0" anchor="ctr"/>
          <a:lstStyle/>
          <a:p>
            <a:pPr marL="0" indent="0" algn="ctr">
              <a:buNone/>
            </a:pPr>
            <a:r>
              <a:rPr lang="en-US" sz="1200" b="1" dirty="0">
                <a:solidFill>
                  <a:srgbClr val="0F1923"/>
                </a:solidFill>
                <a:latin typeface="Arial" pitchFamily="34" charset="0"/>
                <a:ea typeface="Arial" pitchFamily="34" charset="-122"/>
                <a:cs typeface="Arial" pitchFamily="34" charset="-120"/>
              </a:rPr>
              <a:t>04</a:t>
            </a:r>
            <a:endParaRPr lang="en-US" sz="1200" dirty="0"/>
          </a:p>
        </p:txBody>
      </p:sp>
      <p:sp>
        <p:nvSpPr>
          <p:cNvPr id="37" name="Shape 35"/>
          <p:cNvSpPr/>
          <p:nvPr/>
        </p:nvSpPr>
        <p:spPr>
          <a:xfrm>
            <a:off x="6903720" y="2377440"/>
            <a:ext cx="1920240" cy="2148840"/>
          </a:xfrm>
          <a:prstGeom prst="rect">
            <a:avLst/>
          </a:prstGeom>
          <a:solidFill>
            <a:srgbClr val="172A3A"/>
          </a:solidFill>
          <a:ln w="19050">
            <a:solidFill>
              <a:srgbClr val="4CAF50"/>
            </a:solidFill>
            <a:prstDash val="solid"/>
          </a:ln>
        </p:spPr>
        <p:txBody>
          <a:bodyPr/>
          <a:lstStyle/>
          <a:p>
            <a:endParaRPr lang="en-US"/>
          </a:p>
        </p:txBody>
      </p:sp>
      <p:sp>
        <p:nvSpPr>
          <p:cNvPr id="38" name="Text 36"/>
          <p:cNvSpPr/>
          <p:nvPr/>
        </p:nvSpPr>
        <p:spPr>
          <a:xfrm>
            <a:off x="6995160" y="2450592"/>
            <a:ext cx="1737360" cy="228600"/>
          </a:xfrm>
          <a:prstGeom prst="rect">
            <a:avLst/>
          </a:prstGeom>
          <a:noFill/>
          <a:ln/>
        </p:spPr>
        <p:txBody>
          <a:bodyPr wrap="square" lIns="0" tIns="0" rIns="0" bIns="0" rtlCol="0" anchor="ctr"/>
          <a:lstStyle/>
          <a:p>
            <a:pPr marL="0" indent="0" algn="l">
              <a:buNone/>
            </a:pPr>
            <a:r>
              <a:rPr lang="en-US" sz="800" b="1" dirty="0">
                <a:solidFill>
                  <a:srgbClr val="4CAF50"/>
                </a:solidFill>
                <a:latin typeface="Arial" pitchFamily="34" charset="0"/>
                <a:ea typeface="Arial" pitchFamily="34" charset="-122"/>
                <a:cs typeface="Arial" pitchFamily="34" charset="-120"/>
              </a:rPr>
              <a:t>ITERATION 4</a:t>
            </a:r>
            <a:endParaRPr lang="en-US" sz="800" dirty="0"/>
          </a:p>
        </p:txBody>
      </p:sp>
      <p:sp>
        <p:nvSpPr>
          <p:cNvPr id="39" name="Text 37"/>
          <p:cNvSpPr/>
          <p:nvPr/>
        </p:nvSpPr>
        <p:spPr>
          <a:xfrm>
            <a:off x="6995160" y="2679192"/>
            <a:ext cx="1737360" cy="365760"/>
          </a:xfrm>
          <a:prstGeom prst="rect">
            <a:avLst/>
          </a:prstGeom>
          <a:noFill/>
          <a:ln/>
        </p:spPr>
        <p:txBody>
          <a:bodyPr wrap="square" lIns="0" tIns="0" rIns="0" bIns="0" rtlCol="0" anchor="t"/>
          <a:lstStyle/>
          <a:p>
            <a:pPr marL="0" indent="0" algn="l">
              <a:buNone/>
            </a:pPr>
            <a:r>
              <a:rPr lang="en-US" sz="1400" b="1" dirty="0">
                <a:solidFill>
                  <a:srgbClr val="FFFFFF"/>
                </a:solidFill>
                <a:latin typeface="Arial" pitchFamily="34" charset="0"/>
                <a:ea typeface="Arial" pitchFamily="34" charset="-122"/>
                <a:cs typeface="Arial" pitchFamily="34" charset="-120"/>
              </a:rPr>
              <a:t>Production + API</a:t>
            </a:r>
            <a:endParaRPr lang="en-US" sz="1400" dirty="0"/>
          </a:p>
        </p:txBody>
      </p:sp>
      <p:sp>
        <p:nvSpPr>
          <p:cNvPr id="40" name="Text 38"/>
          <p:cNvSpPr/>
          <p:nvPr/>
        </p:nvSpPr>
        <p:spPr>
          <a:xfrm>
            <a:off x="6995160" y="3063240"/>
            <a:ext cx="1737360" cy="292608"/>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SES + SARIMA + BSTS</a:t>
            </a:r>
            <a:endParaRPr lang="en-US" sz="1000" dirty="0"/>
          </a:p>
        </p:txBody>
      </p:sp>
      <p:sp>
        <p:nvSpPr>
          <p:cNvPr id="41" name="Text 39"/>
          <p:cNvSpPr/>
          <p:nvPr/>
        </p:nvSpPr>
        <p:spPr>
          <a:xfrm>
            <a:off x="6995160" y="338328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12-month forecast horizon</a:t>
            </a:r>
            <a:endParaRPr lang="en-US" sz="950" dirty="0"/>
          </a:p>
        </p:txBody>
      </p:sp>
      <p:sp>
        <p:nvSpPr>
          <p:cNvPr id="42" name="Text 40"/>
          <p:cNvSpPr/>
          <p:nvPr/>
        </p:nvSpPr>
        <p:spPr>
          <a:xfrm>
            <a:off x="6995160" y="370332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5 tunable params via API</a:t>
            </a:r>
            <a:endParaRPr lang="en-US" sz="950" dirty="0"/>
          </a:p>
        </p:txBody>
      </p:sp>
      <p:sp>
        <p:nvSpPr>
          <p:cNvPr id="43" name="Text 41"/>
          <p:cNvSpPr/>
          <p:nvPr/>
        </p:nvSpPr>
        <p:spPr>
          <a:xfrm>
            <a:off x="6995160" y="4023360"/>
            <a:ext cx="1737360" cy="292608"/>
          </a:xfrm>
          <a:prstGeom prst="rect">
            <a:avLst/>
          </a:prstGeom>
          <a:noFill/>
          <a:ln/>
        </p:spPr>
        <p:txBody>
          <a:bodyPr wrap="square" lIns="0" tIns="0" rIns="0" bIns="0" rtlCol="0" anchor="ctr"/>
          <a:lstStyle/>
          <a:p>
            <a:pPr marL="0" indent="0" algn="l">
              <a:buNone/>
            </a:pPr>
            <a:r>
              <a:rPr lang="en-US" sz="950" dirty="0">
                <a:solidFill>
                  <a:srgbClr val="B0B8C0"/>
                </a:solidFill>
                <a:latin typeface="Arial" pitchFamily="34" charset="0"/>
                <a:ea typeface="Arial" pitchFamily="34" charset="-122"/>
                <a:cs typeface="Arial" pitchFamily="34" charset="-120"/>
              </a:rPr>
              <a:t>Composite key forecasting</a:t>
            </a:r>
            <a:endParaRPr lang="en-US" sz="950" dirty="0"/>
          </a:p>
        </p:txBody>
      </p:sp>
      <p:sp>
        <p:nvSpPr>
          <p:cNvPr id="44" name="Text 42"/>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00" dirty="0">
                <a:solidFill>
                  <a:srgbClr val="00BCD4"/>
                </a:solidFill>
                <a:latin typeface="Arial" pitchFamily="34" charset="0"/>
                <a:ea typeface="Arial" pitchFamily="34" charset="-122"/>
                <a:cs typeface="Arial" pitchFamily="34" charset="-120"/>
              </a:rPr>
              <a:t>13 experimental scripts  ·  All models run via SAP PAL inside HANA Cloud  ·  Zero data leaves the database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txBody>
          <a:bodyPr/>
          <a:lstStyle/>
          <a:p>
            <a:endParaRPr lang="en-US"/>
          </a:p>
        </p:txBody>
      </p:sp>
      <p:sp>
        <p:nvSpPr>
          <p:cNvPr id="3" name="Shape 1"/>
          <p:cNvSpPr/>
          <p:nvPr/>
        </p:nvSpPr>
        <p:spPr>
          <a:xfrm>
            <a:off x="457200" y="228600"/>
            <a:ext cx="2194560" cy="365760"/>
          </a:xfrm>
          <a:prstGeom prst="rect">
            <a:avLst/>
          </a:prstGeom>
          <a:solidFill>
            <a:srgbClr val="F9A825"/>
          </a:solidFill>
          <a:ln/>
        </p:spPr>
        <p:txBody>
          <a:bodyPr/>
          <a:lstStyle/>
          <a:p>
            <a:endParaRPr lang="en-US"/>
          </a:p>
        </p:txBody>
      </p:sp>
      <p:sp>
        <p:nvSpPr>
          <p:cNvPr id="4" name="Text 2"/>
          <p:cNvSpPr/>
          <p:nvPr/>
        </p:nvSpPr>
        <p:spPr>
          <a:xfrm>
            <a:off x="457200" y="228600"/>
            <a:ext cx="2194560" cy="365760"/>
          </a:xfrm>
          <a:prstGeom prst="rect">
            <a:avLst/>
          </a:prstGeom>
          <a:noFill/>
          <a:ln/>
        </p:spPr>
        <p:txBody>
          <a:bodyPr wrap="square" lIns="0" tIns="0" rIns="0" bIns="0" rtlCol="0" anchor="ctr"/>
          <a:lstStyle/>
          <a:p>
            <a:pPr marL="0" indent="0" algn="ctr">
              <a:buNone/>
            </a:pPr>
            <a:r>
              <a:rPr lang="en-US" sz="1000" b="1" dirty="0">
                <a:solidFill>
                  <a:srgbClr val="1A1A1A"/>
                </a:solidFill>
                <a:latin typeface="Arial" pitchFamily="34" charset="0"/>
                <a:ea typeface="Arial" pitchFamily="34" charset="-122"/>
                <a:cs typeface="Arial" pitchFamily="34" charset="-120"/>
              </a:rPr>
              <a:t>SAP PAL MODELS</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Three SAP PAL Models Compete Per Accessory</a:t>
            </a:r>
            <a:endParaRPr lang="en-US" sz="2800" dirty="0"/>
          </a:p>
        </p:txBody>
      </p:sp>
      <p:sp>
        <p:nvSpPr>
          <p:cNvPr id="6" name="Text 4"/>
          <p:cNvSpPr/>
          <p:nvPr/>
        </p:nvSpPr>
        <p:spPr>
          <a:xfrm>
            <a:off x="457200" y="1097280"/>
            <a:ext cx="8229600" cy="320040"/>
          </a:xfrm>
          <a:prstGeom prst="rect">
            <a:avLst/>
          </a:prstGeom>
          <a:noFill/>
          <a:ln/>
        </p:spPr>
        <p:txBody>
          <a:bodyPr wrap="square" lIns="0" tIns="0" rIns="0" bIns="0" rtlCol="0" anchor="ctr"/>
          <a:lstStyle/>
          <a:p>
            <a:pPr marL="0" indent="0">
              <a:buNone/>
            </a:pPr>
            <a:r>
              <a:rPr lang="en-US" sz="1200" dirty="0">
                <a:solidFill>
                  <a:srgbClr val="B0B8C0"/>
                </a:solidFill>
                <a:latin typeface="Arial" pitchFamily="34" charset="0"/>
                <a:ea typeface="Arial" pitchFamily="34" charset="-122"/>
                <a:cs typeface="Arial" pitchFamily="34" charset="-120"/>
              </a:rPr>
              <a:t>Each model runs inside SAP HANA Cloud via PAL — the best one is automatically selected by lowest MAPE</a:t>
            </a:r>
            <a:endParaRPr lang="en-US" sz="1200" dirty="0"/>
          </a:p>
        </p:txBody>
      </p:sp>
      <p:sp>
        <p:nvSpPr>
          <p:cNvPr id="7" name="Shape 5"/>
          <p:cNvSpPr/>
          <p:nvPr/>
        </p:nvSpPr>
        <p:spPr>
          <a:xfrm>
            <a:off x="457200" y="1554480"/>
            <a:ext cx="8229600" cy="1005840"/>
          </a:xfrm>
          <a:prstGeom prst="rect">
            <a:avLst/>
          </a:prstGeom>
          <a:solidFill>
            <a:srgbClr val="172A3A"/>
          </a:solidFill>
          <a:ln w="19050">
            <a:solidFill>
              <a:srgbClr val="E53935"/>
            </a:solidFill>
            <a:prstDash val="solid"/>
          </a:ln>
        </p:spPr>
        <p:txBody>
          <a:bodyPr/>
          <a:lstStyle/>
          <a:p>
            <a:endParaRPr lang="en-US"/>
          </a:p>
        </p:txBody>
      </p:sp>
      <p:sp>
        <p:nvSpPr>
          <p:cNvPr id="8" name="Shape 6"/>
          <p:cNvSpPr/>
          <p:nvPr/>
        </p:nvSpPr>
        <p:spPr>
          <a:xfrm>
            <a:off x="457200" y="1554480"/>
            <a:ext cx="64008" cy="1005840"/>
          </a:xfrm>
          <a:prstGeom prst="rect">
            <a:avLst/>
          </a:prstGeom>
          <a:solidFill>
            <a:srgbClr val="E53935"/>
          </a:solidFill>
          <a:ln/>
        </p:spPr>
        <p:txBody>
          <a:bodyPr/>
          <a:lstStyle/>
          <a:p>
            <a:endParaRPr lang="en-US"/>
          </a:p>
        </p:txBody>
      </p:sp>
      <p:sp>
        <p:nvSpPr>
          <p:cNvPr id="9" name="Text 7"/>
          <p:cNvSpPr/>
          <p:nvPr/>
        </p:nvSpPr>
        <p:spPr>
          <a:xfrm>
            <a:off x="685800" y="1600200"/>
            <a:ext cx="1371600" cy="320040"/>
          </a:xfrm>
          <a:prstGeom prst="rect">
            <a:avLst/>
          </a:prstGeom>
          <a:noFill/>
          <a:ln/>
        </p:spPr>
        <p:txBody>
          <a:bodyPr wrap="square" lIns="0" tIns="0" rIns="0" bIns="0" rtlCol="0" anchor="ctr"/>
          <a:lstStyle/>
          <a:p>
            <a:pPr marL="0" indent="0" algn="l">
              <a:buNone/>
            </a:pPr>
            <a:r>
              <a:rPr lang="en-US" sz="1800" b="1" dirty="0">
                <a:solidFill>
                  <a:srgbClr val="E53935"/>
                </a:solidFill>
                <a:latin typeface="Arial" pitchFamily="34" charset="0"/>
                <a:ea typeface="Arial" pitchFamily="34" charset="-122"/>
                <a:cs typeface="Arial" pitchFamily="34" charset="-120"/>
              </a:rPr>
              <a:t>SES</a:t>
            </a:r>
            <a:endParaRPr lang="en-US" sz="1800" dirty="0"/>
          </a:p>
        </p:txBody>
      </p:sp>
      <p:sp>
        <p:nvSpPr>
          <p:cNvPr id="10" name="Text 8"/>
          <p:cNvSpPr/>
          <p:nvPr/>
        </p:nvSpPr>
        <p:spPr>
          <a:xfrm>
            <a:off x="2011680" y="1600200"/>
            <a:ext cx="1920240" cy="320040"/>
          </a:xfrm>
          <a:prstGeom prst="rect">
            <a:avLst/>
          </a:prstGeom>
          <a:noFill/>
          <a:ln/>
        </p:spPr>
        <p:txBody>
          <a:bodyPr wrap="square" lIns="0" tIns="0" rIns="0" bIns="0" rtlCol="0" anchor="ctr"/>
          <a:lstStyle/>
          <a:p>
            <a:pPr marL="0" indent="0" algn="l">
              <a:buNone/>
            </a:pPr>
            <a:r>
              <a:rPr lang="en-US" sz="1000" dirty="0">
                <a:solidFill>
                  <a:srgbClr val="B0B8C0"/>
                </a:solidFill>
                <a:latin typeface="Arial" pitchFamily="34" charset="0"/>
                <a:ea typeface="Arial" pitchFamily="34" charset="-122"/>
                <a:cs typeface="Arial" pitchFamily="34" charset="-120"/>
              </a:rPr>
              <a:t>Simple Exponential Smoothing</a:t>
            </a:r>
            <a:endParaRPr lang="en-US" sz="1000" dirty="0"/>
          </a:p>
        </p:txBody>
      </p:sp>
      <p:sp>
        <p:nvSpPr>
          <p:cNvPr id="11" name="Shape 9"/>
          <p:cNvSpPr/>
          <p:nvPr/>
        </p:nvSpPr>
        <p:spPr>
          <a:xfrm>
            <a:off x="4114800" y="1645920"/>
            <a:ext cx="4389120" cy="256032"/>
          </a:xfrm>
          <a:prstGeom prst="rect">
            <a:avLst/>
          </a:prstGeom>
          <a:solidFill>
            <a:srgbClr val="0D1520"/>
          </a:solidFill>
          <a:ln/>
        </p:spPr>
        <p:txBody>
          <a:bodyPr/>
          <a:lstStyle/>
          <a:p>
            <a:endParaRPr lang="en-US"/>
          </a:p>
        </p:txBody>
      </p:sp>
      <p:sp>
        <p:nvSpPr>
          <p:cNvPr id="12" name="Text 10"/>
          <p:cNvSpPr/>
          <p:nvPr/>
        </p:nvSpPr>
        <p:spPr>
          <a:xfrm>
            <a:off x="4160520" y="1645920"/>
            <a:ext cx="4297680" cy="256032"/>
          </a:xfrm>
          <a:prstGeom prst="rect">
            <a:avLst/>
          </a:prstGeom>
          <a:noFill/>
          <a:ln/>
        </p:spPr>
        <p:txBody>
          <a:bodyPr wrap="square" lIns="0" tIns="0" rIns="0" bIns="0" rtlCol="0" anchor="ctr"/>
          <a:lstStyle/>
          <a:p>
            <a:pPr marL="0" indent="0" algn="l">
              <a:buNone/>
            </a:pPr>
            <a:r>
              <a:rPr lang="en-US" sz="900" dirty="0">
                <a:solidFill>
                  <a:srgbClr val="00BCD4"/>
                </a:solidFill>
                <a:latin typeface="Consolas" pitchFamily="34" charset="0"/>
                <a:ea typeface="Consolas" pitchFamily="34" charset="-122"/>
                <a:cs typeface="Consolas" pitchFamily="34" charset="-120"/>
              </a:rPr>
              <a:t>PAL_BROWN_EXPSMOOTH</a:t>
            </a:r>
            <a:endParaRPr lang="en-US" sz="900" dirty="0"/>
          </a:p>
        </p:txBody>
      </p:sp>
      <p:sp>
        <p:nvSpPr>
          <p:cNvPr id="13" name="Text 11"/>
          <p:cNvSpPr/>
          <p:nvPr/>
        </p:nvSpPr>
        <p:spPr>
          <a:xfrm>
            <a:off x="685800" y="1938528"/>
            <a:ext cx="7772400" cy="256032"/>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How: </a:t>
            </a:r>
            <a:r>
              <a:rPr lang="en-US" sz="950" dirty="0">
                <a:solidFill>
                  <a:srgbClr val="B0B8C0"/>
                </a:solidFill>
                <a:latin typeface="Arial" pitchFamily="34" charset="0"/>
                <a:ea typeface="Arial" pitchFamily="34" charset="-122"/>
                <a:cs typeface="Arial" pitchFamily="34" charset="-120"/>
              </a:rPr>
              <a:t>Weighted average of recent months. Smoothing constant (alpha) auto-optimized by PAL.</a:t>
            </a:r>
            <a:endParaRPr lang="en-US" sz="950" dirty="0"/>
          </a:p>
        </p:txBody>
      </p:sp>
      <p:sp>
        <p:nvSpPr>
          <p:cNvPr id="14" name="Text 12"/>
          <p:cNvSpPr/>
          <p:nvPr/>
        </p:nvSpPr>
        <p:spPr>
          <a:xfrm>
            <a:off x="685800" y="2121408"/>
            <a:ext cx="5029200" cy="256032"/>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Best when: </a:t>
            </a:r>
            <a:r>
              <a:rPr lang="en-US" sz="950" dirty="0">
                <a:solidFill>
                  <a:srgbClr val="B0B8C0"/>
                </a:solidFill>
                <a:latin typeface="Arial" pitchFamily="34" charset="0"/>
                <a:ea typeface="Arial" pitchFamily="34" charset="-122"/>
                <a:cs typeface="Arial" pitchFamily="34" charset="-120"/>
              </a:rPr>
              <a:t>Steady demand with no strong seasonal pattern</a:t>
            </a:r>
            <a:endParaRPr lang="en-US" sz="950" dirty="0"/>
          </a:p>
        </p:txBody>
      </p:sp>
      <p:sp>
        <p:nvSpPr>
          <p:cNvPr id="15" name="Text 13"/>
          <p:cNvSpPr/>
          <p:nvPr/>
        </p:nvSpPr>
        <p:spPr>
          <a:xfrm>
            <a:off x="685800" y="2304288"/>
            <a:ext cx="7772400" cy="228600"/>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Tunable: </a:t>
            </a:r>
            <a:r>
              <a:rPr lang="en-US" sz="950" dirty="0">
                <a:solidFill>
                  <a:srgbClr val="B0B8C0"/>
                </a:solidFill>
                <a:latin typeface="Arial" pitchFamily="34" charset="0"/>
                <a:ea typeface="Arial" pitchFamily="34" charset="-122"/>
                <a:cs typeface="Arial" pitchFamily="34" charset="-120"/>
              </a:rPr>
              <a:t>ALPHA (0–1.0) — user-tunable via API</a:t>
            </a:r>
            <a:endParaRPr lang="en-US" sz="950" dirty="0"/>
          </a:p>
        </p:txBody>
      </p:sp>
      <p:sp>
        <p:nvSpPr>
          <p:cNvPr id="16" name="Shape 14"/>
          <p:cNvSpPr/>
          <p:nvPr/>
        </p:nvSpPr>
        <p:spPr>
          <a:xfrm>
            <a:off x="457200" y="2633472"/>
            <a:ext cx="8229600" cy="1005840"/>
          </a:xfrm>
          <a:prstGeom prst="rect">
            <a:avLst/>
          </a:prstGeom>
          <a:solidFill>
            <a:srgbClr val="172A3A"/>
          </a:solidFill>
          <a:ln w="19050">
            <a:solidFill>
              <a:srgbClr val="F9A825"/>
            </a:solidFill>
            <a:prstDash val="solid"/>
          </a:ln>
        </p:spPr>
        <p:txBody>
          <a:bodyPr/>
          <a:lstStyle/>
          <a:p>
            <a:endParaRPr lang="en-US"/>
          </a:p>
        </p:txBody>
      </p:sp>
      <p:sp>
        <p:nvSpPr>
          <p:cNvPr id="17" name="Shape 15"/>
          <p:cNvSpPr/>
          <p:nvPr/>
        </p:nvSpPr>
        <p:spPr>
          <a:xfrm>
            <a:off x="457200" y="2633472"/>
            <a:ext cx="64008" cy="1005840"/>
          </a:xfrm>
          <a:prstGeom prst="rect">
            <a:avLst/>
          </a:prstGeom>
          <a:solidFill>
            <a:srgbClr val="F9A825"/>
          </a:solidFill>
          <a:ln/>
        </p:spPr>
        <p:txBody>
          <a:bodyPr/>
          <a:lstStyle/>
          <a:p>
            <a:endParaRPr lang="en-US"/>
          </a:p>
        </p:txBody>
      </p:sp>
      <p:sp>
        <p:nvSpPr>
          <p:cNvPr id="18" name="Text 16"/>
          <p:cNvSpPr/>
          <p:nvPr/>
        </p:nvSpPr>
        <p:spPr>
          <a:xfrm>
            <a:off x="685800" y="2679192"/>
            <a:ext cx="1371600" cy="320040"/>
          </a:xfrm>
          <a:prstGeom prst="rect">
            <a:avLst/>
          </a:prstGeom>
          <a:noFill/>
          <a:ln/>
        </p:spPr>
        <p:txBody>
          <a:bodyPr wrap="square" lIns="0" tIns="0" rIns="0" bIns="0" rtlCol="0" anchor="ctr"/>
          <a:lstStyle/>
          <a:p>
            <a:pPr marL="0" indent="0" algn="l">
              <a:buNone/>
            </a:pPr>
            <a:r>
              <a:rPr lang="en-US" sz="1800" b="1" dirty="0">
                <a:solidFill>
                  <a:srgbClr val="F9A825"/>
                </a:solidFill>
                <a:latin typeface="Arial" pitchFamily="34" charset="0"/>
                <a:ea typeface="Arial" pitchFamily="34" charset="-122"/>
                <a:cs typeface="Arial" pitchFamily="34" charset="-120"/>
              </a:rPr>
              <a:t>SARIMA</a:t>
            </a:r>
            <a:endParaRPr lang="en-US" sz="1800" dirty="0"/>
          </a:p>
        </p:txBody>
      </p:sp>
      <p:sp>
        <p:nvSpPr>
          <p:cNvPr id="19" name="Text 17"/>
          <p:cNvSpPr/>
          <p:nvPr/>
        </p:nvSpPr>
        <p:spPr>
          <a:xfrm>
            <a:off x="2011680" y="2679192"/>
            <a:ext cx="1920240" cy="320040"/>
          </a:xfrm>
          <a:prstGeom prst="rect">
            <a:avLst/>
          </a:prstGeom>
          <a:noFill/>
          <a:ln/>
        </p:spPr>
        <p:txBody>
          <a:bodyPr wrap="square" lIns="0" tIns="0" rIns="0" bIns="0" rtlCol="0" anchor="ctr"/>
          <a:lstStyle/>
          <a:p>
            <a:pPr marL="0" indent="0" algn="l">
              <a:buNone/>
            </a:pPr>
            <a:r>
              <a:rPr lang="en-US" sz="1000" dirty="0">
                <a:solidFill>
                  <a:srgbClr val="B0B8C0"/>
                </a:solidFill>
                <a:latin typeface="Arial" pitchFamily="34" charset="0"/>
                <a:ea typeface="Arial" pitchFamily="34" charset="-122"/>
                <a:cs typeface="Arial" pitchFamily="34" charset="-120"/>
              </a:rPr>
              <a:t>Seasonal Auto-ARIMA</a:t>
            </a:r>
            <a:endParaRPr lang="en-US" sz="1000" dirty="0"/>
          </a:p>
        </p:txBody>
      </p:sp>
      <p:sp>
        <p:nvSpPr>
          <p:cNvPr id="20" name="Shape 18"/>
          <p:cNvSpPr/>
          <p:nvPr/>
        </p:nvSpPr>
        <p:spPr>
          <a:xfrm>
            <a:off x="4114800" y="2724912"/>
            <a:ext cx="4389120" cy="256032"/>
          </a:xfrm>
          <a:prstGeom prst="rect">
            <a:avLst/>
          </a:prstGeom>
          <a:solidFill>
            <a:srgbClr val="0D1520"/>
          </a:solidFill>
          <a:ln/>
        </p:spPr>
        <p:txBody>
          <a:bodyPr/>
          <a:lstStyle/>
          <a:p>
            <a:endParaRPr lang="en-US"/>
          </a:p>
        </p:txBody>
      </p:sp>
      <p:sp>
        <p:nvSpPr>
          <p:cNvPr id="21" name="Text 19"/>
          <p:cNvSpPr/>
          <p:nvPr/>
        </p:nvSpPr>
        <p:spPr>
          <a:xfrm>
            <a:off x="4160520" y="2724912"/>
            <a:ext cx="4297680" cy="256032"/>
          </a:xfrm>
          <a:prstGeom prst="rect">
            <a:avLst/>
          </a:prstGeom>
          <a:noFill/>
          <a:ln/>
        </p:spPr>
        <p:txBody>
          <a:bodyPr wrap="square" lIns="0" tIns="0" rIns="0" bIns="0" rtlCol="0" anchor="ctr"/>
          <a:lstStyle/>
          <a:p>
            <a:pPr marL="0" indent="0" algn="l">
              <a:buNone/>
            </a:pPr>
            <a:r>
              <a:rPr lang="en-US" sz="900" dirty="0">
                <a:solidFill>
                  <a:srgbClr val="00BCD4"/>
                </a:solidFill>
                <a:latin typeface="Consolas" pitchFamily="34" charset="0"/>
                <a:ea typeface="Consolas" pitchFamily="34" charset="-122"/>
                <a:cs typeface="Consolas" pitchFamily="34" charset="-120"/>
              </a:rPr>
              <a:t>PAL_AUTOARIMA + PAL_ARIMA_FORECAST</a:t>
            </a:r>
            <a:endParaRPr lang="en-US" sz="900" dirty="0"/>
          </a:p>
        </p:txBody>
      </p:sp>
      <p:sp>
        <p:nvSpPr>
          <p:cNvPr id="22" name="Text 20"/>
          <p:cNvSpPr/>
          <p:nvPr/>
        </p:nvSpPr>
        <p:spPr>
          <a:xfrm>
            <a:off x="685800" y="3017520"/>
            <a:ext cx="7772400" cy="256032"/>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How: </a:t>
            </a:r>
            <a:r>
              <a:rPr lang="en-US" sz="950" dirty="0">
                <a:solidFill>
                  <a:srgbClr val="B0B8C0"/>
                </a:solidFill>
                <a:latin typeface="Arial" pitchFamily="34" charset="0"/>
                <a:ea typeface="Arial" pitchFamily="34" charset="-122"/>
                <a:cs typeface="Arial" pitchFamily="34" charset="-120"/>
              </a:rPr>
              <a:t>Auto-selects best (p,d,q)(P,D,Q) seasonal order. Two-step: fit model, then forecast.</a:t>
            </a:r>
            <a:endParaRPr lang="en-US" sz="950" dirty="0"/>
          </a:p>
        </p:txBody>
      </p:sp>
      <p:sp>
        <p:nvSpPr>
          <p:cNvPr id="23" name="Text 21"/>
          <p:cNvSpPr/>
          <p:nvPr/>
        </p:nvSpPr>
        <p:spPr>
          <a:xfrm>
            <a:off x="685800" y="3200400"/>
            <a:ext cx="5029200" cy="256032"/>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Best when: </a:t>
            </a:r>
            <a:r>
              <a:rPr lang="en-US" sz="950" dirty="0">
                <a:solidFill>
                  <a:srgbClr val="B0B8C0"/>
                </a:solidFill>
                <a:latin typeface="Arial" pitchFamily="34" charset="0"/>
                <a:ea typeface="Arial" pitchFamily="34" charset="-122"/>
                <a:cs typeface="Arial" pitchFamily="34" charset="-120"/>
              </a:rPr>
              <a:t>Clear repeating yearly cycle (e.g. December always dips)</a:t>
            </a:r>
            <a:endParaRPr lang="en-US" sz="950" dirty="0"/>
          </a:p>
        </p:txBody>
      </p:sp>
      <p:sp>
        <p:nvSpPr>
          <p:cNvPr id="24" name="Text 22"/>
          <p:cNvSpPr/>
          <p:nvPr/>
        </p:nvSpPr>
        <p:spPr>
          <a:xfrm>
            <a:off x="685800" y="3383280"/>
            <a:ext cx="7772400" cy="228600"/>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Tunable: </a:t>
            </a:r>
            <a:r>
              <a:rPr lang="en-US" sz="950" dirty="0">
                <a:solidFill>
                  <a:srgbClr val="B0B8C0"/>
                </a:solidFill>
                <a:latin typeface="Arial" pitchFamily="34" charset="0"/>
                <a:ea typeface="Arial" pitchFamily="34" charset="-122"/>
                <a:cs typeface="Arial" pitchFamily="34" charset="-120"/>
              </a:rPr>
              <a:t>METHOD (AIC/AICc/BIC), MAX_P, MAX_Q — all tunable</a:t>
            </a:r>
            <a:endParaRPr lang="en-US" sz="950" dirty="0"/>
          </a:p>
        </p:txBody>
      </p:sp>
      <p:sp>
        <p:nvSpPr>
          <p:cNvPr id="25" name="Shape 23"/>
          <p:cNvSpPr/>
          <p:nvPr/>
        </p:nvSpPr>
        <p:spPr>
          <a:xfrm>
            <a:off x="457200" y="3712464"/>
            <a:ext cx="8229600" cy="1005840"/>
          </a:xfrm>
          <a:prstGeom prst="rect">
            <a:avLst/>
          </a:prstGeom>
          <a:solidFill>
            <a:srgbClr val="172A3A"/>
          </a:solidFill>
          <a:ln w="19050">
            <a:solidFill>
              <a:srgbClr val="00BCD4"/>
            </a:solidFill>
            <a:prstDash val="solid"/>
          </a:ln>
        </p:spPr>
        <p:txBody>
          <a:bodyPr/>
          <a:lstStyle/>
          <a:p>
            <a:endParaRPr lang="en-US"/>
          </a:p>
        </p:txBody>
      </p:sp>
      <p:sp>
        <p:nvSpPr>
          <p:cNvPr id="26" name="Shape 24"/>
          <p:cNvSpPr/>
          <p:nvPr/>
        </p:nvSpPr>
        <p:spPr>
          <a:xfrm>
            <a:off x="457200" y="3712464"/>
            <a:ext cx="64008" cy="1005840"/>
          </a:xfrm>
          <a:prstGeom prst="rect">
            <a:avLst/>
          </a:prstGeom>
          <a:solidFill>
            <a:srgbClr val="00BCD4"/>
          </a:solidFill>
          <a:ln/>
        </p:spPr>
        <p:txBody>
          <a:bodyPr/>
          <a:lstStyle/>
          <a:p>
            <a:endParaRPr lang="en-US"/>
          </a:p>
        </p:txBody>
      </p:sp>
      <p:sp>
        <p:nvSpPr>
          <p:cNvPr id="27" name="Text 25"/>
          <p:cNvSpPr/>
          <p:nvPr/>
        </p:nvSpPr>
        <p:spPr>
          <a:xfrm>
            <a:off x="685800" y="3758184"/>
            <a:ext cx="1371600" cy="320040"/>
          </a:xfrm>
          <a:prstGeom prst="rect">
            <a:avLst/>
          </a:prstGeom>
          <a:noFill/>
          <a:ln/>
        </p:spPr>
        <p:txBody>
          <a:bodyPr wrap="square" lIns="0" tIns="0" rIns="0" bIns="0" rtlCol="0" anchor="ctr"/>
          <a:lstStyle/>
          <a:p>
            <a:pPr marL="0" indent="0" algn="l">
              <a:buNone/>
            </a:pPr>
            <a:r>
              <a:rPr lang="en-US" sz="1800" b="1" dirty="0">
                <a:solidFill>
                  <a:srgbClr val="00BCD4"/>
                </a:solidFill>
                <a:latin typeface="Arial" pitchFamily="34" charset="0"/>
                <a:ea typeface="Arial" pitchFamily="34" charset="-122"/>
                <a:cs typeface="Arial" pitchFamily="34" charset="-120"/>
              </a:rPr>
              <a:t>BSTS</a:t>
            </a:r>
            <a:endParaRPr lang="en-US" sz="1800" dirty="0"/>
          </a:p>
        </p:txBody>
      </p:sp>
      <p:sp>
        <p:nvSpPr>
          <p:cNvPr id="28" name="Text 26"/>
          <p:cNvSpPr/>
          <p:nvPr/>
        </p:nvSpPr>
        <p:spPr>
          <a:xfrm>
            <a:off x="2011680" y="3758184"/>
            <a:ext cx="1920240" cy="320040"/>
          </a:xfrm>
          <a:prstGeom prst="rect">
            <a:avLst/>
          </a:prstGeom>
          <a:noFill/>
          <a:ln/>
        </p:spPr>
        <p:txBody>
          <a:bodyPr wrap="square" lIns="0" tIns="0" rIns="0" bIns="0" rtlCol="0" anchor="ctr"/>
          <a:lstStyle/>
          <a:p>
            <a:pPr marL="0" indent="0" algn="l">
              <a:buNone/>
            </a:pPr>
            <a:r>
              <a:rPr lang="en-US" sz="1000" dirty="0">
                <a:solidFill>
                  <a:srgbClr val="B0B8C0"/>
                </a:solidFill>
                <a:latin typeface="Arial" pitchFamily="34" charset="0"/>
                <a:ea typeface="Arial" pitchFamily="34" charset="-122"/>
                <a:cs typeface="Arial" pitchFamily="34" charset="-120"/>
              </a:rPr>
              <a:t>Bayesian Structural Time Series</a:t>
            </a:r>
            <a:endParaRPr lang="en-US" sz="1000" dirty="0"/>
          </a:p>
        </p:txBody>
      </p:sp>
      <p:sp>
        <p:nvSpPr>
          <p:cNvPr id="29" name="Shape 27"/>
          <p:cNvSpPr/>
          <p:nvPr/>
        </p:nvSpPr>
        <p:spPr>
          <a:xfrm>
            <a:off x="4114800" y="3803904"/>
            <a:ext cx="4389120" cy="256032"/>
          </a:xfrm>
          <a:prstGeom prst="rect">
            <a:avLst/>
          </a:prstGeom>
          <a:solidFill>
            <a:srgbClr val="0D1520"/>
          </a:solidFill>
          <a:ln/>
        </p:spPr>
        <p:txBody>
          <a:bodyPr/>
          <a:lstStyle/>
          <a:p>
            <a:endParaRPr lang="en-US"/>
          </a:p>
        </p:txBody>
      </p:sp>
      <p:sp>
        <p:nvSpPr>
          <p:cNvPr id="30" name="Text 28"/>
          <p:cNvSpPr/>
          <p:nvPr/>
        </p:nvSpPr>
        <p:spPr>
          <a:xfrm>
            <a:off x="4160520" y="3803904"/>
            <a:ext cx="4297680" cy="256032"/>
          </a:xfrm>
          <a:prstGeom prst="rect">
            <a:avLst/>
          </a:prstGeom>
          <a:noFill/>
          <a:ln/>
        </p:spPr>
        <p:txBody>
          <a:bodyPr wrap="square" lIns="0" tIns="0" rIns="0" bIns="0" rtlCol="0" anchor="ctr"/>
          <a:lstStyle/>
          <a:p>
            <a:pPr marL="0" indent="0" algn="l">
              <a:buNone/>
            </a:pPr>
            <a:r>
              <a:rPr lang="en-US" sz="900" dirty="0">
                <a:solidFill>
                  <a:srgbClr val="00BCD4"/>
                </a:solidFill>
                <a:latin typeface="Consolas" pitchFamily="34" charset="0"/>
                <a:ea typeface="Consolas" pitchFamily="34" charset="-122"/>
                <a:cs typeface="Consolas" pitchFamily="34" charset="-120"/>
              </a:rPr>
              <a:t>hana_ml BSTS → PAL Script Server</a:t>
            </a:r>
            <a:endParaRPr lang="en-US" sz="900" dirty="0"/>
          </a:p>
        </p:txBody>
      </p:sp>
      <p:sp>
        <p:nvSpPr>
          <p:cNvPr id="31" name="Text 29"/>
          <p:cNvSpPr/>
          <p:nvPr/>
        </p:nvSpPr>
        <p:spPr>
          <a:xfrm>
            <a:off x="685800" y="4096512"/>
            <a:ext cx="7772400" cy="256032"/>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How: </a:t>
            </a:r>
            <a:r>
              <a:rPr lang="en-US" sz="950" dirty="0">
                <a:solidFill>
                  <a:srgbClr val="B0B8C0"/>
                </a:solidFill>
                <a:latin typeface="Arial" pitchFamily="34" charset="0"/>
                <a:ea typeface="Arial" pitchFamily="34" charset="-122"/>
                <a:cs typeface="Arial" pitchFamily="34" charset="-120"/>
              </a:rPr>
              <a:t>Decomposes into trend + seasonal + noise via MCMC Bayesian inference. 2000 iterations default.</a:t>
            </a:r>
            <a:endParaRPr lang="en-US" sz="950" dirty="0"/>
          </a:p>
        </p:txBody>
      </p:sp>
      <p:sp>
        <p:nvSpPr>
          <p:cNvPr id="32" name="Text 30"/>
          <p:cNvSpPr/>
          <p:nvPr/>
        </p:nvSpPr>
        <p:spPr>
          <a:xfrm>
            <a:off x="685800" y="4279392"/>
            <a:ext cx="5029200" cy="256032"/>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Best when: </a:t>
            </a:r>
            <a:r>
              <a:rPr lang="en-US" sz="950" dirty="0">
                <a:solidFill>
                  <a:srgbClr val="B0B8C0"/>
                </a:solidFill>
                <a:latin typeface="Arial" pitchFamily="34" charset="0"/>
                <a:ea typeface="Arial" pitchFamily="34" charset="-122"/>
                <a:cs typeface="Arial" pitchFamily="34" charset="-120"/>
              </a:rPr>
              <a:t>Complex patterns with both changing trend AND seasonality</a:t>
            </a:r>
            <a:endParaRPr lang="en-US" sz="950" dirty="0"/>
          </a:p>
        </p:txBody>
      </p:sp>
      <p:sp>
        <p:nvSpPr>
          <p:cNvPr id="33" name="Text 31"/>
          <p:cNvSpPr/>
          <p:nvPr/>
        </p:nvSpPr>
        <p:spPr>
          <a:xfrm>
            <a:off x="685800" y="4462272"/>
            <a:ext cx="7772400" cy="228600"/>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Tunable: </a:t>
            </a:r>
            <a:r>
              <a:rPr lang="en-US" sz="950" dirty="0">
                <a:solidFill>
                  <a:srgbClr val="B0B8C0"/>
                </a:solidFill>
                <a:latin typeface="Arial" pitchFamily="34" charset="0"/>
                <a:ea typeface="Arial" pitchFamily="34" charset="-122"/>
                <a:cs typeface="Arial" pitchFamily="34" charset="-120"/>
              </a:rPr>
              <a:t>niter, burn, local_linear_trend, damped, seed — all tunable</a:t>
            </a:r>
            <a:endParaRPr lang="en-US" sz="950" dirty="0"/>
          </a:p>
        </p:txBody>
      </p:sp>
      <p:sp>
        <p:nvSpPr>
          <p:cNvPr id="34" name="Text 32"/>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00" dirty="0">
                <a:solidFill>
                  <a:srgbClr val="00BCD4"/>
                </a:solidFill>
                <a:latin typeface="Arial" pitchFamily="34" charset="0"/>
                <a:ea typeface="Arial" pitchFamily="34" charset="-122"/>
                <a:cs typeface="Arial" pitchFamily="34" charset="-120"/>
              </a:rPr>
              <a:t>All computation runs inside SAP HANA Cloud  ·  Python sends instructions via hana_ml SDK  ·  Results stored in HANA tables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txBody>
          <a:bodyPr/>
          <a:lstStyle/>
          <a:p>
            <a:endParaRPr lang="en-US"/>
          </a:p>
        </p:txBody>
      </p:sp>
      <p:sp>
        <p:nvSpPr>
          <p:cNvPr id="3" name="Shape 1"/>
          <p:cNvSpPr/>
          <p:nvPr/>
        </p:nvSpPr>
        <p:spPr>
          <a:xfrm>
            <a:off x="457200" y="228600"/>
            <a:ext cx="2377440" cy="365760"/>
          </a:xfrm>
          <a:prstGeom prst="rect">
            <a:avLst/>
          </a:prstGeom>
          <a:solidFill>
            <a:srgbClr val="F9A825"/>
          </a:solidFill>
          <a:ln/>
        </p:spPr>
        <p:txBody>
          <a:bodyPr/>
          <a:lstStyle/>
          <a:p>
            <a:endParaRPr lang="en-US"/>
          </a:p>
        </p:txBody>
      </p:sp>
      <p:sp>
        <p:nvSpPr>
          <p:cNvPr id="4" name="Text 2"/>
          <p:cNvSpPr/>
          <p:nvPr/>
        </p:nvSpPr>
        <p:spPr>
          <a:xfrm>
            <a:off x="457200" y="228600"/>
            <a:ext cx="2377440" cy="365760"/>
          </a:xfrm>
          <a:prstGeom prst="rect">
            <a:avLst/>
          </a:prstGeom>
          <a:noFill/>
          <a:ln/>
        </p:spPr>
        <p:txBody>
          <a:bodyPr wrap="square" lIns="0" tIns="0" rIns="0" bIns="0" rtlCol="0" anchor="ctr"/>
          <a:lstStyle/>
          <a:p>
            <a:pPr marL="0" indent="0" algn="ctr">
              <a:buNone/>
            </a:pPr>
            <a:r>
              <a:rPr lang="en-US" sz="1000" b="1" dirty="0">
                <a:solidFill>
                  <a:srgbClr val="1A1A1A"/>
                </a:solidFill>
                <a:latin typeface="Arial" pitchFamily="34" charset="0"/>
                <a:ea typeface="Arial" pitchFamily="34" charset="-122"/>
                <a:cs typeface="Arial" pitchFamily="34" charset="-120"/>
              </a:rPr>
              <a:t>PARAMETER TUNING</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How We Fine-Tuned Our Way to Accuracy</a:t>
            </a:r>
            <a:endParaRPr lang="en-US" sz="2800" dirty="0"/>
          </a:p>
        </p:txBody>
      </p:sp>
      <p:sp>
        <p:nvSpPr>
          <p:cNvPr id="6" name="Text 4"/>
          <p:cNvSpPr/>
          <p:nvPr/>
        </p:nvSpPr>
        <p:spPr>
          <a:xfrm>
            <a:off x="457200" y="1097280"/>
            <a:ext cx="8229600" cy="365760"/>
          </a:xfrm>
          <a:prstGeom prst="rect">
            <a:avLst/>
          </a:prstGeom>
          <a:noFill/>
          <a:ln/>
        </p:spPr>
        <p:txBody>
          <a:bodyPr wrap="square" lIns="0" tIns="0" rIns="0" bIns="0" rtlCol="0" anchor="ctr"/>
          <a:lstStyle/>
          <a:p>
            <a:pPr marL="0" indent="0">
              <a:buNone/>
            </a:pPr>
            <a:r>
              <a:rPr lang="en-US" sz="1300" dirty="0">
                <a:solidFill>
                  <a:srgbClr val="B0B8C0"/>
                </a:solidFill>
                <a:latin typeface="Arial" pitchFamily="34" charset="0"/>
                <a:ea typeface="Arial" pitchFamily="34" charset="-122"/>
                <a:cs typeface="Arial" pitchFamily="34" charset="-120"/>
              </a:rPr>
              <a:t>Each iteration taught us something new — we adjusted parameters, removed outliers, and let SAP PAL guide our choices</a:t>
            </a:r>
            <a:endParaRPr lang="en-US" sz="1300" dirty="0"/>
          </a:p>
        </p:txBody>
      </p:sp>
      <p:sp>
        <p:nvSpPr>
          <p:cNvPr id="7" name="Shape 5"/>
          <p:cNvSpPr/>
          <p:nvPr/>
        </p:nvSpPr>
        <p:spPr>
          <a:xfrm>
            <a:off x="457200" y="1554480"/>
            <a:ext cx="3977640" cy="594360"/>
          </a:xfrm>
          <a:prstGeom prst="rect">
            <a:avLst/>
          </a:prstGeom>
          <a:solidFill>
            <a:srgbClr val="172A3A"/>
          </a:solidFill>
          <a:ln w="12700">
            <a:solidFill>
              <a:srgbClr val="00BCD4"/>
            </a:solidFill>
            <a:prstDash val="solid"/>
          </a:ln>
        </p:spPr>
        <p:txBody>
          <a:bodyPr/>
          <a:lstStyle/>
          <a:p>
            <a:endParaRPr lang="en-US"/>
          </a:p>
        </p:txBody>
      </p:sp>
      <p:sp>
        <p:nvSpPr>
          <p:cNvPr id="8" name="Shape 6"/>
          <p:cNvSpPr/>
          <p:nvPr/>
        </p:nvSpPr>
        <p:spPr>
          <a:xfrm>
            <a:off x="457200" y="1554480"/>
            <a:ext cx="54864" cy="594360"/>
          </a:xfrm>
          <a:prstGeom prst="rect">
            <a:avLst/>
          </a:prstGeom>
          <a:solidFill>
            <a:srgbClr val="00BCD4"/>
          </a:solidFill>
          <a:ln/>
        </p:spPr>
        <p:txBody>
          <a:bodyPr/>
          <a:lstStyle/>
          <a:p>
            <a:endParaRPr lang="en-US"/>
          </a:p>
        </p:txBody>
      </p:sp>
      <p:sp>
        <p:nvSpPr>
          <p:cNvPr id="9" name="Text 7"/>
          <p:cNvSpPr/>
          <p:nvPr/>
        </p:nvSpPr>
        <p:spPr>
          <a:xfrm>
            <a:off x="594360" y="1572768"/>
            <a:ext cx="1371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Forecast Horizon</a:t>
            </a:r>
            <a:endParaRPr lang="en-US" sz="1100" dirty="0"/>
          </a:p>
        </p:txBody>
      </p:sp>
      <p:sp>
        <p:nvSpPr>
          <p:cNvPr id="10" name="Text 8"/>
          <p:cNvSpPr/>
          <p:nvPr/>
        </p:nvSpPr>
        <p:spPr>
          <a:xfrm>
            <a:off x="2011680" y="1572768"/>
            <a:ext cx="2286000" cy="274320"/>
          </a:xfrm>
          <a:prstGeom prst="rect">
            <a:avLst/>
          </a:prstGeom>
          <a:noFill/>
          <a:ln/>
        </p:spPr>
        <p:txBody>
          <a:bodyPr wrap="square" lIns="0" tIns="0" rIns="0" bIns="0" rtlCol="0" anchor="ctr"/>
          <a:lstStyle/>
          <a:p>
            <a:pPr marL="0" indent="0" algn="l">
              <a:buNone/>
            </a:pPr>
            <a:r>
              <a:rPr lang="en-US" sz="1000" b="1" dirty="0">
                <a:solidFill>
                  <a:srgbClr val="E53935"/>
                </a:solidFill>
                <a:latin typeface="Arial" pitchFamily="34" charset="0"/>
                <a:ea typeface="Arial" pitchFamily="34" charset="-122"/>
                <a:cs typeface="Arial" pitchFamily="34" charset="-120"/>
              </a:rPr>
              <a:t>6 months</a:t>
            </a:r>
            <a:r>
              <a:rPr lang="en-US" sz="1000" dirty="0">
                <a:solidFill>
                  <a:srgbClr val="B0B8C0"/>
                </a:solidFill>
                <a:latin typeface="Arial" pitchFamily="34" charset="0"/>
                <a:ea typeface="Arial" pitchFamily="34" charset="-122"/>
                <a:cs typeface="Arial" pitchFamily="34" charset="-120"/>
              </a:rPr>
              <a:t>  →  </a:t>
            </a:r>
            <a:r>
              <a:rPr lang="en-US" sz="1000" b="1" dirty="0">
                <a:solidFill>
                  <a:srgbClr val="4CAF50"/>
                </a:solidFill>
                <a:latin typeface="Arial" pitchFamily="34" charset="0"/>
                <a:ea typeface="Arial" pitchFamily="34" charset="-122"/>
                <a:cs typeface="Arial" pitchFamily="34" charset="-120"/>
              </a:rPr>
              <a:t>12 months</a:t>
            </a:r>
            <a:endParaRPr lang="en-US" sz="1000" dirty="0"/>
          </a:p>
        </p:txBody>
      </p:sp>
      <p:sp>
        <p:nvSpPr>
          <p:cNvPr id="11" name="Text 9"/>
          <p:cNvSpPr/>
          <p:nvPr/>
        </p:nvSpPr>
        <p:spPr>
          <a:xfrm>
            <a:off x="594360" y="1865376"/>
            <a:ext cx="3703320" cy="256032"/>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Business needed full-year planning visibility</a:t>
            </a:r>
            <a:endParaRPr lang="en-US" sz="900" dirty="0"/>
          </a:p>
        </p:txBody>
      </p:sp>
      <p:sp>
        <p:nvSpPr>
          <p:cNvPr id="12" name="Shape 10"/>
          <p:cNvSpPr/>
          <p:nvPr/>
        </p:nvSpPr>
        <p:spPr>
          <a:xfrm>
            <a:off x="4709160" y="1554480"/>
            <a:ext cx="3977640" cy="594360"/>
          </a:xfrm>
          <a:prstGeom prst="rect">
            <a:avLst/>
          </a:prstGeom>
          <a:solidFill>
            <a:srgbClr val="172A3A"/>
          </a:solidFill>
          <a:ln w="12700">
            <a:solidFill>
              <a:srgbClr val="2196F3"/>
            </a:solidFill>
            <a:prstDash val="solid"/>
          </a:ln>
        </p:spPr>
        <p:txBody>
          <a:bodyPr/>
          <a:lstStyle/>
          <a:p>
            <a:endParaRPr lang="en-US"/>
          </a:p>
        </p:txBody>
      </p:sp>
      <p:sp>
        <p:nvSpPr>
          <p:cNvPr id="13" name="Shape 11"/>
          <p:cNvSpPr/>
          <p:nvPr/>
        </p:nvSpPr>
        <p:spPr>
          <a:xfrm>
            <a:off x="4709160" y="1554480"/>
            <a:ext cx="54864" cy="594360"/>
          </a:xfrm>
          <a:prstGeom prst="rect">
            <a:avLst/>
          </a:prstGeom>
          <a:solidFill>
            <a:srgbClr val="2196F3"/>
          </a:solidFill>
          <a:ln/>
        </p:spPr>
        <p:txBody>
          <a:bodyPr/>
          <a:lstStyle/>
          <a:p>
            <a:endParaRPr lang="en-US"/>
          </a:p>
        </p:txBody>
      </p:sp>
      <p:sp>
        <p:nvSpPr>
          <p:cNvPr id="14" name="Text 12"/>
          <p:cNvSpPr/>
          <p:nvPr/>
        </p:nvSpPr>
        <p:spPr>
          <a:xfrm>
            <a:off x="4846320" y="1572768"/>
            <a:ext cx="1371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Test Holdout</a:t>
            </a:r>
            <a:endParaRPr lang="en-US" sz="1100" dirty="0"/>
          </a:p>
        </p:txBody>
      </p:sp>
      <p:sp>
        <p:nvSpPr>
          <p:cNvPr id="15" name="Text 13"/>
          <p:cNvSpPr/>
          <p:nvPr/>
        </p:nvSpPr>
        <p:spPr>
          <a:xfrm>
            <a:off x="6263640" y="1572768"/>
            <a:ext cx="2286000" cy="274320"/>
          </a:xfrm>
          <a:prstGeom prst="rect">
            <a:avLst/>
          </a:prstGeom>
          <a:noFill/>
          <a:ln/>
        </p:spPr>
        <p:txBody>
          <a:bodyPr wrap="square" lIns="0" tIns="0" rIns="0" bIns="0" rtlCol="0" anchor="ctr"/>
          <a:lstStyle/>
          <a:p>
            <a:pPr marL="0" indent="0" algn="l">
              <a:buNone/>
            </a:pPr>
            <a:r>
              <a:rPr lang="en-US" sz="1000" b="1" dirty="0">
                <a:solidFill>
                  <a:srgbClr val="E53935"/>
                </a:solidFill>
                <a:latin typeface="Arial" pitchFamily="34" charset="0"/>
                <a:ea typeface="Arial" pitchFamily="34" charset="-122"/>
                <a:cs typeface="Arial" pitchFamily="34" charset="-120"/>
              </a:rPr>
              <a:t>5 months</a:t>
            </a:r>
            <a:r>
              <a:rPr lang="en-US" sz="1000" dirty="0">
                <a:solidFill>
                  <a:srgbClr val="B0B8C0"/>
                </a:solidFill>
                <a:latin typeface="Arial" pitchFamily="34" charset="0"/>
                <a:ea typeface="Arial" pitchFamily="34" charset="-122"/>
                <a:cs typeface="Arial" pitchFamily="34" charset="-120"/>
              </a:rPr>
              <a:t>  →  </a:t>
            </a:r>
            <a:r>
              <a:rPr lang="en-US" sz="1000" b="1" dirty="0">
                <a:solidFill>
                  <a:srgbClr val="4CAF50"/>
                </a:solidFill>
                <a:latin typeface="Arial" pitchFamily="34" charset="0"/>
                <a:ea typeface="Arial" pitchFamily="34" charset="-122"/>
                <a:cs typeface="Arial" pitchFamily="34" charset="-120"/>
              </a:rPr>
              <a:t>3 months</a:t>
            </a:r>
            <a:endParaRPr lang="en-US" sz="1000" dirty="0"/>
          </a:p>
        </p:txBody>
      </p:sp>
      <p:sp>
        <p:nvSpPr>
          <p:cNvPr id="16" name="Text 14"/>
          <p:cNvSpPr/>
          <p:nvPr/>
        </p:nvSpPr>
        <p:spPr>
          <a:xfrm>
            <a:off x="4846320" y="1865376"/>
            <a:ext cx="3703320" cy="256032"/>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More training data improved BSTS convergence</a:t>
            </a:r>
            <a:endParaRPr lang="en-US" sz="900" dirty="0"/>
          </a:p>
        </p:txBody>
      </p:sp>
      <p:sp>
        <p:nvSpPr>
          <p:cNvPr id="17" name="Shape 15"/>
          <p:cNvSpPr/>
          <p:nvPr/>
        </p:nvSpPr>
        <p:spPr>
          <a:xfrm>
            <a:off x="457200" y="2221992"/>
            <a:ext cx="3977640" cy="594360"/>
          </a:xfrm>
          <a:prstGeom prst="rect">
            <a:avLst/>
          </a:prstGeom>
          <a:solidFill>
            <a:srgbClr val="172A3A"/>
          </a:solidFill>
          <a:ln w="12700">
            <a:solidFill>
              <a:srgbClr val="F9A825"/>
            </a:solidFill>
            <a:prstDash val="solid"/>
          </a:ln>
        </p:spPr>
        <p:txBody>
          <a:bodyPr/>
          <a:lstStyle/>
          <a:p>
            <a:endParaRPr lang="en-US"/>
          </a:p>
        </p:txBody>
      </p:sp>
      <p:sp>
        <p:nvSpPr>
          <p:cNvPr id="18" name="Shape 16"/>
          <p:cNvSpPr/>
          <p:nvPr/>
        </p:nvSpPr>
        <p:spPr>
          <a:xfrm>
            <a:off x="457200" y="2221992"/>
            <a:ext cx="54864" cy="594360"/>
          </a:xfrm>
          <a:prstGeom prst="rect">
            <a:avLst/>
          </a:prstGeom>
          <a:solidFill>
            <a:srgbClr val="F9A825"/>
          </a:solidFill>
          <a:ln/>
        </p:spPr>
        <p:txBody>
          <a:bodyPr/>
          <a:lstStyle/>
          <a:p>
            <a:endParaRPr lang="en-US"/>
          </a:p>
        </p:txBody>
      </p:sp>
      <p:sp>
        <p:nvSpPr>
          <p:cNvPr id="19" name="Text 17"/>
          <p:cNvSpPr/>
          <p:nvPr/>
        </p:nvSpPr>
        <p:spPr>
          <a:xfrm>
            <a:off x="594360" y="2240280"/>
            <a:ext cx="1371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Models Used</a:t>
            </a:r>
            <a:endParaRPr lang="en-US" sz="1100" dirty="0"/>
          </a:p>
        </p:txBody>
      </p:sp>
      <p:sp>
        <p:nvSpPr>
          <p:cNvPr id="20" name="Text 18"/>
          <p:cNvSpPr/>
          <p:nvPr/>
        </p:nvSpPr>
        <p:spPr>
          <a:xfrm>
            <a:off x="2011680" y="2240280"/>
            <a:ext cx="2286000" cy="274320"/>
          </a:xfrm>
          <a:prstGeom prst="rect">
            <a:avLst/>
          </a:prstGeom>
          <a:noFill/>
          <a:ln/>
        </p:spPr>
        <p:txBody>
          <a:bodyPr wrap="square" lIns="0" tIns="0" rIns="0" bIns="0" rtlCol="0" anchor="ctr"/>
          <a:lstStyle/>
          <a:p>
            <a:pPr marL="0" indent="0" algn="l">
              <a:buNone/>
            </a:pPr>
            <a:r>
              <a:rPr lang="en-US" sz="1000" b="1" dirty="0">
                <a:solidFill>
                  <a:srgbClr val="E53935"/>
                </a:solidFill>
                <a:latin typeface="Arial" pitchFamily="34" charset="0"/>
                <a:ea typeface="Arial" pitchFamily="34" charset="-122"/>
                <a:cs typeface="Arial" pitchFamily="34" charset="-120"/>
              </a:rPr>
              <a:t>SES only</a:t>
            </a:r>
            <a:r>
              <a:rPr lang="en-US" sz="1000" dirty="0">
                <a:solidFill>
                  <a:srgbClr val="B0B8C0"/>
                </a:solidFill>
                <a:latin typeface="Arial" pitchFamily="34" charset="0"/>
                <a:ea typeface="Arial" pitchFamily="34" charset="-122"/>
                <a:cs typeface="Arial" pitchFamily="34" charset="-120"/>
              </a:rPr>
              <a:t>  →  </a:t>
            </a:r>
            <a:r>
              <a:rPr lang="en-US" sz="1000" b="1" dirty="0">
                <a:solidFill>
                  <a:srgbClr val="4CAF50"/>
                </a:solidFill>
                <a:latin typeface="Arial" pitchFamily="34" charset="0"/>
                <a:ea typeface="Arial" pitchFamily="34" charset="-122"/>
                <a:cs typeface="Arial" pitchFamily="34" charset="-120"/>
              </a:rPr>
              <a:t>SES + SARIMA + BSTS</a:t>
            </a:r>
            <a:endParaRPr lang="en-US" sz="1000" dirty="0"/>
          </a:p>
        </p:txBody>
      </p:sp>
      <p:sp>
        <p:nvSpPr>
          <p:cNvPr id="21" name="Text 19"/>
          <p:cNvSpPr/>
          <p:nvPr/>
        </p:nvSpPr>
        <p:spPr>
          <a:xfrm>
            <a:off x="594360" y="2532888"/>
            <a:ext cx="3703320" cy="256032"/>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AutoML (PAL_AUTOML_FIT) recommended BSTS as best model</a:t>
            </a:r>
            <a:endParaRPr lang="en-US" sz="900" dirty="0"/>
          </a:p>
        </p:txBody>
      </p:sp>
      <p:sp>
        <p:nvSpPr>
          <p:cNvPr id="22" name="Shape 20"/>
          <p:cNvSpPr/>
          <p:nvPr/>
        </p:nvSpPr>
        <p:spPr>
          <a:xfrm>
            <a:off x="4709160" y="2221992"/>
            <a:ext cx="3977640" cy="594360"/>
          </a:xfrm>
          <a:prstGeom prst="rect">
            <a:avLst/>
          </a:prstGeom>
          <a:solidFill>
            <a:srgbClr val="172A3A"/>
          </a:solidFill>
          <a:ln w="12700">
            <a:solidFill>
              <a:srgbClr val="FF9800"/>
            </a:solidFill>
            <a:prstDash val="solid"/>
          </a:ln>
        </p:spPr>
        <p:txBody>
          <a:bodyPr/>
          <a:lstStyle/>
          <a:p>
            <a:endParaRPr lang="en-US"/>
          </a:p>
        </p:txBody>
      </p:sp>
      <p:sp>
        <p:nvSpPr>
          <p:cNvPr id="23" name="Shape 21"/>
          <p:cNvSpPr/>
          <p:nvPr/>
        </p:nvSpPr>
        <p:spPr>
          <a:xfrm>
            <a:off x="4709160" y="2221992"/>
            <a:ext cx="54864" cy="594360"/>
          </a:xfrm>
          <a:prstGeom prst="rect">
            <a:avLst/>
          </a:prstGeom>
          <a:solidFill>
            <a:srgbClr val="FF9800"/>
          </a:solidFill>
          <a:ln/>
        </p:spPr>
        <p:txBody>
          <a:bodyPr/>
          <a:lstStyle/>
          <a:p>
            <a:endParaRPr lang="en-US"/>
          </a:p>
        </p:txBody>
      </p:sp>
      <p:sp>
        <p:nvSpPr>
          <p:cNvPr id="24" name="Text 22"/>
          <p:cNvSpPr/>
          <p:nvPr/>
        </p:nvSpPr>
        <p:spPr>
          <a:xfrm>
            <a:off x="4846320" y="2240280"/>
            <a:ext cx="1371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BSTS Iterations</a:t>
            </a:r>
            <a:endParaRPr lang="en-US" sz="1100" dirty="0"/>
          </a:p>
        </p:txBody>
      </p:sp>
      <p:sp>
        <p:nvSpPr>
          <p:cNvPr id="25" name="Text 23"/>
          <p:cNvSpPr/>
          <p:nvPr/>
        </p:nvSpPr>
        <p:spPr>
          <a:xfrm>
            <a:off x="6263640" y="2240280"/>
            <a:ext cx="2286000" cy="274320"/>
          </a:xfrm>
          <a:prstGeom prst="rect">
            <a:avLst/>
          </a:prstGeom>
          <a:noFill/>
          <a:ln/>
        </p:spPr>
        <p:txBody>
          <a:bodyPr wrap="square" lIns="0" tIns="0" rIns="0" bIns="0" rtlCol="0" anchor="ctr"/>
          <a:lstStyle/>
          <a:p>
            <a:pPr marL="0" indent="0" algn="l">
              <a:buNone/>
            </a:pPr>
            <a:r>
              <a:rPr lang="en-US" sz="1000" b="1" dirty="0">
                <a:solidFill>
                  <a:srgbClr val="E53935"/>
                </a:solidFill>
                <a:latin typeface="Arial" pitchFamily="34" charset="0"/>
                <a:ea typeface="Arial" pitchFamily="34" charset="-122"/>
                <a:cs typeface="Arial" pitchFamily="34" charset="-120"/>
              </a:rPr>
              <a:t>1000 (test)</a:t>
            </a:r>
            <a:r>
              <a:rPr lang="en-US" sz="1000" dirty="0">
                <a:solidFill>
                  <a:srgbClr val="B0B8C0"/>
                </a:solidFill>
                <a:latin typeface="Arial" pitchFamily="34" charset="0"/>
                <a:ea typeface="Arial" pitchFamily="34" charset="-122"/>
                <a:cs typeface="Arial" pitchFamily="34" charset="-120"/>
              </a:rPr>
              <a:t>  →  </a:t>
            </a:r>
            <a:r>
              <a:rPr lang="en-US" sz="1000" b="1" dirty="0">
                <a:solidFill>
                  <a:srgbClr val="4CAF50"/>
                </a:solidFill>
                <a:latin typeface="Arial" pitchFamily="34" charset="0"/>
                <a:ea typeface="Arial" pitchFamily="34" charset="-122"/>
                <a:cs typeface="Arial" pitchFamily="34" charset="-120"/>
              </a:rPr>
              <a:t>2000 (production)</a:t>
            </a:r>
            <a:endParaRPr lang="en-US" sz="1000" dirty="0"/>
          </a:p>
        </p:txBody>
      </p:sp>
      <p:sp>
        <p:nvSpPr>
          <p:cNvPr id="26" name="Text 24"/>
          <p:cNvSpPr/>
          <p:nvPr/>
        </p:nvSpPr>
        <p:spPr>
          <a:xfrm>
            <a:off x="4846320" y="2532888"/>
            <a:ext cx="3703320" cy="256032"/>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1000 MCMC iterations insufficient for convergence</a:t>
            </a:r>
            <a:endParaRPr lang="en-US" sz="900" dirty="0"/>
          </a:p>
        </p:txBody>
      </p:sp>
      <p:sp>
        <p:nvSpPr>
          <p:cNvPr id="27" name="Shape 25"/>
          <p:cNvSpPr/>
          <p:nvPr/>
        </p:nvSpPr>
        <p:spPr>
          <a:xfrm>
            <a:off x="457200" y="2889504"/>
            <a:ext cx="3977640" cy="594360"/>
          </a:xfrm>
          <a:prstGeom prst="rect">
            <a:avLst/>
          </a:prstGeom>
          <a:solidFill>
            <a:srgbClr val="172A3A"/>
          </a:solidFill>
          <a:ln w="12700">
            <a:solidFill>
              <a:srgbClr val="4CAF50"/>
            </a:solidFill>
            <a:prstDash val="solid"/>
          </a:ln>
        </p:spPr>
        <p:txBody>
          <a:bodyPr/>
          <a:lstStyle/>
          <a:p>
            <a:endParaRPr lang="en-US"/>
          </a:p>
        </p:txBody>
      </p:sp>
      <p:sp>
        <p:nvSpPr>
          <p:cNvPr id="28" name="Shape 26"/>
          <p:cNvSpPr/>
          <p:nvPr/>
        </p:nvSpPr>
        <p:spPr>
          <a:xfrm>
            <a:off x="457200" y="2889504"/>
            <a:ext cx="54864" cy="594360"/>
          </a:xfrm>
          <a:prstGeom prst="rect">
            <a:avLst/>
          </a:prstGeom>
          <a:solidFill>
            <a:srgbClr val="4CAF50"/>
          </a:solidFill>
          <a:ln/>
        </p:spPr>
        <p:txBody>
          <a:bodyPr/>
          <a:lstStyle/>
          <a:p>
            <a:endParaRPr lang="en-US"/>
          </a:p>
        </p:txBody>
      </p:sp>
      <p:sp>
        <p:nvSpPr>
          <p:cNvPr id="29" name="Text 27"/>
          <p:cNvSpPr/>
          <p:nvPr/>
        </p:nvSpPr>
        <p:spPr>
          <a:xfrm>
            <a:off x="594360" y="2907792"/>
            <a:ext cx="1371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Data Quality</a:t>
            </a:r>
            <a:endParaRPr lang="en-US" sz="1100" dirty="0"/>
          </a:p>
        </p:txBody>
      </p:sp>
      <p:sp>
        <p:nvSpPr>
          <p:cNvPr id="30" name="Text 28"/>
          <p:cNvSpPr/>
          <p:nvPr/>
        </p:nvSpPr>
        <p:spPr>
          <a:xfrm>
            <a:off x="2011680" y="2907792"/>
            <a:ext cx="2286000" cy="274320"/>
          </a:xfrm>
          <a:prstGeom prst="rect">
            <a:avLst/>
          </a:prstGeom>
          <a:noFill/>
          <a:ln/>
        </p:spPr>
        <p:txBody>
          <a:bodyPr wrap="square" lIns="0" tIns="0" rIns="0" bIns="0" rtlCol="0" anchor="ctr"/>
          <a:lstStyle/>
          <a:p>
            <a:pPr marL="0" indent="0" algn="l">
              <a:buNone/>
            </a:pPr>
            <a:r>
              <a:rPr lang="en-US" sz="1000" b="1" dirty="0">
                <a:solidFill>
                  <a:srgbClr val="E53935"/>
                </a:solidFill>
                <a:latin typeface="Arial" pitchFamily="34" charset="0"/>
                <a:ea typeface="Arial" pitchFamily="34" charset="-122"/>
                <a:cs typeface="Arial" pitchFamily="34" charset="-120"/>
              </a:rPr>
              <a:t>None</a:t>
            </a:r>
            <a:r>
              <a:rPr lang="en-US" sz="1000" dirty="0">
                <a:solidFill>
                  <a:srgbClr val="B0B8C0"/>
                </a:solidFill>
                <a:latin typeface="Arial" pitchFamily="34" charset="0"/>
                <a:ea typeface="Arial" pitchFamily="34" charset="-122"/>
                <a:cs typeface="Arial" pitchFamily="34" charset="-120"/>
              </a:rPr>
              <a:t>  →  </a:t>
            </a:r>
            <a:r>
              <a:rPr lang="en-US" sz="1000" b="1" dirty="0">
                <a:solidFill>
                  <a:srgbClr val="4CAF50"/>
                </a:solidFill>
                <a:latin typeface="Arial" pitchFamily="34" charset="0"/>
                <a:ea typeface="Arial" pitchFamily="34" charset="-122"/>
                <a:cs typeface="Arial" pitchFamily="34" charset="-120"/>
              </a:rPr>
              <a:t>Outlier + cliff detection</a:t>
            </a:r>
            <a:endParaRPr lang="en-US" sz="1000" dirty="0"/>
          </a:p>
        </p:txBody>
      </p:sp>
      <p:sp>
        <p:nvSpPr>
          <p:cNvPr id="31" name="Text 29"/>
          <p:cNvSpPr/>
          <p:nvPr/>
        </p:nvSpPr>
        <p:spPr>
          <a:xfrm>
            <a:off x="594360" y="3200400"/>
            <a:ext cx="3703320" cy="256032"/>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Production shutdowns and one-time events created spikes</a:t>
            </a:r>
            <a:endParaRPr lang="en-US" sz="900" dirty="0"/>
          </a:p>
        </p:txBody>
      </p:sp>
      <p:sp>
        <p:nvSpPr>
          <p:cNvPr id="32" name="Shape 30"/>
          <p:cNvSpPr/>
          <p:nvPr/>
        </p:nvSpPr>
        <p:spPr>
          <a:xfrm>
            <a:off x="4709160" y="2889504"/>
            <a:ext cx="3977640" cy="594360"/>
          </a:xfrm>
          <a:prstGeom prst="rect">
            <a:avLst/>
          </a:prstGeom>
          <a:solidFill>
            <a:srgbClr val="172A3A"/>
          </a:solidFill>
          <a:ln w="12700">
            <a:solidFill>
              <a:srgbClr val="E53935"/>
            </a:solidFill>
            <a:prstDash val="solid"/>
          </a:ln>
        </p:spPr>
        <p:txBody>
          <a:bodyPr/>
          <a:lstStyle/>
          <a:p>
            <a:endParaRPr lang="en-US"/>
          </a:p>
        </p:txBody>
      </p:sp>
      <p:sp>
        <p:nvSpPr>
          <p:cNvPr id="33" name="Shape 31"/>
          <p:cNvSpPr/>
          <p:nvPr/>
        </p:nvSpPr>
        <p:spPr>
          <a:xfrm>
            <a:off x="4709160" y="2889504"/>
            <a:ext cx="54864" cy="594360"/>
          </a:xfrm>
          <a:prstGeom prst="rect">
            <a:avLst/>
          </a:prstGeom>
          <a:solidFill>
            <a:srgbClr val="E53935"/>
          </a:solidFill>
          <a:ln/>
        </p:spPr>
        <p:txBody>
          <a:bodyPr/>
          <a:lstStyle/>
          <a:p>
            <a:endParaRPr lang="en-US"/>
          </a:p>
        </p:txBody>
      </p:sp>
      <p:sp>
        <p:nvSpPr>
          <p:cNvPr id="34" name="Text 32"/>
          <p:cNvSpPr/>
          <p:nvPr/>
        </p:nvSpPr>
        <p:spPr>
          <a:xfrm>
            <a:off x="4846320" y="2907792"/>
            <a:ext cx="137160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Negative Clamping</a:t>
            </a:r>
            <a:endParaRPr lang="en-US" sz="1100" dirty="0"/>
          </a:p>
        </p:txBody>
      </p:sp>
      <p:sp>
        <p:nvSpPr>
          <p:cNvPr id="35" name="Text 33"/>
          <p:cNvSpPr/>
          <p:nvPr/>
        </p:nvSpPr>
        <p:spPr>
          <a:xfrm>
            <a:off x="6263640" y="2907792"/>
            <a:ext cx="2286000" cy="274320"/>
          </a:xfrm>
          <a:prstGeom prst="rect">
            <a:avLst/>
          </a:prstGeom>
          <a:noFill/>
          <a:ln/>
        </p:spPr>
        <p:txBody>
          <a:bodyPr wrap="square" lIns="0" tIns="0" rIns="0" bIns="0" rtlCol="0" anchor="ctr"/>
          <a:lstStyle/>
          <a:p>
            <a:pPr marL="0" indent="0" algn="l">
              <a:buNone/>
            </a:pPr>
            <a:r>
              <a:rPr lang="en-US" sz="1000" b="1" dirty="0">
                <a:solidFill>
                  <a:srgbClr val="E53935"/>
                </a:solidFill>
                <a:latin typeface="Arial" pitchFamily="34" charset="0"/>
                <a:ea typeface="Arial" pitchFamily="34" charset="-122"/>
                <a:cs typeface="Arial" pitchFamily="34" charset="-120"/>
              </a:rPr>
              <a:t>None</a:t>
            </a:r>
            <a:r>
              <a:rPr lang="en-US" sz="1000" dirty="0">
                <a:solidFill>
                  <a:srgbClr val="B0B8C0"/>
                </a:solidFill>
                <a:latin typeface="Arial" pitchFamily="34" charset="0"/>
                <a:ea typeface="Arial" pitchFamily="34" charset="-122"/>
                <a:cs typeface="Arial" pitchFamily="34" charset="-120"/>
              </a:rPr>
              <a:t>  →  </a:t>
            </a:r>
            <a:r>
              <a:rPr lang="en-US" sz="1000" b="1" dirty="0">
                <a:solidFill>
                  <a:srgbClr val="4CAF50"/>
                </a:solidFill>
                <a:latin typeface="Arial" pitchFamily="34" charset="0"/>
                <a:ea typeface="Arial" pitchFamily="34" charset="-122"/>
                <a:cs typeface="Arial" pitchFamily="34" charset="-120"/>
              </a:rPr>
              <a:t>max(0, forecast)</a:t>
            </a:r>
            <a:endParaRPr lang="en-US" sz="1000" dirty="0"/>
          </a:p>
        </p:txBody>
      </p:sp>
      <p:sp>
        <p:nvSpPr>
          <p:cNvPr id="36" name="Text 34"/>
          <p:cNvSpPr/>
          <p:nvPr/>
        </p:nvSpPr>
        <p:spPr>
          <a:xfrm>
            <a:off x="4846320" y="3200400"/>
            <a:ext cx="3703320" cy="256032"/>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SARIMA can produce negative counts — clamped to zero</a:t>
            </a:r>
            <a:endParaRPr lang="en-US" sz="900" dirty="0"/>
          </a:p>
        </p:txBody>
      </p:sp>
      <p:sp>
        <p:nvSpPr>
          <p:cNvPr id="37" name="Shape 35"/>
          <p:cNvSpPr/>
          <p:nvPr/>
        </p:nvSpPr>
        <p:spPr>
          <a:xfrm>
            <a:off x="457200" y="3703320"/>
            <a:ext cx="8229600" cy="777240"/>
          </a:xfrm>
          <a:prstGeom prst="rect">
            <a:avLst/>
          </a:prstGeom>
          <a:solidFill>
            <a:srgbClr val="172A3A"/>
          </a:solidFill>
          <a:ln w="19050">
            <a:solidFill>
              <a:srgbClr val="00BCD4"/>
            </a:solidFill>
            <a:prstDash val="solid"/>
          </a:ln>
        </p:spPr>
        <p:txBody>
          <a:bodyPr/>
          <a:lstStyle/>
          <a:p>
            <a:endParaRPr lang="en-US"/>
          </a:p>
        </p:txBody>
      </p:sp>
      <p:sp>
        <p:nvSpPr>
          <p:cNvPr id="38" name="Text 36"/>
          <p:cNvSpPr/>
          <p:nvPr/>
        </p:nvSpPr>
        <p:spPr>
          <a:xfrm>
            <a:off x="640080" y="3749040"/>
            <a:ext cx="1828800" cy="228600"/>
          </a:xfrm>
          <a:prstGeom prst="rect">
            <a:avLst/>
          </a:prstGeom>
          <a:noFill/>
          <a:ln/>
        </p:spPr>
        <p:txBody>
          <a:bodyPr wrap="square" lIns="0" tIns="0" rIns="0" bIns="0" rtlCol="0" anchor="ctr"/>
          <a:lstStyle/>
          <a:p>
            <a:pPr marL="0" indent="0" algn="l">
              <a:buNone/>
            </a:pPr>
            <a:r>
              <a:rPr lang="en-US" sz="1000" b="1" dirty="0">
                <a:solidFill>
                  <a:srgbClr val="00BCD4"/>
                </a:solidFill>
                <a:latin typeface="Arial" pitchFamily="34" charset="0"/>
                <a:ea typeface="Arial" pitchFamily="34" charset="-122"/>
                <a:cs typeface="Arial" pitchFamily="34" charset="-120"/>
              </a:rPr>
              <a:t>KEY LEARNINGS</a:t>
            </a:r>
            <a:endParaRPr lang="en-US" sz="1000" dirty="0"/>
          </a:p>
        </p:txBody>
      </p:sp>
      <p:sp>
        <p:nvSpPr>
          <p:cNvPr id="39" name="Text 37"/>
          <p:cNvSpPr/>
          <p:nvPr/>
        </p:nvSpPr>
        <p:spPr>
          <a:xfrm>
            <a:off x="640080" y="3977640"/>
            <a:ext cx="7863840" cy="155448"/>
          </a:xfrm>
          <a:prstGeom prst="rect">
            <a:avLst/>
          </a:prstGeom>
          <a:noFill/>
          <a:ln/>
        </p:spPr>
        <p:txBody>
          <a:bodyPr wrap="square" lIns="0" tIns="0" rIns="0" bIns="0" rtlCol="0" anchor="ctr"/>
          <a:lstStyle/>
          <a:p>
            <a:pPr marL="0" indent="0" algn="l">
              <a:buNone/>
            </a:pPr>
            <a:r>
              <a:rPr lang="en-US" sz="950" dirty="0">
                <a:solidFill>
                  <a:srgbClr val="00BCD4"/>
                </a:solidFill>
                <a:latin typeface="Arial" pitchFamily="34" charset="0"/>
                <a:ea typeface="Arial" pitchFamily="34" charset="-122"/>
                <a:cs typeface="Arial" pitchFamily="34" charset="-120"/>
              </a:rPr>
              <a:t>▸ </a:t>
            </a:r>
            <a:r>
              <a:rPr lang="en-US" sz="950" dirty="0">
                <a:solidFill>
                  <a:srgbClr val="B0B8C0"/>
                </a:solidFill>
                <a:latin typeface="Arial" pitchFamily="34" charset="0"/>
                <a:ea typeface="Arial" pitchFamily="34" charset="-122"/>
                <a:cs typeface="Arial" pitchFamily="34" charset="-120"/>
              </a:rPr>
              <a:t>AutoML (PAL_AUTOML_FIT) confirmed BSTS as best overall — but keeping all 3 models ensures best fit per accessory</a:t>
            </a:r>
            <a:endParaRPr lang="en-US" sz="950" dirty="0"/>
          </a:p>
        </p:txBody>
      </p:sp>
      <p:sp>
        <p:nvSpPr>
          <p:cNvPr id="40" name="Text 38"/>
          <p:cNvSpPr/>
          <p:nvPr/>
        </p:nvSpPr>
        <p:spPr>
          <a:xfrm>
            <a:off x="640080" y="4133088"/>
            <a:ext cx="7863840" cy="155448"/>
          </a:xfrm>
          <a:prstGeom prst="rect">
            <a:avLst/>
          </a:prstGeom>
          <a:noFill/>
          <a:ln/>
        </p:spPr>
        <p:txBody>
          <a:bodyPr wrap="square" lIns="0" tIns="0" rIns="0" bIns="0" rtlCol="0" anchor="ctr"/>
          <a:lstStyle/>
          <a:p>
            <a:pPr marL="0" indent="0" algn="l">
              <a:buNone/>
            </a:pPr>
            <a:r>
              <a:rPr lang="en-US" sz="950" dirty="0">
                <a:solidFill>
                  <a:srgbClr val="00BCD4"/>
                </a:solidFill>
                <a:latin typeface="Arial" pitchFamily="34" charset="0"/>
                <a:ea typeface="Arial" pitchFamily="34" charset="-122"/>
                <a:cs typeface="Arial" pitchFamily="34" charset="-120"/>
              </a:rPr>
              <a:t>▸ </a:t>
            </a:r>
            <a:r>
              <a:rPr lang="en-US" sz="950" dirty="0">
                <a:solidFill>
                  <a:srgbClr val="B0B8C0"/>
                </a:solidFill>
                <a:latin typeface="Arial" pitchFamily="34" charset="0"/>
                <a:ea typeface="Arial" pitchFamily="34" charset="-122"/>
                <a:cs typeface="Arial" pitchFamily="34" charset="-120"/>
              </a:rPr>
              <a:t>More MCMC iterations (niter) = better BSTS accuracy, but diminishing returns above 3000</a:t>
            </a:r>
            <a:endParaRPr lang="en-US" sz="950" dirty="0"/>
          </a:p>
        </p:txBody>
      </p:sp>
      <p:sp>
        <p:nvSpPr>
          <p:cNvPr id="41" name="Text 39"/>
          <p:cNvSpPr/>
          <p:nvPr/>
        </p:nvSpPr>
        <p:spPr>
          <a:xfrm>
            <a:off x="640080" y="4288536"/>
            <a:ext cx="7863840" cy="155448"/>
          </a:xfrm>
          <a:prstGeom prst="rect">
            <a:avLst/>
          </a:prstGeom>
          <a:noFill/>
          <a:ln/>
        </p:spPr>
        <p:txBody>
          <a:bodyPr wrap="square" lIns="0" tIns="0" rIns="0" bIns="0" rtlCol="0" anchor="ctr"/>
          <a:lstStyle/>
          <a:p>
            <a:pPr marL="0" indent="0" algn="l">
              <a:buNone/>
            </a:pPr>
            <a:r>
              <a:rPr lang="en-US" sz="950" dirty="0">
                <a:solidFill>
                  <a:srgbClr val="00BCD4"/>
                </a:solidFill>
                <a:latin typeface="Arial" pitchFamily="34" charset="0"/>
                <a:ea typeface="Arial" pitchFamily="34" charset="-122"/>
                <a:cs typeface="Arial" pitchFamily="34" charset="-120"/>
              </a:rPr>
              <a:t>▸ </a:t>
            </a:r>
            <a:r>
              <a:rPr lang="en-US" sz="950" dirty="0">
                <a:solidFill>
                  <a:srgbClr val="B0B8C0"/>
                </a:solidFill>
                <a:latin typeface="Arial" pitchFamily="34" charset="0"/>
                <a:ea typeface="Arial" pitchFamily="34" charset="-122"/>
                <a:cs typeface="Arial" pitchFamily="34" charset="-120"/>
              </a:rPr>
              <a:t>Exposing parameters via REST API enables on-demand fine-tuning without redeploying the pipeline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txBody>
          <a:bodyPr/>
          <a:lstStyle/>
          <a:p>
            <a:endParaRPr lang="en-US"/>
          </a:p>
        </p:txBody>
      </p:sp>
      <p:sp>
        <p:nvSpPr>
          <p:cNvPr id="3" name="Shape 1"/>
          <p:cNvSpPr/>
          <p:nvPr/>
        </p:nvSpPr>
        <p:spPr>
          <a:xfrm>
            <a:off x="457200" y="228600"/>
            <a:ext cx="1828800" cy="365760"/>
          </a:xfrm>
          <a:prstGeom prst="rect">
            <a:avLst/>
          </a:prstGeom>
          <a:solidFill>
            <a:srgbClr val="F9A825"/>
          </a:solidFill>
          <a:ln/>
        </p:spPr>
        <p:txBody>
          <a:bodyPr/>
          <a:lstStyle/>
          <a:p>
            <a:endParaRPr lang="en-US"/>
          </a:p>
        </p:txBody>
      </p:sp>
      <p:sp>
        <p:nvSpPr>
          <p:cNvPr id="4" name="Text 2"/>
          <p:cNvSpPr/>
          <p:nvPr/>
        </p:nvSpPr>
        <p:spPr>
          <a:xfrm>
            <a:off x="457200" y="228600"/>
            <a:ext cx="1828800" cy="365760"/>
          </a:xfrm>
          <a:prstGeom prst="rect">
            <a:avLst/>
          </a:prstGeom>
          <a:noFill/>
          <a:ln/>
        </p:spPr>
        <p:txBody>
          <a:bodyPr wrap="square" lIns="0" tIns="0" rIns="0" bIns="0" rtlCol="0" anchor="ctr"/>
          <a:lstStyle/>
          <a:p>
            <a:pPr marL="0" indent="0" algn="ctr">
              <a:buNone/>
            </a:pPr>
            <a:r>
              <a:rPr lang="en-US" sz="1000" b="1" dirty="0">
                <a:solidFill>
                  <a:srgbClr val="1A1A1A"/>
                </a:solidFill>
                <a:latin typeface="Arial" pitchFamily="34" charset="0"/>
                <a:ea typeface="Arial" pitchFamily="34" charset="-122"/>
                <a:cs typeface="Arial" pitchFamily="34" charset="-120"/>
              </a:rPr>
              <a:t>DATA PIPELINE</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From Raw Data to 12-Month Predictions</a:t>
            </a:r>
            <a:endParaRPr lang="en-US" sz="34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marL="0" indent="0">
              <a:buNone/>
            </a:pPr>
            <a:r>
              <a:rPr lang="en-US" sz="1300" dirty="0">
                <a:solidFill>
                  <a:srgbClr val="B0B8C0"/>
                </a:solidFill>
                <a:latin typeface="Arial" pitchFamily="34" charset="0"/>
                <a:ea typeface="Arial" pitchFamily="34" charset="-122"/>
                <a:cs typeface="Arial" pitchFamily="34" charset="-120"/>
              </a:rPr>
              <a:t>How 33,674 production records become actionable intelligence — powered by SAP PAL inside HANA Cloud</a:t>
            </a:r>
            <a:endParaRPr lang="en-US" sz="1300" dirty="0"/>
          </a:p>
        </p:txBody>
      </p:sp>
      <p:sp>
        <p:nvSpPr>
          <p:cNvPr id="7" name="Shape 5"/>
          <p:cNvSpPr/>
          <p:nvPr/>
        </p:nvSpPr>
        <p:spPr>
          <a:xfrm>
            <a:off x="320040" y="1920240"/>
            <a:ext cx="1508760" cy="2743200"/>
          </a:xfrm>
          <a:prstGeom prst="rect">
            <a:avLst/>
          </a:prstGeom>
          <a:solidFill>
            <a:srgbClr val="172A3A"/>
          </a:solidFill>
          <a:ln w="19050">
            <a:solidFill>
              <a:srgbClr val="00BCD4"/>
            </a:solidFill>
            <a:prstDash val="solid"/>
          </a:ln>
        </p:spPr>
        <p:txBody>
          <a:bodyPr/>
          <a:lstStyle/>
          <a:p>
            <a:endParaRPr lang="en-US"/>
          </a:p>
        </p:txBody>
      </p:sp>
      <p:sp>
        <p:nvSpPr>
          <p:cNvPr id="8" name="Shape 6"/>
          <p:cNvSpPr/>
          <p:nvPr/>
        </p:nvSpPr>
        <p:spPr>
          <a:xfrm>
            <a:off x="320040" y="1920240"/>
            <a:ext cx="1508760" cy="54864"/>
          </a:xfrm>
          <a:prstGeom prst="rect">
            <a:avLst/>
          </a:prstGeom>
          <a:solidFill>
            <a:srgbClr val="00BCD4"/>
          </a:solidFill>
          <a:ln/>
        </p:spPr>
        <p:txBody>
          <a:bodyPr/>
          <a:lstStyle/>
          <a:p>
            <a:endParaRPr lang="en-US"/>
          </a:p>
        </p:txBody>
      </p:sp>
      <p:sp>
        <p:nvSpPr>
          <p:cNvPr id="9" name="Shape 7"/>
          <p:cNvSpPr/>
          <p:nvPr/>
        </p:nvSpPr>
        <p:spPr>
          <a:xfrm>
            <a:off x="822960" y="2103120"/>
            <a:ext cx="502920" cy="502920"/>
          </a:xfrm>
          <a:prstGeom prst="ellipse">
            <a:avLst/>
          </a:prstGeom>
          <a:solidFill>
            <a:srgbClr val="00BCD4"/>
          </a:solidFill>
          <a:ln/>
        </p:spPr>
        <p:txBody>
          <a:bodyPr/>
          <a:lstStyle/>
          <a:p>
            <a:endParaRPr lang="en-US"/>
          </a:p>
        </p:txBody>
      </p:sp>
      <p:sp>
        <p:nvSpPr>
          <p:cNvPr id="10" name="Text 8"/>
          <p:cNvSpPr/>
          <p:nvPr/>
        </p:nvSpPr>
        <p:spPr>
          <a:xfrm>
            <a:off x="822960" y="2103120"/>
            <a:ext cx="502920" cy="502920"/>
          </a:xfrm>
          <a:prstGeom prst="rect">
            <a:avLst/>
          </a:prstGeom>
          <a:noFill/>
          <a:ln/>
        </p:spPr>
        <p:txBody>
          <a:bodyPr wrap="square" lIns="0" tIns="0" rIns="0" bIns="0" rtlCol="0" anchor="ctr"/>
          <a:lstStyle/>
          <a:p>
            <a:pPr marL="0" indent="0" algn="ctr">
              <a:buNone/>
            </a:pPr>
            <a:r>
              <a:rPr lang="en-US" sz="1800" b="1" dirty="0">
                <a:solidFill>
                  <a:srgbClr val="0F1923"/>
                </a:solidFill>
                <a:latin typeface="Arial" pitchFamily="34" charset="0"/>
                <a:ea typeface="Arial" pitchFamily="34" charset="-122"/>
                <a:cs typeface="Arial" pitchFamily="34" charset="-120"/>
              </a:rPr>
              <a:t>1</a:t>
            </a:r>
            <a:endParaRPr lang="en-US" sz="1800" dirty="0"/>
          </a:p>
        </p:txBody>
      </p:sp>
      <p:sp>
        <p:nvSpPr>
          <p:cNvPr id="11" name="Text 9"/>
          <p:cNvSpPr/>
          <p:nvPr/>
        </p:nvSpPr>
        <p:spPr>
          <a:xfrm>
            <a:off x="365760" y="274320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Raw Data</a:t>
            </a:r>
            <a:endParaRPr lang="en-US" sz="1300" dirty="0"/>
          </a:p>
        </p:txBody>
      </p:sp>
      <p:sp>
        <p:nvSpPr>
          <p:cNvPr id="12" name="Text 10"/>
          <p:cNvSpPr/>
          <p:nvPr/>
        </p:nvSpPr>
        <p:spPr>
          <a:xfrm>
            <a:off x="365760" y="320040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33,674 records</a:t>
            </a:r>
            <a:endParaRPr lang="en-US" sz="1050" dirty="0"/>
          </a:p>
        </p:txBody>
      </p:sp>
      <p:sp>
        <p:nvSpPr>
          <p:cNvPr id="13" name="Text 11"/>
          <p:cNvSpPr/>
          <p:nvPr/>
        </p:nvSpPr>
        <p:spPr>
          <a:xfrm>
            <a:off x="365760" y="361188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29 months history</a:t>
            </a:r>
            <a:endParaRPr lang="en-US" sz="1050" dirty="0"/>
          </a:p>
        </p:txBody>
      </p:sp>
      <p:sp>
        <p:nvSpPr>
          <p:cNvPr id="14" name="Text 12"/>
          <p:cNvSpPr/>
          <p:nvPr/>
        </p:nvSpPr>
        <p:spPr>
          <a:xfrm>
            <a:off x="365760" y="402336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5 data dimensions</a:t>
            </a:r>
            <a:endParaRPr lang="en-US" sz="1050" dirty="0"/>
          </a:p>
        </p:txBody>
      </p:sp>
      <p:sp>
        <p:nvSpPr>
          <p:cNvPr id="15" name="Text 13"/>
          <p:cNvSpPr/>
          <p:nvPr/>
        </p:nvSpPr>
        <p:spPr>
          <a:xfrm>
            <a:off x="1847088" y="3017520"/>
            <a:ext cx="146304" cy="457200"/>
          </a:xfrm>
          <a:prstGeom prst="rect">
            <a:avLst/>
          </a:prstGeom>
          <a:noFill/>
          <a:ln/>
        </p:spPr>
        <p:txBody>
          <a:bodyPr wrap="square" lIns="0" tIns="0" rIns="0" bIns="0" rtlCol="0" anchor="ctr"/>
          <a:lstStyle/>
          <a:p>
            <a:pPr marL="0" indent="0" algn="ctr">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2011680" y="1920240"/>
            <a:ext cx="1508760" cy="2743200"/>
          </a:xfrm>
          <a:prstGeom prst="rect">
            <a:avLst/>
          </a:prstGeom>
          <a:solidFill>
            <a:srgbClr val="172A3A"/>
          </a:solidFill>
          <a:ln w="19050">
            <a:solidFill>
              <a:srgbClr val="2196F3"/>
            </a:solidFill>
            <a:prstDash val="solid"/>
          </a:ln>
        </p:spPr>
        <p:txBody>
          <a:bodyPr/>
          <a:lstStyle/>
          <a:p>
            <a:endParaRPr lang="en-US"/>
          </a:p>
        </p:txBody>
      </p:sp>
      <p:sp>
        <p:nvSpPr>
          <p:cNvPr id="17" name="Shape 15"/>
          <p:cNvSpPr/>
          <p:nvPr/>
        </p:nvSpPr>
        <p:spPr>
          <a:xfrm>
            <a:off x="2011680" y="1920240"/>
            <a:ext cx="1508760" cy="54864"/>
          </a:xfrm>
          <a:prstGeom prst="rect">
            <a:avLst/>
          </a:prstGeom>
          <a:solidFill>
            <a:srgbClr val="2196F3"/>
          </a:solidFill>
          <a:ln/>
        </p:spPr>
        <p:txBody>
          <a:bodyPr/>
          <a:lstStyle/>
          <a:p>
            <a:endParaRPr lang="en-US"/>
          </a:p>
        </p:txBody>
      </p:sp>
      <p:sp>
        <p:nvSpPr>
          <p:cNvPr id="18" name="Shape 16"/>
          <p:cNvSpPr/>
          <p:nvPr/>
        </p:nvSpPr>
        <p:spPr>
          <a:xfrm>
            <a:off x="2514600" y="2103120"/>
            <a:ext cx="502920" cy="502920"/>
          </a:xfrm>
          <a:prstGeom prst="ellipse">
            <a:avLst/>
          </a:prstGeom>
          <a:solidFill>
            <a:srgbClr val="2196F3"/>
          </a:solidFill>
          <a:ln/>
        </p:spPr>
        <p:txBody>
          <a:bodyPr/>
          <a:lstStyle/>
          <a:p>
            <a:endParaRPr lang="en-US"/>
          </a:p>
        </p:txBody>
      </p:sp>
      <p:sp>
        <p:nvSpPr>
          <p:cNvPr id="19" name="Text 17"/>
          <p:cNvSpPr/>
          <p:nvPr/>
        </p:nvSpPr>
        <p:spPr>
          <a:xfrm>
            <a:off x="2514600" y="2103120"/>
            <a:ext cx="502920" cy="502920"/>
          </a:xfrm>
          <a:prstGeom prst="rect">
            <a:avLst/>
          </a:prstGeom>
          <a:noFill/>
          <a:ln/>
        </p:spPr>
        <p:txBody>
          <a:bodyPr wrap="square" lIns="0" tIns="0" rIns="0" bIns="0" rtlCol="0" anchor="ctr"/>
          <a:lstStyle/>
          <a:p>
            <a:pPr marL="0" indent="0" algn="ctr">
              <a:buNone/>
            </a:pPr>
            <a:r>
              <a:rPr lang="en-US" sz="1800" b="1" dirty="0">
                <a:solidFill>
                  <a:srgbClr val="0F1923"/>
                </a:solidFill>
                <a:latin typeface="Arial" pitchFamily="34" charset="0"/>
                <a:ea typeface="Arial" pitchFamily="34" charset="-122"/>
                <a:cs typeface="Arial" pitchFamily="34" charset="-120"/>
              </a:rPr>
              <a:t>2</a:t>
            </a:r>
            <a:endParaRPr lang="en-US" sz="1800" dirty="0"/>
          </a:p>
        </p:txBody>
      </p:sp>
      <p:sp>
        <p:nvSpPr>
          <p:cNvPr id="20" name="Text 18"/>
          <p:cNvSpPr/>
          <p:nvPr/>
        </p:nvSpPr>
        <p:spPr>
          <a:xfrm>
            <a:off x="2057400" y="274320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Data Quality</a:t>
            </a:r>
            <a:endParaRPr lang="en-US" sz="1300" dirty="0"/>
          </a:p>
        </p:txBody>
      </p:sp>
      <p:sp>
        <p:nvSpPr>
          <p:cNvPr id="21" name="Text 19"/>
          <p:cNvSpPr/>
          <p:nvPr/>
        </p:nvSpPr>
        <p:spPr>
          <a:xfrm>
            <a:off x="2057400" y="320040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Outlier detection</a:t>
            </a:r>
            <a:endParaRPr lang="en-US" sz="1050" dirty="0"/>
          </a:p>
        </p:txBody>
      </p:sp>
      <p:sp>
        <p:nvSpPr>
          <p:cNvPr id="22" name="Text 20"/>
          <p:cNvSpPr/>
          <p:nvPr/>
        </p:nvSpPr>
        <p:spPr>
          <a:xfrm>
            <a:off x="2057400" y="361188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Spike correction</a:t>
            </a:r>
            <a:endParaRPr lang="en-US" sz="1050" dirty="0"/>
          </a:p>
        </p:txBody>
      </p:sp>
      <p:sp>
        <p:nvSpPr>
          <p:cNvPr id="23" name="Text 21"/>
          <p:cNvSpPr/>
          <p:nvPr/>
        </p:nvSpPr>
        <p:spPr>
          <a:xfrm>
            <a:off x="2057400" y="402336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Completeness checks</a:t>
            </a:r>
            <a:endParaRPr lang="en-US" sz="1050" dirty="0"/>
          </a:p>
        </p:txBody>
      </p:sp>
      <p:sp>
        <p:nvSpPr>
          <p:cNvPr id="24" name="Text 22"/>
          <p:cNvSpPr/>
          <p:nvPr/>
        </p:nvSpPr>
        <p:spPr>
          <a:xfrm>
            <a:off x="3538728" y="3017520"/>
            <a:ext cx="146304" cy="457200"/>
          </a:xfrm>
          <a:prstGeom prst="rect">
            <a:avLst/>
          </a:prstGeom>
          <a:noFill/>
          <a:ln/>
        </p:spPr>
        <p:txBody>
          <a:bodyPr wrap="square" lIns="0" tIns="0" rIns="0" bIns="0" rtlCol="0" anchor="ctr"/>
          <a:lstStyle/>
          <a:p>
            <a:pPr marL="0" indent="0" algn="ctr">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25" name="Shape 23"/>
          <p:cNvSpPr/>
          <p:nvPr/>
        </p:nvSpPr>
        <p:spPr>
          <a:xfrm>
            <a:off x="3703320" y="1920240"/>
            <a:ext cx="1508760" cy="2743200"/>
          </a:xfrm>
          <a:prstGeom prst="rect">
            <a:avLst/>
          </a:prstGeom>
          <a:solidFill>
            <a:srgbClr val="172A3A"/>
          </a:solidFill>
          <a:ln w="19050">
            <a:solidFill>
              <a:srgbClr val="F9A825"/>
            </a:solidFill>
            <a:prstDash val="solid"/>
          </a:ln>
        </p:spPr>
        <p:txBody>
          <a:bodyPr/>
          <a:lstStyle/>
          <a:p>
            <a:endParaRPr lang="en-US"/>
          </a:p>
        </p:txBody>
      </p:sp>
      <p:sp>
        <p:nvSpPr>
          <p:cNvPr id="26" name="Shape 24"/>
          <p:cNvSpPr/>
          <p:nvPr/>
        </p:nvSpPr>
        <p:spPr>
          <a:xfrm>
            <a:off x="3703320" y="1920240"/>
            <a:ext cx="1508760" cy="54864"/>
          </a:xfrm>
          <a:prstGeom prst="rect">
            <a:avLst/>
          </a:prstGeom>
          <a:solidFill>
            <a:srgbClr val="F9A825"/>
          </a:solidFill>
          <a:ln/>
        </p:spPr>
        <p:txBody>
          <a:bodyPr/>
          <a:lstStyle/>
          <a:p>
            <a:endParaRPr lang="en-US"/>
          </a:p>
        </p:txBody>
      </p:sp>
      <p:sp>
        <p:nvSpPr>
          <p:cNvPr id="27" name="Shape 25"/>
          <p:cNvSpPr/>
          <p:nvPr/>
        </p:nvSpPr>
        <p:spPr>
          <a:xfrm>
            <a:off x="4206240" y="2103120"/>
            <a:ext cx="502920" cy="502920"/>
          </a:xfrm>
          <a:prstGeom prst="ellipse">
            <a:avLst/>
          </a:prstGeom>
          <a:solidFill>
            <a:srgbClr val="F9A825"/>
          </a:solidFill>
          <a:ln/>
        </p:spPr>
        <p:txBody>
          <a:bodyPr/>
          <a:lstStyle/>
          <a:p>
            <a:endParaRPr lang="en-US"/>
          </a:p>
        </p:txBody>
      </p:sp>
      <p:sp>
        <p:nvSpPr>
          <p:cNvPr id="28" name="Text 26"/>
          <p:cNvSpPr/>
          <p:nvPr/>
        </p:nvSpPr>
        <p:spPr>
          <a:xfrm>
            <a:off x="4206240" y="2103120"/>
            <a:ext cx="502920" cy="502920"/>
          </a:xfrm>
          <a:prstGeom prst="rect">
            <a:avLst/>
          </a:prstGeom>
          <a:noFill/>
          <a:ln/>
        </p:spPr>
        <p:txBody>
          <a:bodyPr wrap="square" lIns="0" tIns="0" rIns="0" bIns="0" rtlCol="0" anchor="ctr"/>
          <a:lstStyle/>
          <a:p>
            <a:pPr marL="0" indent="0" algn="ctr">
              <a:buNone/>
            </a:pPr>
            <a:r>
              <a:rPr lang="en-US" sz="1800" b="1" dirty="0">
                <a:solidFill>
                  <a:srgbClr val="0F1923"/>
                </a:solidFill>
                <a:latin typeface="Arial" pitchFamily="34" charset="0"/>
                <a:ea typeface="Arial" pitchFamily="34" charset="-122"/>
                <a:cs typeface="Arial" pitchFamily="34" charset="-120"/>
              </a:rPr>
              <a:t>3</a:t>
            </a:r>
            <a:endParaRPr lang="en-US" sz="1800" dirty="0"/>
          </a:p>
        </p:txBody>
      </p:sp>
      <p:sp>
        <p:nvSpPr>
          <p:cNvPr id="29" name="Text 27"/>
          <p:cNvSpPr/>
          <p:nvPr/>
        </p:nvSpPr>
        <p:spPr>
          <a:xfrm>
            <a:off x="3749040" y="274320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SAP PAL Training</a:t>
            </a:r>
            <a:endParaRPr lang="en-US" sz="1300" dirty="0"/>
          </a:p>
        </p:txBody>
      </p:sp>
      <p:sp>
        <p:nvSpPr>
          <p:cNvPr id="30" name="Text 28"/>
          <p:cNvSpPr/>
          <p:nvPr/>
        </p:nvSpPr>
        <p:spPr>
          <a:xfrm>
            <a:off x="3749040" y="320040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SES | SARIMA | BSTS</a:t>
            </a:r>
            <a:endParaRPr lang="en-US" sz="1050" dirty="0"/>
          </a:p>
        </p:txBody>
      </p:sp>
      <p:sp>
        <p:nvSpPr>
          <p:cNvPr id="31" name="Text 29"/>
          <p:cNvSpPr/>
          <p:nvPr/>
        </p:nvSpPr>
        <p:spPr>
          <a:xfrm>
            <a:off x="3749040" y="361188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All via SAP PAL</a:t>
            </a:r>
            <a:endParaRPr lang="en-US" sz="1050" dirty="0"/>
          </a:p>
        </p:txBody>
      </p:sp>
      <p:sp>
        <p:nvSpPr>
          <p:cNvPr id="32" name="Text 30"/>
          <p:cNvSpPr/>
          <p:nvPr/>
        </p:nvSpPr>
        <p:spPr>
          <a:xfrm>
            <a:off x="3749040" y="402336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Per accessory code</a:t>
            </a:r>
            <a:endParaRPr lang="en-US" sz="1050" dirty="0"/>
          </a:p>
        </p:txBody>
      </p:sp>
      <p:sp>
        <p:nvSpPr>
          <p:cNvPr id="33" name="Text 31"/>
          <p:cNvSpPr/>
          <p:nvPr/>
        </p:nvSpPr>
        <p:spPr>
          <a:xfrm>
            <a:off x="5230368" y="3017520"/>
            <a:ext cx="146304" cy="457200"/>
          </a:xfrm>
          <a:prstGeom prst="rect">
            <a:avLst/>
          </a:prstGeom>
          <a:noFill/>
          <a:ln/>
        </p:spPr>
        <p:txBody>
          <a:bodyPr wrap="square" lIns="0" tIns="0" rIns="0" bIns="0" rtlCol="0" anchor="ctr"/>
          <a:lstStyle/>
          <a:p>
            <a:pPr marL="0" indent="0" algn="ctr">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34" name="Shape 32"/>
          <p:cNvSpPr/>
          <p:nvPr/>
        </p:nvSpPr>
        <p:spPr>
          <a:xfrm>
            <a:off x="5394960" y="1920240"/>
            <a:ext cx="1508760" cy="2743200"/>
          </a:xfrm>
          <a:prstGeom prst="rect">
            <a:avLst/>
          </a:prstGeom>
          <a:solidFill>
            <a:srgbClr val="172A3A"/>
          </a:solidFill>
          <a:ln w="19050">
            <a:solidFill>
              <a:srgbClr val="FF9800"/>
            </a:solidFill>
            <a:prstDash val="solid"/>
          </a:ln>
        </p:spPr>
        <p:txBody>
          <a:bodyPr/>
          <a:lstStyle/>
          <a:p>
            <a:endParaRPr lang="en-US"/>
          </a:p>
        </p:txBody>
      </p:sp>
      <p:sp>
        <p:nvSpPr>
          <p:cNvPr id="35" name="Shape 33"/>
          <p:cNvSpPr/>
          <p:nvPr/>
        </p:nvSpPr>
        <p:spPr>
          <a:xfrm>
            <a:off x="5394960" y="1920240"/>
            <a:ext cx="1508760" cy="54864"/>
          </a:xfrm>
          <a:prstGeom prst="rect">
            <a:avLst/>
          </a:prstGeom>
          <a:solidFill>
            <a:srgbClr val="FF9800"/>
          </a:solidFill>
          <a:ln/>
        </p:spPr>
        <p:txBody>
          <a:bodyPr/>
          <a:lstStyle/>
          <a:p>
            <a:endParaRPr lang="en-US"/>
          </a:p>
        </p:txBody>
      </p:sp>
      <p:sp>
        <p:nvSpPr>
          <p:cNvPr id="36" name="Shape 34"/>
          <p:cNvSpPr/>
          <p:nvPr/>
        </p:nvSpPr>
        <p:spPr>
          <a:xfrm>
            <a:off x="5897880" y="2103120"/>
            <a:ext cx="502920" cy="502920"/>
          </a:xfrm>
          <a:prstGeom prst="ellipse">
            <a:avLst/>
          </a:prstGeom>
          <a:solidFill>
            <a:srgbClr val="FF9800"/>
          </a:solidFill>
          <a:ln/>
        </p:spPr>
        <p:txBody>
          <a:bodyPr/>
          <a:lstStyle/>
          <a:p>
            <a:endParaRPr lang="en-US"/>
          </a:p>
        </p:txBody>
      </p:sp>
      <p:sp>
        <p:nvSpPr>
          <p:cNvPr id="37" name="Text 35"/>
          <p:cNvSpPr/>
          <p:nvPr/>
        </p:nvSpPr>
        <p:spPr>
          <a:xfrm>
            <a:off x="5897880" y="2103120"/>
            <a:ext cx="502920" cy="502920"/>
          </a:xfrm>
          <a:prstGeom prst="rect">
            <a:avLst/>
          </a:prstGeom>
          <a:noFill/>
          <a:ln/>
        </p:spPr>
        <p:txBody>
          <a:bodyPr wrap="square" lIns="0" tIns="0" rIns="0" bIns="0" rtlCol="0" anchor="ctr"/>
          <a:lstStyle/>
          <a:p>
            <a:pPr marL="0" indent="0" algn="ctr">
              <a:buNone/>
            </a:pPr>
            <a:r>
              <a:rPr lang="en-US" sz="1800" b="1" dirty="0">
                <a:solidFill>
                  <a:srgbClr val="0F1923"/>
                </a:solidFill>
                <a:latin typeface="Arial" pitchFamily="34" charset="0"/>
                <a:ea typeface="Arial" pitchFamily="34" charset="-122"/>
                <a:cs typeface="Arial" pitchFamily="34" charset="-120"/>
              </a:rPr>
              <a:t>4</a:t>
            </a:r>
            <a:endParaRPr lang="en-US" sz="1800" dirty="0"/>
          </a:p>
        </p:txBody>
      </p:sp>
      <p:sp>
        <p:nvSpPr>
          <p:cNvPr id="38" name="Text 36"/>
          <p:cNvSpPr/>
          <p:nvPr/>
        </p:nvSpPr>
        <p:spPr>
          <a:xfrm>
            <a:off x="5440680" y="274320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Model Competition</a:t>
            </a:r>
            <a:endParaRPr lang="en-US" sz="1300" dirty="0"/>
          </a:p>
        </p:txBody>
      </p:sp>
      <p:sp>
        <p:nvSpPr>
          <p:cNvPr id="39" name="Text 37"/>
          <p:cNvSpPr/>
          <p:nvPr/>
        </p:nvSpPr>
        <p:spPr>
          <a:xfrm>
            <a:off x="5440680" y="320040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3-month holdout test</a:t>
            </a:r>
            <a:endParaRPr lang="en-US" sz="1050" dirty="0"/>
          </a:p>
        </p:txBody>
      </p:sp>
      <p:sp>
        <p:nvSpPr>
          <p:cNvPr id="40" name="Text 38"/>
          <p:cNvSpPr/>
          <p:nvPr/>
        </p:nvSpPr>
        <p:spPr>
          <a:xfrm>
            <a:off x="5440680" y="361188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MAPE / RMSE scoring</a:t>
            </a:r>
            <a:endParaRPr lang="en-US" sz="1050" dirty="0"/>
          </a:p>
        </p:txBody>
      </p:sp>
      <p:sp>
        <p:nvSpPr>
          <p:cNvPr id="41" name="Text 39"/>
          <p:cNvSpPr/>
          <p:nvPr/>
        </p:nvSpPr>
        <p:spPr>
          <a:xfrm>
            <a:off x="5440680" y="402336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Auto-select winner</a:t>
            </a:r>
            <a:endParaRPr lang="en-US" sz="1050" dirty="0"/>
          </a:p>
        </p:txBody>
      </p:sp>
      <p:sp>
        <p:nvSpPr>
          <p:cNvPr id="42" name="Text 40"/>
          <p:cNvSpPr/>
          <p:nvPr/>
        </p:nvSpPr>
        <p:spPr>
          <a:xfrm>
            <a:off x="6922008" y="3017520"/>
            <a:ext cx="146304" cy="457200"/>
          </a:xfrm>
          <a:prstGeom prst="rect">
            <a:avLst/>
          </a:prstGeom>
          <a:noFill/>
          <a:ln/>
        </p:spPr>
        <p:txBody>
          <a:bodyPr wrap="square" lIns="0" tIns="0" rIns="0" bIns="0" rtlCol="0" anchor="ctr"/>
          <a:lstStyle/>
          <a:p>
            <a:pPr marL="0" indent="0" algn="ctr">
              <a:buNone/>
            </a:pPr>
            <a:r>
              <a:rPr lang="en-US" sz="1400" dirty="0">
                <a:solidFill>
                  <a:srgbClr val="00BCD4"/>
                </a:solidFill>
                <a:latin typeface="Arial" pitchFamily="34" charset="0"/>
                <a:ea typeface="Arial" pitchFamily="34" charset="-122"/>
                <a:cs typeface="Arial" pitchFamily="34" charset="-120"/>
              </a:rPr>
              <a:t>▶</a:t>
            </a:r>
            <a:endParaRPr lang="en-US" sz="1400" dirty="0"/>
          </a:p>
        </p:txBody>
      </p:sp>
      <p:sp>
        <p:nvSpPr>
          <p:cNvPr id="43" name="Shape 41"/>
          <p:cNvSpPr/>
          <p:nvPr/>
        </p:nvSpPr>
        <p:spPr>
          <a:xfrm>
            <a:off x="7086600" y="1920240"/>
            <a:ext cx="1508760" cy="2743200"/>
          </a:xfrm>
          <a:prstGeom prst="rect">
            <a:avLst/>
          </a:prstGeom>
          <a:solidFill>
            <a:srgbClr val="172A3A"/>
          </a:solidFill>
          <a:ln w="19050">
            <a:solidFill>
              <a:srgbClr val="4CAF50"/>
            </a:solidFill>
            <a:prstDash val="solid"/>
          </a:ln>
        </p:spPr>
        <p:txBody>
          <a:bodyPr/>
          <a:lstStyle/>
          <a:p>
            <a:endParaRPr lang="en-US"/>
          </a:p>
        </p:txBody>
      </p:sp>
      <p:sp>
        <p:nvSpPr>
          <p:cNvPr id="44" name="Shape 42"/>
          <p:cNvSpPr/>
          <p:nvPr/>
        </p:nvSpPr>
        <p:spPr>
          <a:xfrm>
            <a:off x="7086600" y="1920240"/>
            <a:ext cx="1508760" cy="54864"/>
          </a:xfrm>
          <a:prstGeom prst="rect">
            <a:avLst/>
          </a:prstGeom>
          <a:solidFill>
            <a:srgbClr val="4CAF50"/>
          </a:solidFill>
          <a:ln/>
        </p:spPr>
        <p:txBody>
          <a:bodyPr/>
          <a:lstStyle/>
          <a:p>
            <a:endParaRPr lang="en-US"/>
          </a:p>
        </p:txBody>
      </p:sp>
      <p:sp>
        <p:nvSpPr>
          <p:cNvPr id="45" name="Shape 43"/>
          <p:cNvSpPr/>
          <p:nvPr/>
        </p:nvSpPr>
        <p:spPr>
          <a:xfrm>
            <a:off x="7589520" y="2103120"/>
            <a:ext cx="502920" cy="502920"/>
          </a:xfrm>
          <a:prstGeom prst="ellipse">
            <a:avLst/>
          </a:prstGeom>
          <a:solidFill>
            <a:srgbClr val="4CAF50"/>
          </a:solidFill>
          <a:ln/>
        </p:spPr>
        <p:txBody>
          <a:bodyPr/>
          <a:lstStyle/>
          <a:p>
            <a:endParaRPr lang="en-US"/>
          </a:p>
        </p:txBody>
      </p:sp>
      <p:sp>
        <p:nvSpPr>
          <p:cNvPr id="46" name="Text 44"/>
          <p:cNvSpPr/>
          <p:nvPr/>
        </p:nvSpPr>
        <p:spPr>
          <a:xfrm>
            <a:off x="7589520" y="2103120"/>
            <a:ext cx="502920" cy="502920"/>
          </a:xfrm>
          <a:prstGeom prst="rect">
            <a:avLst/>
          </a:prstGeom>
          <a:noFill/>
          <a:ln/>
        </p:spPr>
        <p:txBody>
          <a:bodyPr wrap="square" lIns="0" tIns="0" rIns="0" bIns="0" rtlCol="0" anchor="ctr"/>
          <a:lstStyle/>
          <a:p>
            <a:pPr marL="0" indent="0" algn="ctr">
              <a:buNone/>
            </a:pPr>
            <a:r>
              <a:rPr lang="en-US" sz="1800" b="1" dirty="0">
                <a:solidFill>
                  <a:srgbClr val="0F1923"/>
                </a:solidFill>
                <a:latin typeface="Arial" pitchFamily="34" charset="0"/>
                <a:ea typeface="Arial" pitchFamily="34" charset="-122"/>
                <a:cs typeface="Arial" pitchFamily="34" charset="-120"/>
              </a:rPr>
              <a:t>5</a:t>
            </a:r>
            <a:endParaRPr lang="en-US" sz="1800" dirty="0"/>
          </a:p>
        </p:txBody>
      </p:sp>
      <p:sp>
        <p:nvSpPr>
          <p:cNvPr id="47" name="Text 45"/>
          <p:cNvSpPr/>
          <p:nvPr/>
        </p:nvSpPr>
        <p:spPr>
          <a:xfrm>
            <a:off x="7132320" y="2743200"/>
            <a:ext cx="141732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Predictions</a:t>
            </a:r>
            <a:endParaRPr lang="en-US" sz="1300" dirty="0"/>
          </a:p>
        </p:txBody>
      </p:sp>
      <p:sp>
        <p:nvSpPr>
          <p:cNvPr id="48" name="Text 46"/>
          <p:cNvSpPr/>
          <p:nvPr/>
        </p:nvSpPr>
        <p:spPr>
          <a:xfrm>
            <a:off x="7132320" y="320040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12-month forecast</a:t>
            </a:r>
            <a:endParaRPr lang="en-US" sz="1050" dirty="0"/>
          </a:p>
        </p:txBody>
      </p:sp>
      <p:sp>
        <p:nvSpPr>
          <p:cNvPr id="49" name="Text 47"/>
          <p:cNvSpPr/>
          <p:nvPr/>
        </p:nvSpPr>
        <p:spPr>
          <a:xfrm>
            <a:off x="7132320" y="361188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38 acc codes</a:t>
            </a:r>
            <a:endParaRPr lang="en-US" sz="1050" dirty="0"/>
          </a:p>
        </p:txBody>
      </p:sp>
      <p:sp>
        <p:nvSpPr>
          <p:cNvPr id="50" name="Text 48"/>
          <p:cNvSpPr/>
          <p:nvPr/>
        </p:nvSpPr>
        <p:spPr>
          <a:xfrm>
            <a:off x="7132320" y="4023360"/>
            <a:ext cx="1417320" cy="365760"/>
          </a:xfrm>
          <a:prstGeom prst="rect">
            <a:avLst/>
          </a:prstGeom>
          <a:noFill/>
          <a:ln/>
        </p:spPr>
        <p:txBody>
          <a:bodyPr wrap="square" lIns="0" tIns="0" rIns="0" bIns="0" rtlCol="0" anchor="ctr"/>
          <a:lstStyle/>
          <a:p>
            <a:pPr marL="0" indent="0" algn="ctr">
              <a:buNone/>
            </a:pPr>
            <a:r>
              <a:rPr lang="en-US" sz="1050" dirty="0">
                <a:solidFill>
                  <a:srgbClr val="B0B8C0"/>
                </a:solidFill>
                <a:latin typeface="Arial" pitchFamily="34" charset="0"/>
                <a:ea typeface="Arial" pitchFamily="34" charset="-122"/>
                <a:cs typeface="Arial" pitchFamily="34" charset="-120"/>
              </a:rPr>
              <a:t>594 composite keys</a:t>
            </a:r>
            <a:endParaRPr lang="en-US" sz="1050" dirty="0"/>
          </a:p>
        </p:txBody>
      </p:sp>
      <p:sp>
        <p:nvSpPr>
          <p:cNvPr id="51" name="Shape 49"/>
          <p:cNvSpPr/>
          <p:nvPr/>
        </p:nvSpPr>
        <p:spPr>
          <a:xfrm>
            <a:off x="320040" y="4800600"/>
            <a:ext cx="8503920" cy="274320"/>
          </a:xfrm>
          <a:prstGeom prst="rect">
            <a:avLst/>
          </a:prstGeom>
          <a:solidFill>
            <a:srgbClr val="172A3A"/>
          </a:solidFill>
          <a:ln w="12700">
            <a:solidFill>
              <a:srgbClr val="00BCD4"/>
            </a:solidFill>
            <a:prstDash val="solid"/>
          </a:ln>
        </p:spPr>
        <p:txBody>
          <a:bodyPr/>
          <a:lstStyle/>
          <a:p>
            <a:endParaRPr lang="en-US"/>
          </a:p>
        </p:txBody>
      </p:sp>
      <p:sp>
        <p:nvSpPr>
          <p:cNvPr id="52" name="Text 50"/>
          <p:cNvSpPr/>
          <p:nvPr/>
        </p:nvSpPr>
        <p:spPr>
          <a:xfrm>
            <a:off x="320040" y="4800600"/>
            <a:ext cx="8503920" cy="274320"/>
          </a:xfrm>
          <a:prstGeom prst="rect">
            <a:avLst/>
          </a:prstGeom>
          <a:noFill/>
          <a:ln/>
        </p:spPr>
        <p:txBody>
          <a:bodyPr wrap="square" lIns="0" tIns="0" rIns="0" bIns="0" rtlCol="0" anchor="ctr"/>
          <a:lstStyle/>
          <a:p>
            <a:pPr marL="0" indent="0" algn="ctr">
              <a:buNone/>
            </a:pPr>
            <a:r>
              <a:rPr lang="en-US" sz="1000" dirty="0">
                <a:solidFill>
                  <a:srgbClr val="00BCD4"/>
                </a:solidFill>
                <a:latin typeface="Arial" pitchFamily="34" charset="0"/>
                <a:ea typeface="Arial" pitchFamily="34" charset="-122"/>
                <a:cs typeface="Arial" pitchFamily="34" charset="-120"/>
              </a:rPr>
              <a:t>All processing runs inside SAP HANA Cloud  —  Python sends instructions, HANA does the math  —  results stored in HANA tables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txBody>
          <a:bodyPr/>
          <a:lstStyle/>
          <a:p>
            <a:endParaRPr lang="en-US"/>
          </a:p>
        </p:txBody>
      </p:sp>
      <p:sp>
        <p:nvSpPr>
          <p:cNvPr id="3" name="Shape 1"/>
          <p:cNvSpPr/>
          <p:nvPr/>
        </p:nvSpPr>
        <p:spPr>
          <a:xfrm>
            <a:off x="457200" y="228600"/>
            <a:ext cx="2011680" cy="365760"/>
          </a:xfrm>
          <a:prstGeom prst="rect">
            <a:avLst/>
          </a:prstGeom>
          <a:solidFill>
            <a:srgbClr val="F9A825"/>
          </a:solidFill>
          <a:ln/>
        </p:spPr>
        <p:txBody>
          <a:bodyPr/>
          <a:lstStyle/>
          <a:p>
            <a:endParaRPr lang="en-US"/>
          </a:p>
        </p:txBody>
      </p:sp>
      <p:sp>
        <p:nvSpPr>
          <p:cNvPr id="4" name="Text 2"/>
          <p:cNvSpPr/>
          <p:nvPr/>
        </p:nvSpPr>
        <p:spPr>
          <a:xfrm>
            <a:off x="457200" y="228600"/>
            <a:ext cx="2011680" cy="365760"/>
          </a:xfrm>
          <a:prstGeom prst="rect">
            <a:avLst/>
          </a:prstGeom>
          <a:noFill/>
          <a:ln/>
        </p:spPr>
        <p:txBody>
          <a:bodyPr wrap="square" lIns="0" tIns="0" rIns="0" bIns="0" rtlCol="0" anchor="ctr"/>
          <a:lstStyle/>
          <a:p>
            <a:pPr marL="0" indent="0" algn="ctr">
              <a:buNone/>
            </a:pPr>
            <a:r>
              <a:rPr lang="en-US" sz="1000" b="1" dirty="0">
                <a:solidFill>
                  <a:srgbClr val="1A1A1A"/>
                </a:solidFill>
                <a:latin typeface="Arial" pitchFamily="34" charset="0"/>
                <a:ea typeface="Arial" pitchFamily="34" charset="-122"/>
                <a:cs typeface="Arial" pitchFamily="34" charset="-120"/>
              </a:rPr>
              <a:t>MODEL RESULTS</a:t>
            </a:r>
            <a:endParaRPr lang="en-US" sz="10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Three Models Compete, Best One Wins</a:t>
            </a:r>
            <a:endParaRPr lang="en-US" sz="3400" dirty="0"/>
          </a:p>
        </p:txBody>
      </p:sp>
      <p:sp>
        <p:nvSpPr>
          <p:cNvPr id="6" name="Text 4"/>
          <p:cNvSpPr/>
          <p:nvPr/>
        </p:nvSpPr>
        <p:spPr>
          <a:xfrm>
            <a:off x="457200" y="1234440"/>
            <a:ext cx="8229600" cy="365760"/>
          </a:xfrm>
          <a:prstGeom prst="rect">
            <a:avLst/>
          </a:prstGeom>
          <a:noFill/>
          <a:ln/>
        </p:spPr>
        <p:txBody>
          <a:bodyPr wrap="square" lIns="0" tIns="0" rIns="0" bIns="0" rtlCol="0" anchor="ctr"/>
          <a:lstStyle/>
          <a:p>
            <a:pPr marL="0" indent="0">
              <a:buNone/>
            </a:pPr>
            <a:r>
              <a:rPr lang="en-US" sz="1300" dirty="0">
                <a:solidFill>
                  <a:srgbClr val="B0B8C0"/>
                </a:solidFill>
                <a:latin typeface="Arial" pitchFamily="34" charset="0"/>
                <a:ea typeface="Arial" pitchFamily="34" charset="-122"/>
                <a:cs typeface="Arial" pitchFamily="34" charset="-120"/>
              </a:rPr>
              <a:t>Trained on historical data, tested on 3-month holdout, best model auto-selected per accessory by lowest MAPE</a:t>
            </a:r>
            <a:endParaRPr lang="en-US" sz="1300" dirty="0"/>
          </a:p>
        </p:txBody>
      </p:sp>
      <p:sp>
        <p:nvSpPr>
          <p:cNvPr id="7" name="Shape 5"/>
          <p:cNvSpPr/>
          <p:nvPr/>
        </p:nvSpPr>
        <p:spPr>
          <a:xfrm>
            <a:off x="457200" y="1783080"/>
            <a:ext cx="4754880" cy="2880360"/>
          </a:xfrm>
          <a:prstGeom prst="rect">
            <a:avLst/>
          </a:prstGeom>
          <a:solidFill>
            <a:srgbClr val="172A3A"/>
          </a:solidFill>
          <a:ln w="19050">
            <a:solidFill>
              <a:srgbClr val="00BCD4"/>
            </a:solidFill>
            <a:prstDash val="solid"/>
          </a:ln>
        </p:spPr>
        <p:txBody>
          <a:bodyPr/>
          <a:lstStyle/>
          <a:p>
            <a:endParaRPr lang="en-US"/>
          </a:p>
        </p:txBody>
      </p:sp>
      <p:sp>
        <p:nvSpPr>
          <p:cNvPr id="8" name="Text 6"/>
          <p:cNvSpPr/>
          <p:nvPr/>
        </p:nvSpPr>
        <p:spPr>
          <a:xfrm>
            <a:off x="640080" y="1874520"/>
            <a:ext cx="2743200" cy="274320"/>
          </a:xfrm>
          <a:prstGeom prst="rect">
            <a:avLst/>
          </a:prstGeom>
          <a:noFill/>
          <a:ln/>
        </p:spPr>
        <p:txBody>
          <a:bodyPr wrap="square" lIns="0" tIns="0" rIns="0" bIns="0" rtlCol="0" anchor="ctr"/>
          <a:lstStyle/>
          <a:p>
            <a:pPr marL="0" indent="0" algn="l">
              <a:buNone/>
            </a:pPr>
            <a:r>
              <a:rPr lang="en-US" sz="1000" b="1" dirty="0">
                <a:solidFill>
                  <a:srgbClr val="00BCD4"/>
                </a:solidFill>
                <a:latin typeface="Arial" pitchFamily="34" charset="0"/>
                <a:ea typeface="Arial" pitchFamily="34" charset="-122"/>
                <a:cs typeface="Arial" pitchFamily="34" charset="-120"/>
              </a:rPr>
              <a:t>EXAMPLE: ACCCODE D49</a:t>
            </a:r>
            <a:endParaRPr lang="en-US" sz="1000" dirty="0"/>
          </a:p>
        </p:txBody>
      </p:sp>
      <p:sp>
        <p:nvSpPr>
          <p:cNvPr id="9" name="Text 7"/>
          <p:cNvSpPr/>
          <p:nvPr/>
        </p:nvSpPr>
        <p:spPr>
          <a:xfrm>
            <a:off x="640080" y="2103120"/>
            <a:ext cx="4389120" cy="228600"/>
          </a:xfrm>
          <a:prstGeom prst="rect">
            <a:avLst/>
          </a:prstGeom>
          <a:noFill/>
          <a:ln/>
        </p:spPr>
        <p:txBody>
          <a:bodyPr wrap="square" lIns="0" tIns="0" rIns="0" bIns="0" rtlCol="0" anchor="ctr"/>
          <a:lstStyle/>
          <a:p>
            <a:pPr marL="0" indent="0" algn="l">
              <a:buNone/>
            </a:pPr>
            <a:r>
              <a:rPr lang="en-US" sz="900" dirty="0">
                <a:solidFill>
                  <a:srgbClr val="B0B8C0"/>
                </a:solidFill>
                <a:latin typeface="Arial" pitchFamily="34" charset="0"/>
                <a:ea typeface="Arial" pitchFamily="34" charset="-122"/>
                <a:cs typeface="Arial" pitchFamily="34" charset="-120"/>
              </a:rPr>
              <a:t>Trained on 50 months  ·  Tested on 3 months  ·  Forecasted 12 months</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423160"/>
          <a:ext cx="4023360" cy="1234440"/>
        </p:xfrm>
        <a:graphic>
          <a:graphicData uri="http://schemas.openxmlformats.org/drawingml/2006/table">
            <a:tbl>
              <a:tblPr/>
              <a:tblGrid>
                <a:gridCol w="10972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74320">
                <a:tc>
                  <a:txBody>
                    <a:bodyPr/>
                    <a:lstStyle/>
                    <a:p>
                      <a:pPr marL="0" indent="0" algn="ctr">
                        <a:buNone/>
                      </a:pPr>
                      <a:r>
                        <a:rPr lang="en-US" sz="900" b="1" dirty="0">
                          <a:solidFill>
                            <a:srgbClr val="B0B8C0"/>
                          </a:solidFill>
                        </a:rPr>
                        <a:t>MODEL</a:t>
                      </a:r>
                      <a:endParaRPr lang="en-US" sz="9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marL="0" indent="0" algn="ctr">
                        <a:buNone/>
                      </a:pPr>
                      <a:r>
                        <a:rPr lang="en-US" sz="900" b="1" dirty="0">
                          <a:solidFill>
                            <a:srgbClr val="B0B8C0"/>
                          </a:solidFill>
                        </a:rPr>
                        <a:t>MAPE</a:t>
                      </a:r>
                      <a:endParaRPr lang="en-US" sz="9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marL="0" indent="0" algn="ctr">
                        <a:buNone/>
                      </a:pPr>
                      <a:r>
                        <a:rPr lang="en-US" sz="900" b="1" dirty="0">
                          <a:solidFill>
                            <a:srgbClr val="B0B8C0"/>
                          </a:solidFill>
                        </a:rPr>
                        <a:t>RMSE</a:t>
                      </a:r>
                      <a:endParaRPr lang="en-US" sz="9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tc>
                  <a:txBody>
                    <a:bodyPr/>
                    <a:lstStyle/>
                    <a:p>
                      <a:pPr marL="0" indent="0" algn="ctr">
                        <a:buNone/>
                      </a:pPr>
                      <a:r>
                        <a:rPr lang="en-US" sz="900" b="1" dirty="0">
                          <a:solidFill>
                            <a:srgbClr val="B0B8C0"/>
                          </a:solidFill>
                        </a:rPr>
                        <a:t>SELECTED</a:t>
                      </a:r>
                      <a:endParaRPr lang="en-US" sz="9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D1520"/>
                    </a:solidFill>
                  </a:tcPr>
                </a:tc>
                <a:extLst>
                  <a:ext uri="{0D108BD9-81ED-4DB2-BD59-A6C34878D82A}">
                    <a16:rowId xmlns:a16="http://schemas.microsoft.com/office/drawing/2014/main" val="10000"/>
                  </a:ext>
                </a:extLst>
              </a:tr>
              <a:tr h="320040">
                <a:tc>
                  <a:txBody>
                    <a:bodyPr/>
                    <a:lstStyle/>
                    <a:p>
                      <a:pPr marL="0" indent="0" algn="ctr">
                        <a:buNone/>
                      </a:pPr>
                      <a:r>
                        <a:rPr lang="en-US" sz="1000" b="1" dirty="0">
                          <a:solidFill>
                            <a:srgbClr val="F9A825"/>
                          </a:solidFill>
                        </a:rPr>
                        <a:t>SARIMA</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r>
                        <a:rPr lang="en-US" sz="1000" dirty="0">
                          <a:solidFill>
                            <a:srgbClr val="FFFFFF"/>
                          </a:solidFill>
                        </a:rPr>
                        <a:t>8.9%</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r>
                        <a:rPr lang="en-US" sz="1000" dirty="0">
                          <a:solidFill>
                            <a:srgbClr val="FFFFFF"/>
                          </a:solidFill>
                        </a:rPr>
                        <a:t>1,808.6</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r>
                        <a:rPr lang="en-US" sz="1000" b="1" dirty="0">
                          <a:solidFill>
                            <a:srgbClr val="4CAF50"/>
                          </a:solidFill>
                        </a:rPr>
                        <a:t>✓ Best</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extLst>
                  <a:ext uri="{0D108BD9-81ED-4DB2-BD59-A6C34878D82A}">
                    <a16:rowId xmlns:a16="http://schemas.microsoft.com/office/drawing/2014/main" val="10001"/>
                  </a:ext>
                </a:extLst>
              </a:tr>
              <a:tr h="320040">
                <a:tc>
                  <a:txBody>
                    <a:bodyPr/>
                    <a:lstStyle/>
                    <a:p>
                      <a:pPr marL="0" indent="0" algn="ctr">
                        <a:buNone/>
                      </a:pPr>
                      <a:r>
                        <a:rPr lang="en-US" sz="1000" b="1" dirty="0">
                          <a:solidFill>
                            <a:srgbClr val="00BCD4"/>
                          </a:solidFill>
                        </a:rPr>
                        <a:t>BSTS</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r>
                        <a:rPr lang="en-US" sz="1000" dirty="0">
                          <a:solidFill>
                            <a:srgbClr val="B0B8C0"/>
                          </a:solidFill>
                        </a:rPr>
                        <a:t>14.6%</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r>
                        <a:rPr lang="en-US" sz="1000" dirty="0">
                          <a:solidFill>
                            <a:srgbClr val="B0B8C0"/>
                          </a:solidFill>
                        </a:rPr>
                        <a:t>1,890.2</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extLst>
                  <a:ext uri="{0D108BD9-81ED-4DB2-BD59-A6C34878D82A}">
                    <a16:rowId xmlns:a16="http://schemas.microsoft.com/office/drawing/2014/main" val="10002"/>
                  </a:ext>
                </a:extLst>
              </a:tr>
              <a:tr h="320040">
                <a:tc>
                  <a:txBody>
                    <a:bodyPr/>
                    <a:lstStyle/>
                    <a:p>
                      <a:pPr marL="0" indent="0" algn="ctr">
                        <a:buNone/>
                      </a:pPr>
                      <a:r>
                        <a:rPr lang="en-US" sz="1000" b="1" dirty="0">
                          <a:solidFill>
                            <a:srgbClr val="E53935"/>
                          </a:solidFill>
                        </a:rPr>
                        <a:t>SES</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r>
                        <a:rPr lang="en-US" sz="1000" dirty="0">
                          <a:solidFill>
                            <a:srgbClr val="B0B8C0"/>
                          </a:solidFill>
                        </a:rPr>
                        <a:t>17.2%</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r>
                        <a:rPr lang="en-US" sz="1000" dirty="0">
                          <a:solidFill>
                            <a:srgbClr val="B0B8C0"/>
                          </a:solidFill>
                        </a:rPr>
                        <a:t>1,982.8</a:t>
                      </a: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tc>
                  <a:txBody>
                    <a:bodyPr/>
                    <a:lstStyle/>
                    <a:p>
                      <a:pPr marL="0" indent="0" algn="ctr">
                        <a:buNone/>
                      </a:pPr>
                      <a:endParaRPr lang="en-US" sz="1000" dirty="0"/>
                    </a:p>
                  </a:txBody>
                  <a:tcP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72A3A"/>
                    </a:solidFill>
                  </a:tcPr>
                </a:tc>
                <a:extLst>
                  <a:ext uri="{0D108BD9-81ED-4DB2-BD59-A6C34878D82A}">
                    <a16:rowId xmlns:a16="http://schemas.microsoft.com/office/drawing/2014/main" val="10003"/>
                  </a:ext>
                </a:extLst>
              </a:tr>
            </a:tbl>
          </a:graphicData>
        </a:graphic>
      </p:graphicFrame>
      <p:sp>
        <p:nvSpPr>
          <p:cNvPr id="11" name="Text 8"/>
          <p:cNvSpPr/>
          <p:nvPr/>
        </p:nvSpPr>
        <p:spPr>
          <a:xfrm>
            <a:off x="640080" y="3657600"/>
            <a:ext cx="4389120" cy="868680"/>
          </a:xfrm>
          <a:prstGeom prst="rect">
            <a:avLst/>
          </a:prstGeom>
          <a:noFill/>
          <a:ln/>
        </p:spPr>
        <p:txBody>
          <a:bodyPr wrap="square" lIns="0" tIns="0" rIns="0" bIns="0" rtlCol="0" anchor="t"/>
          <a:lstStyle/>
          <a:p>
            <a:pPr marL="0" indent="0" algn="l">
              <a:buNone/>
            </a:pPr>
            <a:r>
              <a:rPr lang="en-US" sz="950" dirty="0">
                <a:solidFill>
                  <a:srgbClr val="B0B8C0"/>
                </a:solidFill>
                <a:latin typeface="Arial" pitchFamily="34" charset="0"/>
                <a:ea typeface="Arial" pitchFamily="34" charset="-122"/>
                <a:cs typeface="Arial" pitchFamily="34" charset="-120"/>
              </a:rPr>
              <a:t>The model with lowest MAPE on the 3-month holdout wins.</a:t>
            </a:r>
            <a:endParaRPr lang="en-US" sz="950" dirty="0"/>
          </a:p>
          <a:p>
            <a:pPr marL="0" indent="0" algn="l">
              <a:buNone/>
            </a:pPr>
            <a:r>
              <a:rPr lang="en-US" sz="950" dirty="0">
                <a:solidFill>
                  <a:srgbClr val="B0B8C0"/>
                </a:solidFill>
                <a:latin typeface="Arial" pitchFamily="34" charset="0"/>
                <a:ea typeface="Arial" pitchFamily="34" charset="-122"/>
                <a:cs typeface="Arial" pitchFamily="34" charset="-120"/>
              </a:rPr>
              <a:t>For D49, SARIMA captured the seasonal pattern best (8.9% error).</a:t>
            </a:r>
            <a:endParaRPr lang="en-US" sz="950" dirty="0"/>
          </a:p>
          <a:p>
            <a:pPr marL="0" indent="0" algn="l">
              <a:buNone/>
            </a:pPr>
            <a:r>
              <a:rPr lang="en-US" sz="950" dirty="0">
                <a:solidFill>
                  <a:srgbClr val="B0B8C0"/>
                </a:solidFill>
                <a:latin typeface="Arial" pitchFamily="34" charset="0"/>
                <a:ea typeface="Arial" pitchFamily="34" charset="-122"/>
                <a:cs typeface="Arial" pitchFamily="34" charset="-120"/>
              </a:rPr>
              <a:t>Different accessories may pick different winners.</a:t>
            </a:r>
            <a:endParaRPr lang="en-US" sz="950" dirty="0"/>
          </a:p>
        </p:txBody>
      </p:sp>
      <p:sp>
        <p:nvSpPr>
          <p:cNvPr id="12" name="Shape 9"/>
          <p:cNvSpPr/>
          <p:nvPr/>
        </p:nvSpPr>
        <p:spPr>
          <a:xfrm>
            <a:off x="5486400" y="1783080"/>
            <a:ext cx="3383280" cy="2880360"/>
          </a:xfrm>
          <a:prstGeom prst="rect">
            <a:avLst/>
          </a:prstGeom>
          <a:solidFill>
            <a:srgbClr val="172A3A"/>
          </a:solidFill>
          <a:ln w="12700">
            <a:solidFill>
              <a:srgbClr val="1A6A73"/>
            </a:solidFill>
            <a:prstDash val="solid"/>
          </a:ln>
        </p:spPr>
        <p:txBody>
          <a:bodyPr/>
          <a:lstStyle/>
          <a:p>
            <a:endParaRPr lang="en-US"/>
          </a:p>
        </p:txBody>
      </p:sp>
      <p:sp>
        <p:nvSpPr>
          <p:cNvPr id="13" name="Text 10"/>
          <p:cNvSpPr/>
          <p:nvPr/>
        </p:nvSpPr>
        <p:spPr>
          <a:xfrm>
            <a:off x="5577840" y="1874520"/>
            <a:ext cx="3200400" cy="320040"/>
          </a:xfrm>
          <a:prstGeom prst="rect">
            <a:avLst/>
          </a:prstGeom>
          <a:noFill/>
          <a:ln/>
        </p:spPr>
        <p:txBody>
          <a:bodyPr wrap="square" lIns="0" tIns="0" rIns="0" bIns="0" rtlCol="0" anchor="ctr"/>
          <a:lstStyle/>
          <a:p>
            <a:pPr marL="0" indent="0" algn="ctr">
              <a:buNone/>
            </a:pPr>
            <a:r>
              <a:rPr lang="en-US" sz="1000" b="1" dirty="0">
                <a:solidFill>
                  <a:srgbClr val="00BCD4"/>
                </a:solidFill>
                <a:latin typeface="Arial" pitchFamily="34" charset="0"/>
                <a:ea typeface="Arial" pitchFamily="34" charset="-122"/>
                <a:cs typeface="Arial" pitchFamily="34" charset="-120"/>
              </a:rPr>
              <a:t>WIN RATE ACROSS ALL ACCESSORIES</a:t>
            </a:r>
            <a:endParaRPr lang="en-US" sz="1000" dirty="0"/>
          </a:p>
        </p:txBody>
      </p:sp>
      <p:sp>
        <p:nvSpPr>
          <p:cNvPr id="14" name="Text 11"/>
          <p:cNvSpPr/>
          <p:nvPr/>
        </p:nvSpPr>
        <p:spPr>
          <a:xfrm>
            <a:off x="5577840" y="2331720"/>
            <a:ext cx="868680" cy="411480"/>
          </a:xfrm>
          <a:prstGeom prst="rect">
            <a:avLst/>
          </a:prstGeom>
          <a:noFill/>
          <a:ln/>
        </p:spPr>
        <p:txBody>
          <a:bodyPr wrap="square" lIns="0" tIns="0" rIns="0" bIns="0" rtlCol="0" anchor="ctr"/>
          <a:lstStyle/>
          <a:p>
            <a:pPr marL="0" indent="0" algn="r">
              <a:buNone/>
            </a:pPr>
            <a:r>
              <a:rPr lang="en-US" sz="1100" b="1" dirty="0">
                <a:solidFill>
                  <a:srgbClr val="FFFFFF"/>
                </a:solidFill>
                <a:latin typeface="Arial" pitchFamily="34" charset="0"/>
                <a:ea typeface="Arial" pitchFamily="34" charset="-122"/>
                <a:cs typeface="Arial" pitchFamily="34" charset="-120"/>
              </a:rPr>
              <a:t>BSTS</a:t>
            </a:r>
            <a:endParaRPr lang="en-US" sz="1100" dirty="0"/>
          </a:p>
        </p:txBody>
      </p:sp>
      <p:sp>
        <p:nvSpPr>
          <p:cNvPr id="15" name="Shape 12"/>
          <p:cNvSpPr/>
          <p:nvPr/>
        </p:nvSpPr>
        <p:spPr>
          <a:xfrm>
            <a:off x="6492240" y="2395728"/>
            <a:ext cx="2103120" cy="283464"/>
          </a:xfrm>
          <a:prstGeom prst="rect">
            <a:avLst/>
          </a:prstGeom>
          <a:solidFill>
            <a:srgbClr val="0D1520"/>
          </a:solidFill>
          <a:ln/>
        </p:spPr>
        <p:txBody>
          <a:bodyPr/>
          <a:lstStyle/>
          <a:p>
            <a:endParaRPr lang="en-US"/>
          </a:p>
        </p:txBody>
      </p:sp>
      <p:sp>
        <p:nvSpPr>
          <p:cNvPr id="16" name="Shape 13"/>
          <p:cNvSpPr/>
          <p:nvPr/>
        </p:nvSpPr>
        <p:spPr>
          <a:xfrm>
            <a:off x="6492240" y="2395728"/>
            <a:ext cx="1997964" cy="283464"/>
          </a:xfrm>
          <a:prstGeom prst="rect">
            <a:avLst/>
          </a:prstGeom>
          <a:solidFill>
            <a:srgbClr val="00BCD4"/>
          </a:solidFill>
          <a:ln/>
        </p:spPr>
        <p:txBody>
          <a:bodyPr/>
          <a:lstStyle/>
          <a:p>
            <a:endParaRPr lang="en-US"/>
          </a:p>
        </p:txBody>
      </p:sp>
      <p:sp>
        <p:nvSpPr>
          <p:cNvPr id="17" name="Text 14"/>
          <p:cNvSpPr/>
          <p:nvPr/>
        </p:nvSpPr>
        <p:spPr>
          <a:xfrm>
            <a:off x="8535924" y="2331720"/>
            <a:ext cx="548640" cy="411480"/>
          </a:xfrm>
          <a:prstGeom prst="rect">
            <a:avLst/>
          </a:prstGeom>
          <a:noFill/>
          <a:ln/>
        </p:spPr>
        <p:txBody>
          <a:bodyPr wrap="square" lIns="0" tIns="0" rIns="0" bIns="0" rtlCol="0" anchor="ctr"/>
          <a:lstStyle/>
          <a:p>
            <a:pPr marL="0" indent="0" algn="l">
              <a:buNone/>
            </a:pPr>
            <a:r>
              <a:rPr lang="en-US" sz="1200" b="1" dirty="0">
                <a:solidFill>
                  <a:srgbClr val="00BCD4"/>
                </a:solidFill>
                <a:latin typeface="Arial" pitchFamily="34" charset="0"/>
                <a:ea typeface="Arial" pitchFamily="34" charset="-122"/>
                <a:cs typeface="Arial" pitchFamily="34" charset="-120"/>
              </a:rPr>
              <a:t>47.5%</a:t>
            </a:r>
            <a:endParaRPr lang="en-US" sz="1200" dirty="0"/>
          </a:p>
        </p:txBody>
      </p:sp>
      <p:sp>
        <p:nvSpPr>
          <p:cNvPr id="18" name="Text 15"/>
          <p:cNvSpPr/>
          <p:nvPr/>
        </p:nvSpPr>
        <p:spPr>
          <a:xfrm>
            <a:off x="5577840" y="3017520"/>
            <a:ext cx="868680" cy="411480"/>
          </a:xfrm>
          <a:prstGeom prst="rect">
            <a:avLst/>
          </a:prstGeom>
          <a:noFill/>
          <a:ln/>
        </p:spPr>
        <p:txBody>
          <a:bodyPr wrap="square" lIns="0" tIns="0" rIns="0" bIns="0" rtlCol="0" anchor="ctr"/>
          <a:lstStyle/>
          <a:p>
            <a:pPr marL="0" indent="0" algn="r">
              <a:buNone/>
            </a:pPr>
            <a:r>
              <a:rPr lang="en-US" sz="1100" b="1" dirty="0">
                <a:solidFill>
                  <a:srgbClr val="FFFFFF"/>
                </a:solidFill>
                <a:latin typeface="Arial" pitchFamily="34" charset="0"/>
                <a:ea typeface="Arial" pitchFamily="34" charset="-122"/>
                <a:cs typeface="Arial" pitchFamily="34" charset="-120"/>
              </a:rPr>
              <a:t>SARIMA</a:t>
            </a:r>
            <a:endParaRPr lang="en-US" sz="1100" dirty="0"/>
          </a:p>
        </p:txBody>
      </p:sp>
      <p:sp>
        <p:nvSpPr>
          <p:cNvPr id="19" name="Shape 16"/>
          <p:cNvSpPr/>
          <p:nvPr/>
        </p:nvSpPr>
        <p:spPr>
          <a:xfrm>
            <a:off x="6492240" y="3081528"/>
            <a:ext cx="2103120" cy="283464"/>
          </a:xfrm>
          <a:prstGeom prst="rect">
            <a:avLst/>
          </a:prstGeom>
          <a:solidFill>
            <a:srgbClr val="0D1520"/>
          </a:solidFill>
          <a:ln/>
        </p:spPr>
        <p:txBody>
          <a:bodyPr/>
          <a:lstStyle/>
          <a:p>
            <a:endParaRPr lang="en-US"/>
          </a:p>
        </p:txBody>
      </p:sp>
      <p:sp>
        <p:nvSpPr>
          <p:cNvPr id="20" name="Shape 17"/>
          <p:cNvSpPr/>
          <p:nvPr/>
        </p:nvSpPr>
        <p:spPr>
          <a:xfrm>
            <a:off x="6492240" y="3081528"/>
            <a:ext cx="1367028" cy="283464"/>
          </a:xfrm>
          <a:prstGeom prst="rect">
            <a:avLst/>
          </a:prstGeom>
          <a:solidFill>
            <a:srgbClr val="F9A825"/>
          </a:solidFill>
          <a:ln/>
        </p:spPr>
        <p:txBody>
          <a:bodyPr/>
          <a:lstStyle/>
          <a:p>
            <a:endParaRPr lang="en-US"/>
          </a:p>
        </p:txBody>
      </p:sp>
      <p:sp>
        <p:nvSpPr>
          <p:cNvPr id="21" name="Text 18"/>
          <p:cNvSpPr/>
          <p:nvPr/>
        </p:nvSpPr>
        <p:spPr>
          <a:xfrm>
            <a:off x="7904988" y="3017520"/>
            <a:ext cx="548640" cy="411480"/>
          </a:xfrm>
          <a:prstGeom prst="rect">
            <a:avLst/>
          </a:prstGeom>
          <a:noFill/>
          <a:ln/>
        </p:spPr>
        <p:txBody>
          <a:bodyPr wrap="square" lIns="0" tIns="0" rIns="0" bIns="0" rtlCol="0" anchor="ctr"/>
          <a:lstStyle/>
          <a:p>
            <a:pPr marL="0" indent="0" algn="l">
              <a:buNone/>
            </a:pPr>
            <a:r>
              <a:rPr lang="en-US" sz="1200" b="1" dirty="0">
                <a:solidFill>
                  <a:srgbClr val="F9A825"/>
                </a:solidFill>
                <a:latin typeface="Arial" pitchFamily="34" charset="0"/>
                <a:ea typeface="Arial" pitchFamily="34" charset="-122"/>
                <a:cs typeface="Arial" pitchFamily="34" charset="-120"/>
              </a:rPr>
              <a:t>32.5%</a:t>
            </a:r>
            <a:endParaRPr lang="en-US" sz="1200" dirty="0"/>
          </a:p>
        </p:txBody>
      </p:sp>
      <p:sp>
        <p:nvSpPr>
          <p:cNvPr id="22" name="Text 19"/>
          <p:cNvSpPr/>
          <p:nvPr/>
        </p:nvSpPr>
        <p:spPr>
          <a:xfrm>
            <a:off x="5577840" y="3703320"/>
            <a:ext cx="868680" cy="411480"/>
          </a:xfrm>
          <a:prstGeom prst="rect">
            <a:avLst/>
          </a:prstGeom>
          <a:noFill/>
          <a:ln/>
        </p:spPr>
        <p:txBody>
          <a:bodyPr wrap="square" lIns="0" tIns="0" rIns="0" bIns="0" rtlCol="0" anchor="ctr"/>
          <a:lstStyle/>
          <a:p>
            <a:pPr marL="0" indent="0" algn="r">
              <a:buNone/>
            </a:pPr>
            <a:r>
              <a:rPr lang="en-US" sz="1100" b="1" dirty="0">
                <a:solidFill>
                  <a:srgbClr val="FFFFFF"/>
                </a:solidFill>
                <a:latin typeface="Arial" pitchFamily="34" charset="0"/>
                <a:ea typeface="Arial" pitchFamily="34" charset="-122"/>
                <a:cs typeface="Arial" pitchFamily="34" charset="-120"/>
              </a:rPr>
              <a:t>SES</a:t>
            </a:r>
            <a:endParaRPr lang="en-US" sz="1100" dirty="0"/>
          </a:p>
        </p:txBody>
      </p:sp>
      <p:sp>
        <p:nvSpPr>
          <p:cNvPr id="23" name="Shape 20"/>
          <p:cNvSpPr/>
          <p:nvPr/>
        </p:nvSpPr>
        <p:spPr>
          <a:xfrm>
            <a:off x="6492240" y="3767328"/>
            <a:ext cx="2103120" cy="283464"/>
          </a:xfrm>
          <a:prstGeom prst="rect">
            <a:avLst/>
          </a:prstGeom>
          <a:solidFill>
            <a:srgbClr val="0D1520"/>
          </a:solidFill>
          <a:ln/>
        </p:spPr>
        <p:txBody>
          <a:bodyPr/>
          <a:lstStyle/>
          <a:p>
            <a:endParaRPr lang="en-US"/>
          </a:p>
        </p:txBody>
      </p:sp>
      <p:sp>
        <p:nvSpPr>
          <p:cNvPr id="24" name="Shape 21"/>
          <p:cNvSpPr/>
          <p:nvPr/>
        </p:nvSpPr>
        <p:spPr>
          <a:xfrm>
            <a:off x="6492240" y="3767328"/>
            <a:ext cx="841248" cy="283464"/>
          </a:xfrm>
          <a:prstGeom prst="rect">
            <a:avLst/>
          </a:prstGeom>
          <a:solidFill>
            <a:srgbClr val="E53935"/>
          </a:solidFill>
          <a:ln/>
        </p:spPr>
        <p:txBody>
          <a:bodyPr/>
          <a:lstStyle/>
          <a:p>
            <a:endParaRPr lang="en-US"/>
          </a:p>
        </p:txBody>
      </p:sp>
      <p:sp>
        <p:nvSpPr>
          <p:cNvPr id="25" name="Text 22"/>
          <p:cNvSpPr/>
          <p:nvPr/>
        </p:nvSpPr>
        <p:spPr>
          <a:xfrm>
            <a:off x="7379208" y="3703320"/>
            <a:ext cx="548640" cy="411480"/>
          </a:xfrm>
          <a:prstGeom prst="rect">
            <a:avLst/>
          </a:prstGeom>
          <a:noFill/>
          <a:ln/>
        </p:spPr>
        <p:txBody>
          <a:bodyPr wrap="square" lIns="0" tIns="0" rIns="0" bIns="0" rtlCol="0" anchor="ctr"/>
          <a:lstStyle/>
          <a:p>
            <a:pPr marL="0" indent="0" algn="l">
              <a:buNone/>
            </a:pPr>
            <a:r>
              <a:rPr lang="en-US" sz="1200" b="1" dirty="0">
                <a:solidFill>
                  <a:srgbClr val="E53935"/>
                </a:solidFill>
                <a:latin typeface="Arial" pitchFamily="34" charset="0"/>
                <a:ea typeface="Arial" pitchFamily="34" charset="-122"/>
                <a:cs typeface="Arial" pitchFamily="34" charset="-120"/>
              </a:rPr>
              <a:t>20%</a:t>
            </a:r>
            <a:endParaRPr lang="en-US" sz="1200" dirty="0"/>
          </a:p>
        </p:txBody>
      </p:sp>
      <p:sp>
        <p:nvSpPr>
          <p:cNvPr id="26" name="Shape 23"/>
          <p:cNvSpPr/>
          <p:nvPr/>
        </p:nvSpPr>
        <p:spPr>
          <a:xfrm>
            <a:off x="5577840" y="4114800"/>
            <a:ext cx="3200400" cy="411480"/>
          </a:xfrm>
          <a:prstGeom prst="rect">
            <a:avLst/>
          </a:prstGeom>
          <a:solidFill>
            <a:srgbClr val="0D1520"/>
          </a:solidFill>
          <a:ln/>
        </p:spPr>
        <p:txBody>
          <a:bodyPr/>
          <a:lstStyle/>
          <a:p>
            <a:endParaRPr lang="en-US"/>
          </a:p>
        </p:txBody>
      </p:sp>
      <p:sp>
        <p:nvSpPr>
          <p:cNvPr id="27" name="Text 24"/>
          <p:cNvSpPr/>
          <p:nvPr/>
        </p:nvSpPr>
        <p:spPr>
          <a:xfrm>
            <a:off x="5669280" y="4114800"/>
            <a:ext cx="3017520" cy="411480"/>
          </a:xfrm>
          <a:prstGeom prst="rect">
            <a:avLst/>
          </a:prstGeom>
          <a:noFill/>
          <a:ln/>
        </p:spPr>
        <p:txBody>
          <a:bodyPr wrap="square" lIns="0" tIns="0" rIns="0" bIns="0" rtlCol="0" anchor="ctr"/>
          <a:lstStyle/>
          <a:p>
            <a:pPr marL="0" indent="0" algn="ctr">
              <a:buNone/>
            </a:pPr>
            <a:r>
              <a:rPr lang="en-US" sz="900" i="1" dirty="0">
                <a:solidFill>
                  <a:srgbClr val="00BCD4"/>
                </a:solidFill>
                <a:latin typeface="Arial" pitchFamily="34" charset="0"/>
                <a:ea typeface="Arial" pitchFamily="34" charset="-122"/>
                <a:cs typeface="Arial" pitchFamily="34" charset="-120"/>
              </a:rPr>
              <a:t>BSTS wins nearly half — confirming</a:t>
            </a:r>
            <a:endParaRPr lang="en-US" sz="900" dirty="0"/>
          </a:p>
          <a:p>
            <a:pPr marL="0" indent="0" algn="ctr">
              <a:buNone/>
            </a:pPr>
            <a:r>
              <a:rPr lang="en-US" sz="900" i="1" dirty="0">
                <a:solidFill>
                  <a:srgbClr val="00BCD4"/>
                </a:solidFill>
                <a:latin typeface="Arial" pitchFamily="34" charset="0"/>
                <a:ea typeface="Arial" pitchFamily="34" charset="-122"/>
                <a:cs typeface="Arial" pitchFamily="34" charset="-120"/>
              </a:rPr>
              <a:t>AutoML (PAL_AUTOML_FIT) recommendation</a:t>
            </a:r>
            <a:endParaRPr lang="en-US" sz="900" dirty="0"/>
          </a:p>
        </p:txBody>
      </p:sp>
      <p:sp>
        <p:nvSpPr>
          <p:cNvPr id="28" name="Text 25"/>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00" dirty="0">
                <a:solidFill>
                  <a:srgbClr val="B0B8C0"/>
                </a:solidFill>
                <a:latin typeface="Arial" pitchFamily="34" charset="0"/>
                <a:ea typeface="Arial" pitchFamily="34" charset="-122"/>
                <a:cs typeface="Arial" pitchFamily="34" charset="-120"/>
              </a:rPr>
              <a:t>Accuracy measured by MAPE on 3-month holdout  ·  All models powered by SAP PAL  ·  Best model auto-selected per accessory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p:spPr>
        <p:txBody>
          <a:bodyPr/>
          <a:lstStyle/>
          <a:p>
            <a:endParaRPr lang="en-US"/>
          </a:p>
        </p:txBody>
      </p:sp>
      <p:sp>
        <p:nvSpPr>
          <p:cNvPr id="3" name="Shape 1"/>
          <p:cNvSpPr/>
          <p:nvPr/>
        </p:nvSpPr>
        <p:spPr>
          <a:xfrm>
            <a:off x="457200" y="228600"/>
            <a:ext cx="2011680" cy="365760"/>
          </a:xfrm>
          <a:prstGeom prst="rect">
            <a:avLst/>
          </a:prstGeom>
          <a:solidFill>
            <a:srgbClr val="F9A825"/>
          </a:solidFill>
          <a:ln/>
        </p:spPr>
        <p:txBody>
          <a:bodyPr/>
          <a:lstStyle/>
          <a:p>
            <a:endParaRPr lang="en-US"/>
          </a:p>
        </p:txBody>
      </p:sp>
      <p:sp>
        <p:nvSpPr>
          <p:cNvPr id="4" name="Text 2"/>
          <p:cNvSpPr/>
          <p:nvPr/>
        </p:nvSpPr>
        <p:spPr>
          <a:xfrm>
            <a:off x="457200" y="228600"/>
            <a:ext cx="2011680" cy="365760"/>
          </a:xfrm>
          <a:prstGeom prst="rect">
            <a:avLst/>
          </a:prstGeom>
          <a:noFill/>
          <a:ln/>
        </p:spPr>
        <p:txBody>
          <a:bodyPr wrap="square" lIns="0" tIns="0" rIns="0" bIns="0" rtlCol="0" anchor="ctr"/>
          <a:lstStyle/>
          <a:p>
            <a:pPr marL="0" indent="0" algn="ctr">
              <a:buNone/>
            </a:pPr>
            <a:r>
              <a:rPr lang="en-US" sz="1000" b="1" dirty="0">
                <a:solidFill>
                  <a:srgbClr val="1A1A1A"/>
                </a:solidFill>
                <a:latin typeface="Arial" pitchFamily="34" charset="0"/>
                <a:ea typeface="Arial" pitchFamily="34" charset="-122"/>
                <a:cs typeface="Arial" pitchFamily="34" charset="-120"/>
              </a:rPr>
              <a:t>KEY TAKEAWAYS</a:t>
            </a:r>
            <a:endParaRPr lang="en-US" sz="1000" dirty="0"/>
          </a:p>
        </p:txBody>
      </p:sp>
      <p:sp>
        <p:nvSpPr>
          <p:cNvPr id="5" name="Text 3"/>
          <p:cNvSpPr/>
          <p:nvPr/>
        </p:nvSpPr>
        <p:spPr>
          <a:xfrm>
            <a:off x="457200" y="685800"/>
            <a:ext cx="8229600" cy="45720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What We Learned Building with SAP PAL</a:t>
            </a:r>
            <a:endParaRPr lang="en-US" sz="2800" dirty="0"/>
          </a:p>
        </p:txBody>
      </p:sp>
      <p:sp>
        <p:nvSpPr>
          <p:cNvPr id="6" name="Text 4"/>
          <p:cNvSpPr/>
          <p:nvPr/>
        </p:nvSpPr>
        <p:spPr>
          <a:xfrm>
            <a:off x="457200" y="1097280"/>
            <a:ext cx="8229600" cy="320040"/>
          </a:xfrm>
          <a:prstGeom prst="rect">
            <a:avLst/>
          </a:prstGeom>
          <a:noFill/>
          <a:ln/>
        </p:spPr>
        <p:txBody>
          <a:bodyPr wrap="square" lIns="0" tIns="0" rIns="0" bIns="0" rtlCol="0" anchor="ctr"/>
          <a:lstStyle/>
          <a:p>
            <a:pPr marL="0" indent="0">
              <a:buNone/>
            </a:pPr>
            <a:r>
              <a:rPr lang="en-US" sz="1200" dirty="0">
                <a:solidFill>
                  <a:srgbClr val="B0B8C0"/>
                </a:solidFill>
                <a:latin typeface="Arial" pitchFamily="34" charset="0"/>
                <a:ea typeface="Arial" pitchFamily="34" charset="-122"/>
                <a:cs typeface="Arial" pitchFamily="34" charset="-120"/>
              </a:rPr>
              <a:t>Lessons from 4 iterations, 13 scripts, and hands-on experience with SAP Predictive Analysis Library</a:t>
            </a:r>
            <a:endParaRPr lang="en-US" sz="1200" dirty="0"/>
          </a:p>
        </p:txBody>
      </p:sp>
      <p:sp>
        <p:nvSpPr>
          <p:cNvPr id="7" name="Shape 5"/>
          <p:cNvSpPr/>
          <p:nvPr/>
        </p:nvSpPr>
        <p:spPr>
          <a:xfrm>
            <a:off x="457200" y="1554480"/>
            <a:ext cx="8229600" cy="594360"/>
          </a:xfrm>
          <a:prstGeom prst="rect">
            <a:avLst/>
          </a:prstGeom>
          <a:solidFill>
            <a:srgbClr val="172A3A"/>
          </a:solidFill>
          <a:ln w="12700">
            <a:solidFill>
              <a:srgbClr val="00BCD4"/>
            </a:solidFill>
            <a:prstDash val="solid"/>
          </a:ln>
        </p:spPr>
        <p:txBody>
          <a:bodyPr/>
          <a:lstStyle/>
          <a:p>
            <a:endParaRPr lang="en-US"/>
          </a:p>
        </p:txBody>
      </p:sp>
      <p:sp>
        <p:nvSpPr>
          <p:cNvPr id="8" name="Text 6"/>
          <p:cNvSpPr/>
          <p:nvPr/>
        </p:nvSpPr>
        <p:spPr>
          <a:xfrm>
            <a:off x="548640" y="1600200"/>
            <a:ext cx="457200" cy="457200"/>
          </a:xfrm>
          <a:prstGeom prst="rect">
            <a:avLst/>
          </a:prstGeom>
          <a:noFill/>
          <a:ln/>
        </p:spPr>
        <p:txBody>
          <a:bodyPr wrap="square" lIns="0" tIns="0" rIns="0" bIns="0" rtlCol="0" anchor="ctr"/>
          <a:lstStyle/>
          <a:p>
            <a:pPr marL="0" indent="0" algn="ctr">
              <a:buNone/>
            </a:pPr>
            <a:r>
              <a:rPr lang="en-US" sz="1600" b="1" dirty="0">
                <a:solidFill>
                  <a:srgbClr val="00BCD4"/>
                </a:solidFill>
                <a:latin typeface="Arial" pitchFamily="34" charset="0"/>
                <a:ea typeface="Arial" pitchFamily="34" charset="-122"/>
                <a:cs typeface="Arial" pitchFamily="34" charset="-120"/>
              </a:rPr>
              <a:t>01</a:t>
            </a:r>
            <a:endParaRPr lang="en-US" sz="1600" dirty="0"/>
          </a:p>
        </p:txBody>
      </p:sp>
      <p:sp>
        <p:nvSpPr>
          <p:cNvPr id="9" name="Shape 7"/>
          <p:cNvSpPr/>
          <p:nvPr/>
        </p:nvSpPr>
        <p:spPr>
          <a:xfrm>
            <a:off x="1051560" y="1627632"/>
            <a:ext cx="36576" cy="448056"/>
          </a:xfrm>
          <a:prstGeom prst="rect">
            <a:avLst/>
          </a:prstGeom>
          <a:solidFill>
            <a:srgbClr val="00BCD4"/>
          </a:solidFill>
          <a:ln/>
        </p:spPr>
        <p:txBody>
          <a:bodyPr/>
          <a:lstStyle/>
          <a:p>
            <a:endParaRPr lang="en-US"/>
          </a:p>
        </p:txBody>
      </p:sp>
      <p:sp>
        <p:nvSpPr>
          <p:cNvPr id="10" name="Text 8"/>
          <p:cNvSpPr/>
          <p:nvPr/>
        </p:nvSpPr>
        <p:spPr>
          <a:xfrm>
            <a:off x="1188720" y="1572768"/>
            <a:ext cx="7315200" cy="22860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Let AutoML Guide, Then Implement Directly</a:t>
            </a:r>
            <a:endParaRPr lang="en-US" sz="1200" dirty="0"/>
          </a:p>
        </p:txBody>
      </p:sp>
      <p:sp>
        <p:nvSpPr>
          <p:cNvPr id="11" name="Text 9"/>
          <p:cNvSpPr/>
          <p:nvPr/>
        </p:nvSpPr>
        <p:spPr>
          <a:xfrm>
            <a:off x="1188720" y="1810512"/>
            <a:ext cx="7315200" cy="274320"/>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PAL_AUTOML_FIT recommended BSTS as the best algorithm. But AutoML's prediction function had a technical limitation. So we implemented BSTS directly via hana_ml — getting the best model without the bug.</a:t>
            </a:r>
            <a:endParaRPr lang="en-US" sz="900" dirty="0"/>
          </a:p>
        </p:txBody>
      </p:sp>
      <p:sp>
        <p:nvSpPr>
          <p:cNvPr id="12" name="Shape 10"/>
          <p:cNvSpPr/>
          <p:nvPr/>
        </p:nvSpPr>
        <p:spPr>
          <a:xfrm>
            <a:off x="457200" y="2221992"/>
            <a:ext cx="8229600" cy="594360"/>
          </a:xfrm>
          <a:prstGeom prst="rect">
            <a:avLst/>
          </a:prstGeom>
          <a:solidFill>
            <a:srgbClr val="172A3A"/>
          </a:solidFill>
          <a:ln w="12700">
            <a:solidFill>
              <a:srgbClr val="F9A825"/>
            </a:solidFill>
            <a:prstDash val="solid"/>
          </a:ln>
        </p:spPr>
        <p:txBody>
          <a:bodyPr/>
          <a:lstStyle/>
          <a:p>
            <a:endParaRPr lang="en-US"/>
          </a:p>
        </p:txBody>
      </p:sp>
      <p:sp>
        <p:nvSpPr>
          <p:cNvPr id="13" name="Text 11"/>
          <p:cNvSpPr/>
          <p:nvPr/>
        </p:nvSpPr>
        <p:spPr>
          <a:xfrm>
            <a:off x="548640" y="2267712"/>
            <a:ext cx="457200" cy="457200"/>
          </a:xfrm>
          <a:prstGeom prst="rect">
            <a:avLst/>
          </a:prstGeom>
          <a:noFill/>
          <a:ln/>
        </p:spPr>
        <p:txBody>
          <a:bodyPr wrap="square" lIns="0" tIns="0" rIns="0" bIns="0" rtlCol="0" anchor="ctr"/>
          <a:lstStyle/>
          <a:p>
            <a:pPr marL="0" indent="0" algn="ctr">
              <a:buNone/>
            </a:pPr>
            <a:r>
              <a:rPr lang="en-US" sz="1600" b="1" dirty="0">
                <a:solidFill>
                  <a:srgbClr val="F9A825"/>
                </a:solidFill>
                <a:latin typeface="Arial" pitchFamily="34" charset="0"/>
                <a:ea typeface="Arial" pitchFamily="34" charset="-122"/>
                <a:cs typeface="Arial" pitchFamily="34" charset="-120"/>
              </a:rPr>
              <a:t>02</a:t>
            </a:r>
            <a:endParaRPr lang="en-US" sz="1600" dirty="0"/>
          </a:p>
        </p:txBody>
      </p:sp>
      <p:sp>
        <p:nvSpPr>
          <p:cNvPr id="14" name="Shape 12"/>
          <p:cNvSpPr/>
          <p:nvPr/>
        </p:nvSpPr>
        <p:spPr>
          <a:xfrm>
            <a:off x="1051560" y="2295144"/>
            <a:ext cx="36576" cy="448056"/>
          </a:xfrm>
          <a:prstGeom prst="rect">
            <a:avLst/>
          </a:prstGeom>
          <a:solidFill>
            <a:srgbClr val="F9A825"/>
          </a:solidFill>
          <a:ln/>
        </p:spPr>
        <p:txBody>
          <a:bodyPr/>
          <a:lstStyle/>
          <a:p>
            <a:endParaRPr lang="en-US"/>
          </a:p>
        </p:txBody>
      </p:sp>
      <p:sp>
        <p:nvSpPr>
          <p:cNvPr id="15" name="Text 13"/>
          <p:cNvSpPr/>
          <p:nvPr/>
        </p:nvSpPr>
        <p:spPr>
          <a:xfrm>
            <a:off x="1188720" y="2240280"/>
            <a:ext cx="7315200" cy="22860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One Model Doesn't Fit All Accessories</a:t>
            </a:r>
            <a:endParaRPr lang="en-US" sz="1200" dirty="0"/>
          </a:p>
        </p:txBody>
      </p:sp>
      <p:sp>
        <p:nvSpPr>
          <p:cNvPr id="16" name="Text 14"/>
          <p:cNvSpPr/>
          <p:nvPr/>
        </p:nvSpPr>
        <p:spPr>
          <a:xfrm>
            <a:off x="1188720" y="2478024"/>
            <a:ext cx="7315200" cy="274320"/>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Different accessories have different demand patterns. Steady parts favor SES. Seasonal parts favor SARIMA. Complex patterns favor BSTS. Running all 3 and auto-selecting ensures best fit every time.</a:t>
            </a:r>
            <a:endParaRPr lang="en-US" sz="900" dirty="0"/>
          </a:p>
        </p:txBody>
      </p:sp>
      <p:sp>
        <p:nvSpPr>
          <p:cNvPr id="17" name="Shape 15"/>
          <p:cNvSpPr/>
          <p:nvPr/>
        </p:nvSpPr>
        <p:spPr>
          <a:xfrm>
            <a:off x="457200" y="2889504"/>
            <a:ext cx="8229600" cy="594360"/>
          </a:xfrm>
          <a:prstGeom prst="rect">
            <a:avLst/>
          </a:prstGeom>
          <a:solidFill>
            <a:srgbClr val="172A3A"/>
          </a:solidFill>
          <a:ln w="12700">
            <a:solidFill>
              <a:srgbClr val="FF9800"/>
            </a:solidFill>
            <a:prstDash val="solid"/>
          </a:ln>
        </p:spPr>
        <p:txBody>
          <a:bodyPr/>
          <a:lstStyle/>
          <a:p>
            <a:endParaRPr lang="en-US"/>
          </a:p>
        </p:txBody>
      </p:sp>
      <p:sp>
        <p:nvSpPr>
          <p:cNvPr id="18" name="Text 16"/>
          <p:cNvSpPr/>
          <p:nvPr/>
        </p:nvSpPr>
        <p:spPr>
          <a:xfrm>
            <a:off x="548640" y="2935224"/>
            <a:ext cx="457200" cy="457200"/>
          </a:xfrm>
          <a:prstGeom prst="rect">
            <a:avLst/>
          </a:prstGeom>
          <a:noFill/>
          <a:ln/>
        </p:spPr>
        <p:txBody>
          <a:bodyPr wrap="square" lIns="0" tIns="0" rIns="0" bIns="0" rtlCol="0" anchor="ctr"/>
          <a:lstStyle/>
          <a:p>
            <a:pPr marL="0" indent="0" algn="ctr">
              <a:buNone/>
            </a:pPr>
            <a:r>
              <a:rPr lang="en-US" sz="1600" b="1" dirty="0">
                <a:solidFill>
                  <a:srgbClr val="FF9800"/>
                </a:solidFill>
                <a:latin typeface="Arial" pitchFamily="34" charset="0"/>
                <a:ea typeface="Arial" pitchFamily="34" charset="-122"/>
                <a:cs typeface="Arial" pitchFamily="34" charset="-120"/>
              </a:rPr>
              <a:t>03</a:t>
            </a:r>
            <a:endParaRPr lang="en-US" sz="1600" dirty="0"/>
          </a:p>
        </p:txBody>
      </p:sp>
      <p:sp>
        <p:nvSpPr>
          <p:cNvPr id="19" name="Shape 17"/>
          <p:cNvSpPr/>
          <p:nvPr/>
        </p:nvSpPr>
        <p:spPr>
          <a:xfrm>
            <a:off x="1051560" y="2962656"/>
            <a:ext cx="36576" cy="448056"/>
          </a:xfrm>
          <a:prstGeom prst="rect">
            <a:avLst/>
          </a:prstGeom>
          <a:solidFill>
            <a:srgbClr val="FF9800"/>
          </a:solidFill>
          <a:ln/>
        </p:spPr>
        <p:txBody>
          <a:bodyPr/>
          <a:lstStyle/>
          <a:p>
            <a:endParaRPr lang="en-US"/>
          </a:p>
        </p:txBody>
      </p:sp>
      <p:sp>
        <p:nvSpPr>
          <p:cNvPr id="20" name="Text 18"/>
          <p:cNvSpPr/>
          <p:nvPr/>
        </p:nvSpPr>
        <p:spPr>
          <a:xfrm>
            <a:off x="1188720" y="2907792"/>
            <a:ext cx="7315200" cy="22860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Data Quality Is Half the Battle</a:t>
            </a:r>
            <a:endParaRPr lang="en-US" sz="1200" dirty="0"/>
          </a:p>
        </p:txBody>
      </p:sp>
      <p:sp>
        <p:nvSpPr>
          <p:cNvPr id="21" name="Text 19"/>
          <p:cNvSpPr/>
          <p:nvPr/>
        </p:nvSpPr>
        <p:spPr>
          <a:xfrm>
            <a:off x="1188720" y="3145536"/>
            <a:ext cx="7315200" cy="274320"/>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Production shutdowns, one-time events, and incomplete months created spikes that fooled the models. Adding outlier detection and data cliff checks via PAL dramatically improved forecast accuracy.</a:t>
            </a:r>
            <a:endParaRPr lang="en-US" sz="900" dirty="0"/>
          </a:p>
        </p:txBody>
      </p:sp>
      <p:sp>
        <p:nvSpPr>
          <p:cNvPr id="22" name="Shape 20"/>
          <p:cNvSpPr/>
          <p:nvPr/>
        </p:nvSpPr>
        <p:spPr>
          <a:xfrm>
            <a:off x="457200" y="3557016"/>
            <a:ext cx="8229600" cy="594360"/>
          </a:xfrm>
          <a:prstGeom prst="rect">
            <a:avLst/>
          </a:prstGeom>
          <a:solidFill>
            <a:srgbClr val="172A3A"/>
          </a:solidFill>
          <a:ln w="12700">
            <a:solidFill>
              <a:srgbClr val="4CAF50"/>
            </a:solidFill>
            <a:prstDash val="solid"/>
          </a:ln>
        </p:spPr>
        <p:txBody>
          <a:bodyPr/>
          <a:lstStyle/>
          <a:p>
            <a:endParaRPr lang="en-US"/>
          </a:p>
        </p:txBody>
      </p:sp>
      <p:sp>
        <p:nvSpPr>
          <p:cNvPr id="23" name="Text 21"/>
          <p:cNvSpPr/>
          <p:nvPr/>
        </p:nvSpPr>
        <p:spPr>
          <a:xfrm>
            <a:off x="548640" y="3602736"/>
            <a:ext cx="457200" cy="457200"/>
          </a:xfrm>
          <a:prstGeom prst="rect">
            <a:avLst/>
          </a:prstGeom>
          <a:noFill/>
          <a:ln/>
        </p:spPr>
        <p:txBody>
          <a:bodyPr wrap="square" lIns="0" tIns="0" rIns="0" bIns="0" rtlCol="0" anchor="ctr"/>
          <a:lstStyle/>
          <a:p>
            <a:pPr marL="0" indent="0" algn="ctr">
              <a:buNone/>
            </a:pPr>
            <a:r>
              <a:rPr lang="en-US" sz="1600" b="1" dirty="0">
                <a:solidFill>
                  <a:srgbClr val="4CAF50"/>
                </a:solidFill>
                <a:latin typeface="Arial" pitchFamily="34" charset="0"/>
                <a:ea typeface="Arial" pitchFamily="34" charset="-122"/>
                <a:cs typeface="Arial" pitchFamily="34" charset="-120"/>
              </a:rPr>
              <a:t>04</a:t>
            </a:r>
            <a:endParaRPr lang="en-US" sz="1600" dirty="0"/>
          </a:p>
        </p:txBody>
      </p:sp>
      <p:sp>
        <p:nvSpPr>
          <p:cNvPr id="24" name="Shape 22"/>
          <p:cNvSpPr/>
          <p:nvPr/>
        </p:nvSpPr>
        <p:spPr>
          <a:xfrm>
            <a:off x="1051560" y="3630168"/>
            <a:ext cx="36576" cy="448056"/>
          </a:xfrm>
          <a:prstGeom prst="rect">
            <a:avLst/>
          </a:prstGeom>
          <a:solidFill>
            <a:srgbClr val="4CAF50"/>
          </a:solidFill>
          <a:ln/>
        </p:spPr>
        <p:txBody>
          <a:bodyPr/>
          <a:lstStyle/>
          <a:p>
            <a:endParaRPr lang="en-US"/>
          </a:p>
        </p:txBody>
      </p:sp>
      <p:sp>
        <p:nvSpPr>
          <p:cNvPr id="25" name="Text 23"/>
          <p:cNvSpPr/>
          <p:nvPr/>
        </p:nvSpPr>
        <p:spPr>
          <a:xfrm>
            <a:off x="1188720" y="3575304"/>
            <a:ext cx="7315200" cy="22860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Parameters Matter — Make Them Tunable</a:t>
            </a:r>
            <a:endParaRPr lang="en-US" sz="1200" dirty="0"/>
          </a:p>
        </p:txBody>
      </p:sp>
      <p:sp>
        <p:nvSpPr>
          <p:cNvPr id="26" name="Text 24"/>
          <p:cNvSpPr/>
          <p:nvPr/>
        </p:nvSpPr>
        <p:spPr>
          <a:xfrm>
            <a:off x="1188720" y="3813048"/>
            <a:ext cx="7315200" cy="274320"/>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BSTS niter, SARIMA METHOD, SES ALPHA — small parameter changes produced significant accuracy gains. Exposing them via REST API enables on-demand fine-tuning without redeploying.</a:t>
            </a:r>
            <a:endParaRPr lang="en-US" sz="900" dirty="0"/>
          </a:p>
        </p:txBody>
      </p:sp>
      <p:sp>
        <p:nvSpPr>
          <p:cNvPr id="27" name="Shape 25"/>
          <p:cNvSpPr/>
          <p:nvPr/>
        </p:nvSpPr>
        <p:spPr>
          <a:xfrm>
            <a:off x="457200" y="4224528"/>
            <a:ext cx="8229600" cy="594360"/>
          </a:xfrm>
          <a:prstGeom prst="rect">
            <a:avLst/>
          </a:prstGeom>
          <a:solidFill>
            <a:srgbClr val="172A3A"/>
          </a:solidFill>
          <a:ln w="12700">
            <a:solidFill>
              <a:srgbClr val="2196F3"/>
            </a:solidFill>
            <a:prstDash val="solid"/>
          </a:ln>
        </p:spPr>
        <p:txBody>
          <a:bodyPr/>
          <a:lstStyle/>
          <a:p>
            <a:endParaRPr lang="en-US"/>
          </a:p>
        </p:txBody>
      </p:sp>
      <p:sp>
        <p:nvSpPr>
          <p:cNvPr id="28" name="Text 26"/>
          <p:cNvSpPr/>
          <p:nvPr/>
        </p:nvSpPr>
        <p:spPr>
          <a:xfrm>
            <a:off x="548640" y="4270248"/>
            <a:ext cx="457200" cy="457200"/>
          </a:xfrm>
          <a:prstGeom prst="rect">
            <a:avLst/>
          </a:prstGeom>
          <a:noFill/>
          <a:ln/>
        </p:spPr>
        <p:txBody>
          <a:bodyPr wrap="square" lIns="0" tIns="0" rIns="0" bIns="0" rtlCol="0" anchor="ctr"/>
          <a:lstStyle/>
          <a:p>
            <a:pPr marL="0" indent="0" algn="ctr">
              <a:buNone/>
            </a:pPr>
            <a:r>
              <a:rPr lang="en-US" sz="1600" b="1" dirty="0">
                <a:solidFill>
                  <a:srgbClr val="2196F3"/>
                </a:solidFill>
                <a:latin typeface="Arial" pitchFamily="34" charset="0"/>
                <a:ea typeface="Arial" pitchFamily="34" charset="-122"/>
                <a:cs typeface="Arial" pitchFamily="34" charset="-120"/>
              </a:rPr>
              <a:t>05</a:t>
            </a:r>
            <a:endParaRPr lang="en-US" sz="1600" dirty="0"/>
          </a:p>
        </p:txBody>
      </p:sp>
      <p:sp>
        <p:nvSpPr>
          <p:cNvPr id="29" name="Shape 27"/>
          <p:cNvSpPr/>
          <p:nvPr/>
        </p:nvSpPr>
        <p:spPr>
          <a:xfrm>
            <a:off x="1051560" y="4297680"/>
            <a:ext cx="36576" cy="448056"/>
          </a:xfrm>
          <a:prstGeom prst="rect">
            <a:avLst/>
          </a:prstGeom>
          <a:solidFill>
            <a:srgbClr val="2196F3"/>
          </a:solidFill>
          <a:ln/>
        </p:spPr>
        <p:txBody>
          <a:bodyPr/>
          <a:lstStyle/>
          <a:p>
            <a:endParaRPr lang="en-US"/>
          </a:p>
        </p:txBody>
      </p:sp>
      <p:sp>
        <p:nvSpPr>
          <p:cNvPr id="30" name="Text 28"/>
          <p:cNvSpPr/>
          <p:nvPr/>
        </p:nvSpPr>
        <p:spPr>
          <a:xfrm>
            <a:off x="1188720" y="4242816"/>
            <a:ext cx="7315200" cy="228600"/>
          </a:xfrm>
          <a:prstGeom prst="rect">
            <a:avLst/>
          </a:prstGeom>
          <a:noFill/>
          <a:ln/>
        </p:spPr>
        <p:txBody>
          <a:bodyPr wrap="square" lIns="0" tIns="0" rIns="0" bIns="0" rtlCol="0" anchor="ctr"/>
          <a:lstStyle/>
          <a:p>
            <a:pPr marL="0" indent="0" algn="l">
              <a:buNone/>
            </a:pPr>
            <a:r>
              <a:rPr lang="en-US" sz="1200" b="1" dirty="0">
                <a:solidFill>
                  <a:srgbClr val="FFFFFF"/>
                </a:solidFill>
                <a:latin typeface="Arial" pitchFamily="34" charset="0"/>
                <a:ea typeface="Arial" pitchFamily="34" charset="-122"/>
                <a:cs typeface="Arial" pitchFamily="34" charset="-120"/>
              </a:rPr>
              <a:t>Everything Runs Inside HANA Cloud</a:t>
            </a:r>
            <a:endParaRPr lang="en-US" sz="1200" dirty="0"/>
          </a:p>
        </p:txBody>
      </p:sp>
      <p:sp>
        <p:nvSpPr>
          <p:cNvPr id="31" name="Text 29"/>
          <p:cNvSpPr/>
          <p:nvPr/>
        </p:nvSpPr>
        <p:spPr>
          <a:xfrm>
            <a:off x="1188720" y="4480560"/>
            <a:ext cx="7315200" cy="274320"/>
          </a:xfrm>
          <a:prstGeom prst="rect">
            <a:avLst/>
          </a:prstGeom>
          <a:noFill/>
          <a:ln/>
        </p:spPr>
        <p:txBody>
          <a:bodyPr wrap="square" lIns="0" tIns="0" rIns="0" bIns="0" rtlCol="0" anchor="t"/>
          <a:lstStyle/>
          <a:p>
            <a:pPr marL="0" indent="0" algn="l">
              <a:buNone/>
            </a:pPr>
            <a:r>
              <a:rPr lang="en-US" sz="900" dirty="0">
                <a:solidFill>
                  <a:srgbClr val="B0B8C0"/>
                </a:solidFill>
                <a:latin typeface="Arial" pitchFamily="34" charset="0"/>
                <a:ea typeface="Arial" pitchFamily="34" charset="-122"/>
                <a:cs typeface="Arial" pitchFamily="34" charset="-120"/>
              </a:rPr>
              <a:t>All ML computation happens inside SAP HANA via PAL. Python just orchestrates — no data leaves the database. This means enterprise security, speed, and scalability from day one.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2216</Words>
  <Application>Microsoft Office PowerPoint</Application>
  <PresentationFormat>On-screen Show (16:9)</PresentationFormat>
  <Paragraphs>220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Accessory Optimizer - SAP PAL Journey</dc:title>
  <dc:subject>PptxGenJS Presentation</dc:subject>
  <dc:creator>MBUSA Vehicle Logistics</dc:creator>
  <cp:lastModifiedBy>Kavitha Pochampally</cp:lastModifiedBy>
  <cp:revision>3</cp:revision>
  <dcterms:created xsi:type="dcterms:W3CDTF">2026-03-20T14:14:19Z</dcterms:created>
  <dcterms:modified xsi:type="dcterms:W3CDTF">2026-03-20T14:20:06Z</dcterms:modified>
</cp:coreProperties>
</file>