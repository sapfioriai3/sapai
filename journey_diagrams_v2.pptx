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journey we went through to build our forecasting system. We didn't just pick one approach and run with it — we went through 4 major rounds of improvement.
In Iteration 1, we started simple. We used a basic forecasting method called SES — think of it as a "weighted average" that gives more importance to recent months. This was our proof of concept — can we even predict accessory demand? The answer was yes, so we kept going.
In Iteration 2, we added a second, smarter model called SARIMA. This one is good at picking up repeating patterns — like if a certain accessory always sells more in summer or dips in December. We also started cleaning our data — removing unusual spikes caused by things like factory shutdowns.
In Iteration 3, we tried SAP's built-in AutoML tool, which automatically tests different algorithms and recommends the best one. It told us that a model called BSTS was the strongest choice. BSTS is the most advanced of the three — it breaks demand into trend, seasonal pattern, and random noise, then uses statistical sampling to make predictions.
In Iteration 4 — our production version — we put all three models together. For every accessory, all three run and the one with the best accuracy on recent real data wins. Different accessories might pick different winners.
Key point: all of this runs inside SAP HANA Cloud using SAP PAL — the Predictive Analysis Library. No data ever leaves the database. We wrote 13 experimental scripts before landing on the final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the three forecasting models we use. Think of them as three different "brains" that each look at the same sales history and make predictions in different ways.
SES — Simple Exponential Smoothing: This is the simplest one. Imagine calculating an average, but giving more weight to the most recent months. If last month's demand was high, SES will predict higher numbers going forward. It works best for accessories with steady, predictable demand. SAP PAL runs this using a built-in function called PAL_BROWN_EXPSMOOTH. We can adjust how much weight recent months get by tuning a setting called ALPHA.
SARIMA — Seasonal ARIMA: This one is smarter about patterns. If an accessory always sells more in summer and less in winter, SARIMA will pick up on that yearly cycle and factor it into the forecast. It uses a two-step process inside SAP PAL — first PAL_AUTOARIMA figures out the best pattern to use, then PAL_ARIMA_FORECAST generates the predictions. We can fine-tune how it searches for patterns by adjusting settings like METHOD and MAX_P/MAX_Q.
BSTS — Bayesian Structural Time Series: This is the most advanced model. It breaks demand into three pieces — the overall trend (going up or down?), the seasonal cycle (monthly patterns?), and random noise. Then it runs thousands of simulations to build a prediction. It's the best when demand has both a changing trend AND a seasonal pattern. It runs through SAP PAL's Script Server using the hana_ml library.
The key idea: for every single accessory, all three models run, and the system automatically picks the one that was most accurate on recent real data. MAPE is our accuracy score — it measures the average percentage error. Lower is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what we actually changed between iterations — the specific settings and decisions we improved over time.
Forecast Horizon: We started with 6-month forecasts but the business needed a full year of visibility for planning. So we extended it to 12 months.
Test Holdout: This is how we check accuracy. We hold back the last few months of real data, make the model predict those months, then compare predictions to reality. We started with 5 months held back, but that left too little training data for BSTS to learn properly. Reducing to 3 months gave the models more history to learn from and improved accuracy.
Models Used: We started with just SES in Iteration 1. By Iteration 4, we had all three models competing — SES, SARIMA, and BSTS. SAP's AutoML tool (PAL_AUTOML_FIT) recommended BSTS as the best overall, which confirmed our direction.
BSTS Iterations: BSTS works by running thousands of simulations. We started with 1,000, but the results weren't stable enough. Increasing to 2,000 gave us much better predictions — though going beyond 3,000 didn't help much more.
Data Quality: Real-world data is messy. Factory shutdowns, one-time bulk orders, and incomplete months created spikes that confused the models. We added outlier detection and "data cliff" checks to clean the data before training.
Negative Clamping: One of our models (SARIMA) sometimes predicted negative demand — which doesn't make sense for physical accessories. We added a simple fix: any negative prediction gets set to zero.
Key Learnings at the bottom: AutoML confirmed BSTS was best overall, but keeping all three models means each accessory gets its best-fit model. More BSTS iterations help accuracy but with diminishing returns. And we made all these parameters adjustable through an API so we can fine-tune without redeploying the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walks through the five steps of our data pipeline — how raw production records become 12-month demand forecasts.
Stage 1 — Raw Data: We start with about 33,000 production records covering 29 months of history. Each record includes the accessory code, the vehicle model, the VPC location, and the production date. This all lives in SAP HANA Cloud tables.
Stage 2 — Data Quality: Before we can train any model, we need clean data. This step detects and removes outliers — unusual spikes caused by factory shutdowns, one-time events, or incomplete months. We also run "data cliff" checks to make sure we're not training on months where reporting was cut short. Clean data in means better predictions out.
Stage 3 — SAP PAL Training: This is where the AI happens. All three models — SES, SARIMA, and BSTS — are trained on the cleaned data for each accessory code. The training happens entirely inside SAP HANA using PAL, the Predictive Analysis Library. Python sends instructions but HANA does all the heavy computation.
Stage 4 — Model Competition: After training, we test each model against real data we held back. We compare how close each model's predictions were to what actually happened, using accuracy scores called MAPE and RMSE. The model with the lowest error wins — and it might be a different model for each accessory.
Stage 5 — Predictions: The winning model generates forecasts for the next 12 months. We forecast for all 594 combinations of accessory code, vehicle model, and VPC location. These predictions are stored back in HANA Cloud tables.
Important point at the bottom: everything runs inside HANA. Python orchestrates the steps, but all the computation and data stays in the database. Nothing is exported or moved to an outside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an example of how the model competition works in practice, using accessory code D49 as a real example.
On the left, you can see the results table. All three models — SARIMA, BSTS, and SES — were trained on the same historical data and then tested against 3 months of real data that was held back.
MAPE is our main accuracy score — it stands for Mean Absolute Percentage Error. Think of it as "on average, how far off were the predictions?" Lower is better. For D49, SARIMA had the best score at 8.9% error, meaning its predictions were only about 9% off from reality on average. So SARIMA was automatically selected as the winner for this particular accessory.
RMSE is another accuracy measure — it tells us the average size of the errors in actual units. It's useful because it penalizes big misses more heavily.
On the right, the bar chart shows which model wins most often across ALL accessories — not just D49. BSTS wins nearly half the time at 47.5%, which makes sense because SAP's AutoML tool also recommended BSTS as the strongest overall algorithm. SARIMA wins about a third of the time, and SES handles the remaining 20%.
The important takeaway here: no single model is best for everything. That's exactly why we run all three. Each accessory has its own demand pattern, and the system automatically picks the best fit. This "competition" approach gives us much better overall accuracy than picking just one model for everything.
Note: the specific numbers shown here are from one particular training run and may vary as we get new data each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final slide summarizes the five biggest lessons from our SAP PAL journey.
1. Let AutoML Guide, Then Implement Directly: SAP has a feature called AutoML that automatically tests different algorithms and recommends the best one. It told us BSTS was the strongest. However, AutoML's own prediction function had a technical limitation — it couldn't generate forecasts properly. So we took AutoML's recommendation and implemented BSTS ourselves using a library called hana_ml. We got the benefit of AutoML's intelligence without the bug.
2. One Model Doesn't Fit All Accessories: This is a big insight. We have about 40 different accessory codes, and they all have different demand patterns. Some accessories sell steadily all year — SES works best for those. Others have clear seasonal cycles — SARIMA catches those. And some have complex patterns with both changing trends and seasonality — BSTS handles those. By running all three and letting the system auto-select, every accessory gets its best-fit model.
3. Data Quality Is Half the Battle: Our raw data had all kinds of issues — factory shutdowns created zero-demand months, one-time bulk orders created huge spikes, and some months had incomplete data. These outliers confused the models badly. Adding data cleaning steps — outlier detection and cliff checks — dramatically improved our forecast accuracy. Garbage in, garbage out.
4. Parameters Matter — Make Them Tunable: Small changes in model settings can make a big difference. For example, adjusting how many simulation iterations BSTS runs, or how SARIMA searches for patterns. We made these settings adjustable through a web API, so the team can fine-tune models without needing to redeploy the whole system.
5. Everything Runs Inside HANA Cloud: All the AI computation happens inside SAP HANA using PAL — the Predictive Analysis Library. Our Python scripts just send instructions, but the actual number-crunching stays in the database. This means no data ever leaves the system, which is critical for enterprise security. It also means we get HANA's speed and scalability built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923"/>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CD4"/>
          </a:solidFill>
          <a:ln/>
        </p:spPr>
      </p:sp>
      <p:sp>
        <p:nvSpPr>
          <p:cNvPr id="3" name="Shape 1"/>
          <p:cNvSpPr/>
          <p:nvPr/>
        </p:nvSpPr>
        <p:spPr>
          <a:xfrm>
            <a:off x="457200" y="228600"/>
            <a:ext cx="2011680" cy="365760"/>
          </a:xfrm>
          <a:prstGeom prst="rect">
            <a:avLst/>
          </a:prstGeom>
          <a:solidFill>
            <a:srgbClr val="F9A825"/>
          </a:solidFill>
          <a:ln/>
        </p:spPr>
      </p:sp>
      <p:sp>
        <p:nvSpPr>
          <p:cNvPr id="4" name="Text 2"/>
          <p:cNvSpPr/>
          <p:nvPr/>
        </p:nvSpPr>
        <p:spPr>
          <a:xfrm>
            <a:off x="457200" y="228600"/>
            <a:ext cx="2011680" cy="365760"/>
          </a:xfrm>
          <a:prstGeom prst="rect">
            <a:avLst/>
          </a:prstGeom>
          <a:noFill/>
          <a:ln/>
        </p:spPr>
        <p:txBody>
          <a:bodyPr wrap="square" lIns="0" tIns="0" rIns="0" bIns="0" rtlCol="0" anchor="ctr"/>
          <a:lstStyle/>
          <a:p>
            <a:pPr algn="ctr" indent="0" marL="0">
              <a:buNone/>
            </a:pPr>
            <a:r>
              <a:rPr lang="en-US" sz="1000" b="1" dirty="0">
                <a:solidFill>
                  <a:srgbClr val="1A1A1A"/>
                </a:solidFill>
                <a:latin typeface="Arial" pitchFamily="34" charset="0"/>
                <a:ea typeface="Arial" pitchFamily="34" charset="-122"/>
                <a:cs typeface="Arial" pitchFamily="34" charset="-120"/>
              </a:rPr>
              <a:t>OUR SAP PAL JOURNEY</a:t>
            </a:r>
            <a:endParaRPr lang="en-US" sz="1000" dirty="0"/>
          </a:p>
        </p:txBody>
      </p:sp>
      <p:sp>
        <p:nvSpPr>
          <p:cNvPr id="5" name="Text 3"/>
          <p:cNvSpPr/>
          <p:nvPr/>
        </p:nvSpPr>
        <p:spPr>
          <a:xfrm>
            <a:off x="457200" y="777240"/>
            <a:ext cx="8229600" cy="548640"/>
          </a:xfrm>
          <a:prstGeom prst="rect">
            <a:avLst/>
          </a:prstGeom>
          <a:noFill/>
          <a:ln/>
        </p:spPr>
        <p:txBody>
          <a:bodyPr wrap="square" lIns="0" tIns="0" rIns="0" bIns="0" rtlCol="0" anchor="ctr"/>
          <a:lstStyle/>
          <a:p>
            <a:pPr indent="0" marL="0">
              <a:buNone/>
            </a:pPr>
            <a:r>
              <a:rPr lang="en-US" sz="3600" b="1" dirty="0">
                <a:solidFill>
                  <a:srgbClr val="FFFFFF"/>
                </a:solidFill>
                <a:latin typeface="Arial" pitchFamily="34" charset="0"/>
                <a:ea typeface="Arial" pitchFamily="34" charset="-122"/>
                <a:cs typeface="Arial" pitchFamily="34" charset="-120"/>
              </a:rPr>
              <a:t>From Guesswork to AI Intelligence</a:t>
            </a:r>
            <a:endParaRPr lang="en-US" sz="3600" dirty="0"/>
          </a:p>
        </p:txBody>
      </p:sp>
      <p:sp>
        <p:nvSpPr>
          <p:cNvPr id="6" name="Text 4"/>
          <p:cNvSpPr/>
          <p:nvPr/>
        </p:nvSpPr>
        <p:spPr>
          <a:xfrm>
            <a:off x="457200" y="1234440"/>
            <a:ext cx="8229600" cy="365760"/>
          </a:xfrm>
          <a:prstGeom prst="rect">
            <a:avLst/>
          </a:prstGeom>
          <a:noFill/>
          <a:ln/>
        </p:spPr>
        <p:txBody>
          <a:bodyPr wrap="square" lIns="0" tIns="0" rIns="0" bIns="0" rtlCol="0" anchor="ctr"/>
          <a:lstStyle/>
          <a:p>
            <a:pPr indent="0" marL="0">
              <a:buNone/>
            </a:pPr>
            <a:r>
              <a:rPr lang="en-US" sz="1300" dirty="0">
                <a:solidFill>
                  <a:srgbClr val="B0B8C0"/>
                </a:solidFill>
                <a:latin typeface="Arial" pitchFamily="34" charset="0"/>
                <a:ea typeface="Arial" pitchFamily="34" charset="-122"/>
                <a:cs typeface="Arial" pitchFamily="34" charset="-120"/>
              </a:rPr>
              <a:t>4 iterations, 13 experimental scripts, and deep SAP PAL exploration to build a production forecasting engine</a:t>
            </a:r>
            <a:endParaRPr lang="en-US" sz="1300" dirty="0"/>
          </a:p>
        </p:txBody>
      </p:sp>
      <p:sp>
        <p:nvSpPr>
          <p:cNvPr id="7" name="Shape 5"/>
          <p:cNvSpPr/>
          <p:nvPr/>
        </p:nvSpPr>
        <p:spPr>
          <a:xfrm>
            <a:off x="731520" y="1965960"/>
            <a:ext cx="7680960" cy="0"/>
          </a:xfrm>
          <a:prstGeom prst="line">
            <a:avLst/>
          </a:prstGeom>
          <a:noFill/>
          <a:ln w="31750">
            <a:solidFill>
              <a:srgbClr val="00BCD4"/>
            </a:solidFill>
            <a:prstDash val="solid"/>
          </a:ln>
        </p:spPr>
      </p:sp>
      <p:sp>
        <p:nvSpPr>
          <p:cNvPr id="8" name="Shape 6"/>
          <p:cNvSpPr/>
          <p:nvPr/>
        </p:nvSpPr>
        <p:spPr>
          <a:xfrm>
            <a:off x="1097280" y="1737360"/>
            <a:ext cx="457200" cy="457200"/>
          </a:xfrm>
          <a:prstGeom prst="ellipse">
            <a:avLst/>
          </a:prstGeom>
          <a:solidFill>
            <a:srgbClr val="00BCD4"/>
          </a:solidFill>
          <a:ln w="38100">
            <a:solidFill>
              <a:srgbClr val="0F1923"/>
            </a:solidFill>
            <a:prstDash val="solid"/>
          </a:ln>
        </p:spPr>
      </p:sp>
      <p:sp>
        <p:nvSpPr>
          <p:cNvPr id="9" name="Text 7"/>
          <p:cNvSpPr/>
          <p:nvPr/>
        </p:nvSpPr>
        <p:spPr>
          <a:xfrm>
            <a:off x="1097280" y="1737360"/>
            <a:ext cx="457200" cy="457200"/>
          </a:xfrm>
          <a:prstGeom prst="rect">
            <a:avLst/>
          </a:prstGeom>
          <a:noFill/>
          <a:ln/>
        </p:spPr>
        <p:txBody>
          <a:bodyPr wrap="square" lIns="0" tIns="0" rIns="0" bIns="0" rtlCol="0" anchor="ctr"/>
          <a:lstStyle/>
          <a:p>
            <a:pPr algn="ctr" indent="0" marL="0">
              <a:buNone/>
            </a:pPr>
            <a:r>
              <a:rPr lang="en-US" sz="1200" b="1" dirty="0">
                <a:solidFill>
                  <a:srgbClr val="0F1923"/>
                </a:solidFill>
                <a:latin typeface="Arial" pitchFamily="34" charset="0"/>
                <a:ea typeface="Arial" pitchFamily="34" charset="-122"/>
                <a:cs typeface="Arial" pitchFamily="34" charset="-120"/>
              </a:rPr>
              <a:t>01</a:t>
            </a:r>
            <a:endParaRPr lang="en-US" sz="1200" dirty="0"/>
          </a:p>
        </p:txBody>
      </p:sp>
      <p:sp>
        <p:nvSpPr>
          <p:cNvPr id="10" name="Shape 8"/>
          <p:cNvSpPr/>
          <p:nvPr/>
        </p:nvSpPr>
        <p:spPr>
          <a:xfrm>
            <a:off x="457200" y="2377440"/>
            <a:ext cx="1920240" cy="2148840"/>
          </a:xfrm>
          <a:prstGeom prst="rect">
            <a:avLst/>
          </a:prstGeom>
          <a:solidFill>
            <a:srgbClr val="172A3A"/>
          </a:solidFill>
          <a:ln w="19050">
            <a:solidFill>
              <a:srgbClr val="00BCD4"/>
            </a:solidFill>
            <a:prstDash val="solid"/>
          </a:ln>
        </p:spPr>
      </p:sp>
      <p:sp>
        <p:nvSpPr>
          <p:cNvPr id="11" name="Text 9"/>
          <p:cNvSpPr/>
          <p:nvPr/>
        </p:nvSpPr>
        <p:spPr>
          <a:xfrm>
            <a:off x="548640" y="2450592"/>
            <a:ext cx="1737360" cy="228600"/>
          </a:xfrm>
          <a:prstGeom prst="rect">
            <a:avLst/>
          </a:prstGeom>
          <a:noFill/>
          <a:ln/>
        </p:spPr>
        <p:txBody>
          <a:bodyPr wrap="square" lIns="0" tIns="0" rIns="0" bIns="0" rtlCol="0" anchor="ctr"/>
          <a:lstStyle/>
          <a:p>
            <a:pPr algn="l" indent="0" marL="0">
              <a:buNone/>
            </a:pPr>
            <a:r>
              <a:rPr lang="en-US" sz="800" b="1" dirty="0">
                <a:solidFill>
                  <a:srgbClr val="00BCD4"/>
                </a:solidFill>
                <a:latin typeface="Arial" pitchFamily="34" charset="0"/>
                <a:ea typeface="Arial" pitchFamily="34" charset="-122"/>
                <a:cs typeface="Arial" pitchFamily="34" charset="-120"/>
              </a:rPr>
              <a:t>ITERATION 1</a:t>
            </a:r>
            <a:endParaRPr lang="en-US" sz="800" dirty="0"/>
          </a:p>
        </p:txBody>
      </p:sp>
      <p:sp>
        <p:nvSpPr>
          <p:cNvPr id="12" name="Text 10"/>
          <p:cNvSpPr/>
          <p:nvPr/>
        </p:nvSpPr>
        <p:spPr>
          <a:xfrm>
            <a:off x="548640" y="2679192"/>
            <a:ext cx="1737360" cy="365760"/>
          </a:xfrm>
          <a:prstGeom prst="rect">
            <a:avLst/>
          </a:prstGeom>
          <a:noFill/>
          <a:ln/>
        </p:spPr>
        <p:txBody>
          <a:bodyPr wrap="square" lIns="0" tIns="0" rIns="0" bIns="0" rtlCol="0" anchor="t"/>
          <a:lstStyle/>
          <a:p>
            <a:pPr algn="l" indent="0" marL="0">
              <a:buNone/>
            </a:pPr>
            <a:r>
              <a:rPr lang="en-US" sz="1400" b="1" dirty="0">
                <a:solidFill>
                  <a:srgbClr val="FFFFFF"/>
                </a:solidFill>
                <a:latin typeface="Arial" pitchFamily="34" charset="0"/>
                <a:ea typeface="Arial" pitchFamily="34" charset="-122"/>
                <a:cs typeface="Arial" pitchFamily="34" charset="-120"/>
              </a:rPr>
              <a:t>SES Baseline</a:t>
            </a:r>
            <a:endParaRPr lang="en-US" sz="1400" dirty="0"/>
          </a:p>
        </p:txBody>
      </p:sp>
      <p:sp>
        <p:nvSpPr>
          <p:cNvPr id="13" name="Text 11"/>
          <p:cNvSpPr/>
          <p:nvPr/>
        </p:nvSpPr>
        <p:spPr>
          <a:xfrm>
            <a:off x="548640" y="3063240"/>
            <a:ext cx="1737360" cy="292608"/>
          </a:xfrm>
          <a:prstGeom prst="rect">
            <a:avLst/>
          </a:prstGeom>
          <a:noFill/>
          <a:ln/>
        </p:spPr>
        <p:txBody>
          <a:bodyPr wrap="square" lIns="0" tIns="0" rIns="0" bIns="0" rtlCol="0" anchor="ctr"/>
          <a:lstStyle/>
          <a:p>
            <a:pPr algn="l" indent="0" marL="0">
              <a:buNone/>
            </a:pPr>
            <a:r>
              <a:rPr lang="en-US" sz="1000" b="1" dirty="0">
                <a:solidFill>
                  <a:srgbClr val="FFFFFF"/>
                </a:solidFill>
                <a:latin typeface="Arial" pitchFamily="34" charset="0"/>
                <a:ea typeface="Arial" pitchFamily="34" charset="-122"/>
                <a:cs typeface="Arial" pitchFamily="34" charset="-120"/>
              </a:rPr>
              <a:t>PAL_BROWN_EXPSMOOTH</a:t>
            </a:r>
            <a:endParaRPr lang="en-US" sz="1000" dirty="0"/>
          </a:p>
        </p:txBody>
      </p:sp>
      <p:sp>
        <p:nvSpPr>
          <p:cNvPr id="14" name="Text 12"/>
          <p:cNvSpPr/>
          <p:nvPr/>
        </p:nvSpPr>
        <p:spPr>
          <a:xfrm>
            <a:off x="548640" y="3383280"/>
            <a:ext cx="1737360" cy="292608"/>
          </a:xfrm>
          <a:prstGeom prst="rect">
            <a:avLst/>
          </a:prstGeom>
          <a:noFill/>
          <a:ln/>
        </p:spPr>
        <p:txBody>
          <a:bodyPr wrap="square" lIns="0" tIns="0" rIns="0" bIns="0" rtlCol="0" anchor="ctr"/>
          <a:lstStyle/>
          <a:p>
            <a:pPr algn="l" indent="0" marL="0">
              <a:buNone/>
            </a:pPr>
            <a:r>
              <a:rPr lang="en-US" sz="950" dirty="0">
                <a:solidFill>
                  <a:srgbClr val="B0B8C0"/>
                </a:solidFill>
                <a:latin typeface="Arial" pitchFamily="34" charset="0"/>
                <a:ea typeface="Arial" pitchFamily="34" charset="-122"/>
                <a:cs typeface="Arial" pitchFamily="34" charset="-120"/>
              </a:rPr>
              <a:t>6-month forecast horizon</a:t>
            </a:r>
            <a:endParaRPr lang="en-US" sz="950" dirty="0"/>
          </a:p>
        </p:txBody>
      </p:sp>
      <p:sp>
        <p:nvSpPr>
          <p:cNvPr id="15" name="Text 13"/>
          <p:cNvSpPr/>
          <p:nvPr/>
        </p:nvSpPr>
        <p:spPr>
          <a:xfrm>
            <a:off x="548640" y="3703320"/>
            <a:ext cx="1737360" cy="292608"/>
          </a:xfrm>
          <a:prstGeom prst="rect">
            <a:avLst/>
          </a:prstGeom>
          <a:noFill/>
          <a:ln/>
        </p:spPr>
        <p:txBody>
          <a:bodyPr wrap="square" lIns="0" tIns="0" rIns="0" bIns="0" rtlCol="0" anchor="ctr"/>
          <a:lstStyle/>
          <a:p>
            <a:pPr algn="l" indent="0" marL="0">
              <a:buNone/>
            </a:pPr>
            <a:r>
              <a:rPr lang="en-US" sz="950" dirty="0">
                <a:solidFill>
                  <a:srgbClr val="B0B8C0"/>
                </a:solidFill>
                <a:latin typeface="Arial" pitchFamily="34" charset="0"/>
                <a:ea typeface="Arial" pitchFamily="34" charset="-122"/>
                <a:cs typeface="Arial" pitchFamily="34" charset="-120"/>
              </a:rPr>
              <a:t>Single param: FORECAST_NUM</a:t>
            </a:r>
            <a:endParaRPr lang="en-US" sz="950" dirty="0"/>
          </a:p>
        </p:txBody>
      </p:sp>
      <p:sp>
        <p:nvSpPr>
          <p:cNvPr id="16" name="Text 14"/>
          <p:cNvSpPr/>
          <p:nvPr/>
        </p:nvSpPr>
        <p:spPr>
          <a:xfrm>
            <a:off x="548640" y="4023360"/>
            <a:ext cx="1737360" cy="292608"/>
          </a:xfrm>
          <a:prstGeom prst="rect">
            <a:avLst/>
          </a:prstGeom>
          <a:noFill/>
          <a:ln/>
        </p:spPr>
        <p:txBody>
          <a:bodyPr wrap="square" lIns="0" tIns="0" rIns="0" bIns="0" rtlCol="0" anchor="ctr"/>
          <a:lstStyle/>
          <a:p>
            <a:pPr algn="l" indent="0" marL="0">
              <a:buNone/>
            </a:pPr>
            <a:r>
              <a:rPr lang="en-US" sz="950" dirty="0">
                <a:solidFill>
                  <a:srgbClr val="B0B8C0"/>
                </a:solidFill>
                <a:latin typeface="Arial" pitchFamily="34" charset="0"/>
                <a:ea typeface="Arial" pitchFamily="34" charset="-122"/>
                <a:cs typeface="Arial" pitchFamily="34" charset="-120"/>
              </a:rPr>
              <a:t>Proved the concept works</a:t>
            </a:r>
            <a:endParaRPr lang="en-US" sz="950" dirty="0"/>
          </a:p>
        </p:txBody>
      </p:sp>
      <p:sp>
        <p:nvSpPr>
          <p:cNvPr id="17" name="Shape 15"/>
          <p:cNvSpPr/>
          <p:nvPr/>
        </p:nvSpPr>
        <p:spPr>
          <a:xfrm>
            <a:off x="3246120" y="1737360"/>
            <a:ext cx="457200" cy="457200"/>
          </a:xfrm>
          <a:prstGeom prst="ellipse">
            <a:avLst/>
          </a:prstGeom>
          <a:solidFill>
            <a:srgbClr val="F9A825"/>
          </a:solidFill>
          <a:ln w="38100">
            <a:solidFill>
              <a:srgbClr val="0F1923"/>
            </a:solidFill>
            <a:prstDash val="solid"/>
          </a:ln>
        </p:spPr>
      </p:sp>
      <p:sp>
        <p:nvSpPr>
          <p:cNvPr id="18" name="Text 16"/>
          <p:cNvSpPr/>
          <p:nvPr/>
        </p:nvSpPr>
        <p:spPr>
          <a:xfrm>
            <a:off x="3246120" y="1737360"/>
            <a:ext cx="457200" cy="457200"/>
          </a:xfrm>
          <a:prstGeom prst="rect">
            <a:avLst/>
          </a:prstGeom>
          <a:noFill/>
          <a:ln/>
        </p:spPr>
        <p:txBody>
          <a:bodyPr wrap="square" lIns="0" tIns="0" rIns="0" bIns="0" rtlCol="0" anchor="ctr"/>
          <a:lstStyle/>
          <a:p>
            <a:pPr algn="ctr" indent="0" marL="0">
              <a:buNone/>
            </a:pPr>
            <a:r>
              <a:rPr lang="en-US" sz="1200" b="1" dirty="0">
                <a:solidFill>
                  <a:srgbClr val="0F1923"/>
                </a:solidFill>
                <a:latin typeface="Arial" pitchFamily="34" charset="0"/>
                <a:ea typeface="Arial" pitchFamily="34" charset="-122"/>
                <a:cs typeface="Arial" pitchFamily="34" charset="-120"/>
              </a:rPr>
              <a:t>02</a:t>
            </a:r>
            <a:endParaRPr lang="en-US" sz="1200" dirty="0"/>
          </a:p>
        </p:txBody>
      </p:sp>
      <p:sp>
        <p:nvSpPr>
          <p:cNvPr id="19" name="Shape 17"/>
          <p:cNvSpPr/>
          <p:nvPr/>
        </p:nvSpPr>
        <p:spPr>
          <a:xfrm>
            <a:off x="2606040" y="2377440"/>
            <a:ext cx="1920240" cy="2148840"/>
          </a:xfrm>
          <a:prstGeom prst="rect">
            <a:avLst/>
          </a:prstGeom>
          <a:solidFill>
            <a:srgbClr val="172A3A"/>
          </a:solidFill>
          <a:ln w="19050">
            <a:solidFill>
              <a:srgbClr val="F9A825"/>
            </a:solidFill>
            <a:prstDash val="solid"/>
          </a:ln>
        </p:spPr>
      </p:sp>
      <p:sp>
        <p:nvSpPr>
          <p:cNvPr id="20" name="Text 18"/>
          <p:cNvSpPr/>
          <p:nvPr/>
        </p:nvSpPr>
        <p:spPr>
          <a:xfrm>
            <a:off x="2697480" y="2450592"/>
            <a:ext cx="1737360" cy="228600"/>
          </a:xfrm>
          <a:prstGeom prst="rect">
            <a:avLst/>
          </a:prstGeom>
          <a:noFill/>
          <a:ln/>
        </p:spPr>
        <p:txBody>
          <a:bodyPr wrap="square" lIns="0" tIns="0" rIns="0" bIns="0" rtlCol="0" anchor="ctr"/>
          <a:lstStyle/>
          <a:p>
            <a:pPr algn="l" indent="0" marL="0">
              <a:buNone/>
            </a:pPr>
            <a:r>
              <a:rPr lang="en-US" sz="800" b="1" dirty="0">
                <a:solidFill>
                  <a:srgbClr val="F9A825"/>
                </a:solidFill>
                <a:latin typeface="Arial" pitchFamily="34" charset="0"/>
                <a:ea typeface="Arial" pitchFamily="34" charset="-122"/>
                <a:cs typeface="Arial" pitchFamily="34" charset="-120"/>
              </a:rPr>
              <a:t>ITERATION 2</a:t>
            </a:r>
            <a:endParaRPr lang="en-US" sz="800" dirty="0"/>
          </a:p>
        </p:txBody>
      </p:sp>
      <p:sp>
        <p:nvSpPr>
          <p:cNvPr id="21" name="Text 19"/>
          <p:cNvSpPr/>
          <p:nvPr/>
        </p:nvSpPr>
        <p:spPr>
          <a:xfrm>
            <a:off x="2697480" y="2679192"/>
            <a:ext cx="1737360" cy="365760"/>
          </a:xfrm>
          <a:prstGeom prst="rect">
            <a:avLst/>
          </a:prstGeom>
          <a:noFill/>
          <a:ln/>
        </p:spPr>
        <p:txBody>
          <a:bodyPr wrap="square" lIns="0" tIns="0" rIns="0" bIns="0" rtlCol="0" anchor="t"/>
          <a:lstStyle/>
          <a:p>
            <a:pPr algn="l" indent="0" marL="0">
              <a:buNone/>
            </a:pPr>
            <a:r>
              <a:rPr lang="en-US" sz="1400" b="1" dirty="0">
                <a:solidFill>
                  <a:srgbClr val="FFFFFF"/>
                </a:solidFill>
                <a:latin typeface="Arial" pitchFamily="34" charset="0"/>
                <a:ea typeface="Arial" pitchFamily="34" charset="-122"/>
                <a:cs typeface="Arial" pitchFamily="34" charset="-120"/>
              </a:rPr>
              <a:t>SARIMA + Quality</a:t>
            </a:r>
            <a:endParaRPr lang="en-US" sz="1400" dirty="0"/>
          </a:p>
        </p:txBody>
      </p:sp>
      <p:sp>
        <p:nvSpPr>
          <p:cNvPr id="22" name="Text 20"/>
          <p:cNvSpPr/>
          <p:nvPr/>
        </p:nvSpPr>
        <p:spPr>
          <a:xfrm>
            <a:off x="2697480" y="3063240"/>
            <a:ext cx="1737360" cy="292608"/>
          </a:xfrm>
          <a:prstGeom prst="rect">
            <a:avLst/>
          </a:prstGeom>
          <a:noFill/>
          <a:ln/>
        </p:spPr>
        <p:txBody>
          <a:bodyPr wrap="square" lIns="0" tIns="0" rIns="0" bIns="0" rtlCol="0" anchor="ctr"/>
          <a:lstStyle/>
          <a:p>
            <a:pPr algn="l" indent="0" marL="0">
              <a:buNone/>
            </a:pPr>
            <a:r>
              <a:rPr lang="en-US" sz="1000" b="1" dirty="0">
                <a:solidFill>
                  <a:srgbClr val="FFFFFF"/>
                </a:solidFill>
                <a:latin typeface="Arial" pitchFamily="34" charset="0"/>
                <a:ea typeface="Arial" pitchFamily="34" charset="-122"/>
                <a:cs typeface="Arial" pitchFamily="34" charset="-120"/>
              </a:rPr>
              <a:t>PAL_AUTOARIMA added</a:t>
            </a:r>
            <a:endParaRPr lang="en-US" sz="1000" dirty="0"/>
          </a:p>
        </p:txBody>
      </p:sp>
      <p:sp>
        <p:nvSpPr>
          <p:cNvPr id="23" name="Text 21"/>
          <p:cNvSpPr/>
          <p:nvPr/>
        </p:nvSpPr>
        <p:spPr>
          <a:xfrm>
            <a:off x="2697480" y="3383280"/>
            <a:ext cx="1737360" cy="292608"/>
          </a:xfrm>
          <a:prstGeom prst="rect">
            <a:avLst/>
          </a:prstGeom>
          <a:noFill/>
          <a:ln/>
        </p:spPr>
        <p:txBody>
          <a:bodyPr wrap="square" lIns="0" tIns="0" rIns="0" bIns="0" rtlCol="0" anchor="ctr"/>
          <a:lstStyle/>
          <a:p>
            <a:pPr algn="l" indent="0" marL="0">
              <a:buNone/>
            </a:pPr>
            <a:r>
              <a:rPr lang="en-US" sz="950" dirty="0">
                <a:solidFill>
                  <a:srgbClr val="B0B8C0"/>
                </a:solidFill>
                <a:latin typeface="Arial" pitchFamily="34" charset="0"/>
                <a:ea typeface="Arial" pitchFamily="34" charset="-122"/>
                <a:cs typeface="Arial" pitchFamily="34" charset="-120"/>
              </a:rPr>
              <a:t>Outlier detection via PAL</a:t>
            </a:r>
            <a:endParaRPr lang="en-US" sz="950" dirty="0"/>
          </a:p>
        </p:txBody>
      </p:sp>
      <p:sp>
        <p:nvSpPr>
          <p:cNvPr id="24" name="Text 22"/>
          <p:cNvSpPr/>
          <p:nvPr/>
        </p:nvSpPr>
        <p:spPr>
          <a:xfrm>
            <a:off x="2697480" y="3703320"/>
            <a:ext cx="1737360" cy="292608"/>
          </a:xfrm>
          <a:prstGeom prst="rect">
            <a:avLst/>
          </a:prstGeom>
          <a:noFill/>
          <a:ln/>
        </p:spPr>
        <p:txBody>
          <a:bodyPr wrap="square" lIns="0" tIns="0" rIns="0" bIns="0" rtlCol="0" anchor="ctr"/>
          <a:lstStyle/>
          <a:p>
            <a:pPr algn="l" indent="0" marL="0">
              <a:buNone/>
            </a:pPr>
            <a:r>
              <a:rPr lang="en-US" sz="950" dirty="0">
                <a:solidFill>
                  <a:srgbClr val="B0B8C0"/>
                </a:solidFill>
                <a:latin typeface="Arial" pitchFamily="34" charset="0"/>
                <a:ea typeface="Arial" pitchFamily="34" charset="-122"/>
                <a:cs typeface="Arial" pitchFamily="34" charset="-120"/>
              </a:rPr>
              <a:t>Data cliff checks added</a:t>
            </a:r>
            <a:endParaRPr lang="en-US" sz="950" dirty="0"/>
          </a:p>
        </p:txBody>
      </p:sp>
      <p:sp>
        <p:nvSpPr>
          <p:cNvPr id="25" name="Text 23"/>
          <p:cNvSpPr/>
          <p:nvPr/>
        </p:nvSpPr>
        <p:spPr>
          <a:xfrm>
            <a:off x="2697480" y="4023360"/>
            <a:ext cx="1737360" cy="292608"/>
          </a:xfrm>
          <a:prstGeom prst="rect">
            <a:avLst/>
          </a:prstGeom>
          <a:noFill/>
          <a:ln/>
        </p:spPr>
        <p:txBody>
          <a:bodyPr wrap="square" lIns="0" tIns="0" rIns="0" bIns="0" rtlCol="0" anchor="ctr"/>
          <a:lstStyle/>
          <a:p>
            <a:pPr algn="l" indent="0" marL="0">
              <a:buNone/>
            </a:pPr>
            <a:r>
              <a:rPr lang="en-US" sz="950" dirty="0">
                <a:solidFill>
                  <a:srgbClr val="B0B8C0"/>
                </a:solidFill>
                <a:latin typeface="Arial" pitchFamily="34" charset="0"/>
                <a:ea typeface="Arial" pitchFamily="34" charset="-122"/>
                <a:cs typeface="Arial" pitchFamily="34" charset="-120"/>
              </a:rPr>
              <a:t>Seasonal Naive baseline</a:t>
            </a:r>
            <a:endParaRPr lang="en-US" sz="950" dirty="0"/>
          </a:p>
        </p:txBody>
      </p:sp>
      <p:sp>
        <p:nvSpPr>
          <p:cNvPr id="26" name="Shape 24"/>
          <p:cNvSpPr/>
          <p:nvPr/>
        </p:nvSpPr>
        <p:spPr>
          <a:xfrm>
            <a:off x="5394960" y="1737360"/>
            <a:ext cx="457200" cy="457200"/>
          </a:xfrm>
          <a:prstGeom prst="ellipse">
            <a:avLst/>
          </a:prstGeom>
          <a:solidFill>
            <a:srgbClr val="FF9800"/>
          </a:solidFill>
          <a:ln w="38100">
            <a:solidFill>
              <a:srgbClr val="0F1923"/>
            </a:solidFill>
            <a:prstDash val="solid"/>
          </a:ln>
        </p:spPr>
      </p:sp>
      <p:sp>
        <p:nvSpPr>
          <p:cNvPr id="27" name="Text 25"/>
          <p:cNvSpPr/>
          <p:nvPr/>
        </p:nvSpPr>
        <p:spPr>
          <a:xfrm>
            <a:off x="5394960" y="1737360"/>
            <a:ext cx="457200" cy="457200"/>
          </a:xfrm>
          <a:prstGeom prst="rect">
            <a:avLst/>
          </a:prstGeom>
          <a:noFill/>
          <a:ln/>
        </p:spPr>
        <p:txBody>
          <a:bodyPr wrap="square" lIns="0" tIns="0" rIns="0" bIns="0" rtlCol="0" anchor="ctr"/>
          <a:lstStyle/>
          <a:p>
            <a:pPr algn="ctr" indent="0" marL="0">
              <a:buNone/>
            </a:pPr>
            <a:r>
              <a:rPr lang="en-US" sz="1200" b="1" dirty="0">
                <a:solidFill>
                  <a:srgbClr val="0F1923"/>
                </a:solidFill>
                <a:latin typeface="Arial" pitchFamily="34" charset="0"/>
                <a:ea typeface="Arial" pitchFamily="34" charset="-122"/>
                <a:cs typeface="Arial" pitchFamily="34" charset="-120"/>
              </a:rPr>
              <a:t>03</a:t>
            </a:r>
            <a:endParaRPr lang="en-US" sz="1200" dirty="0"/>
          </a:p>
        </p:txBody>
      </p:sp>
      <p:sp>
        <p:nvSpPr>
          <p:cNvPr id="28" name="Shape 26"/>
          <p:cNvSpPr/>
          <p:nvPr/>
        </p:nvSpPr>
        <p:spPr>
          <a:xfrm>
            <a:off x="4754880" y="2377440"/>
            <a:ext cx="1920240" cy="2148840"/>
          </a:xfrm>
          <a:prstGeom prst="rect">
            <a:avLst/>
          </a:prstGeom>
          <a:solidFill>
            <a:srgbClr val="172A3A"/>
          </a:solidFill>
          <a:ln w="19050">
            <a:solidFill>
              <a:srgbClr val="FF9800"/>
            </a:solidFill>
            <a:prstDash val="solid"/>
          </a:ln>
        </p:spPr>
      </p:sp>
      <p:sp>
        <p:nvSpPr>
          <p:cNvPr id="29" name="Text 27"/>
          <p:cNvSpPr/>
          <p:nvPr/>
        </p:nvSpPr>
        <p:spPr>
          <a:xfrm>
            <a:off x="4846320" y="2450592"/>
            <a:ext cx="1737360" cy="228600"/>
          </a:xfrm>
          <a:prstGeom prst="rect">
            <a:avLst/>
          </a:prstGeom>
          <a:noFill/>
          <a:ln/>
        </p:spPr>
        <p:txBody>
          <a:bodyPr wrap="square" lIns="0" tIns="0" rIns="0" bIns="0" rtlCol="0" anchor="ctr"/>
          <a:lstStyle/>
          <a:p>
            <a:pPr algn="l" indent="0" marL="0">
              <a:buNone/>
            </a:pPr>
            <a:r>
              <a:rPr lang="en-US" sz="800" b="1" dirty="0">
                <a:solidFill>
                  <a:srgbClr val="FF9800"/>
                </a:solidFill>
                <a:latin typeface="Arial" pitchFamily="34" charset="0"/>
                <a:ea typeface="Arial" pitchFamily="34" charset="-122"/>
                <a:cs typeface="Arial" pitchFamily="34" charset="-120"/>
              </a:rPr>
              <a:t>ITERATION 3</a:t>
            </a:r>
            <a:endParaRPr lang="en-US" sz="800" dirty="0"/>
          </a:p>
        </p:txBody>
      </p:sp>
      <p:sp>
        <p:nvSpPr>
          <p:cNvPr id="30" name="Text 28"/>
          <p:cNvSpPr/>
          <p:nvPr/>
        </p:nvSpPr>
        <p:spPr>
          <a:xfrm>
            <a:off x="4846320" y="2679192"/>
            <a:ext cx="1737360" cy="365760"/>
          </a:xfrm>
          <a:prstGeom prst="rect">
            <a:avLst/>
          </a:prstGeom>
          <a:noFill/>
          <a:ln/>
        </p:spPr>
        <p:txBody>
          <a:bodyPr wrap="square" lIns="0" tIns="0" rIns="0" bIns="0" rtlCol="0" anchor="t"/>
          <a:lstStyle/>
          <a:p>
            <a:pPr algn="l" indent="0" marL="0">
              <a:buNone/>
            </a:pPr>
            <a:r>
              <a:rPr lang="en-US" sz="1400" b="1" dirty="0">
                <a:solidFill>
                  <a:srgbClr val="FFFFFF"/>
                </a:solidFill>
                <a:latin typeface="Arial" pitchFamily="34" charset="0"/>
                <a:ea typeface="Arial" pitchFamily="34" charset="-122"/>
                <a:cs typeface="Arial" pitchFamily="34" charset="-120"/>
              </a:rPr>
              <a:t>AutoML → BSTS</a:t>
            </a:r>
            <a:endParaRPr lang="en-US" sz="1400" dirty="0"/>
          </a:p>
        </p:txBody>
      </p:sp>
      <p:sp>
        <p:nvSpPr>
          <p:cNvPr id="31" name="Text 29"/>
          <p:cNvSpPr/>
          <p:nvPr/>
        </p:nvSpPr>
        <p:spPr>
          <a:xfrm>
            <a:off x="4846320" y="3063240"/>
            <a:ext cx="1737360" cy="292608"/>
          </a:xfrm>
          <a:prstGeom prst="rect">
            <a:avLst/>
          </a:prstGeom>
          <a:noFill/>
          <a:ln/>
        </p:spPr>
        <p:txBody>
          <a:bodyPr wrap="square" lIns="0" tIns="0" rIns="0" bIns="0" rtlCol="0" anchor="ctr"/>
          <a:lstStyle/>
          <a:p>
            <a:pPr algn="l" indent="0" marL="0">
              <a:buNone/>
            </a:pPr>
            <a:r>
              <a:rPr lang="en-US" sz="1000" b="1" dirty="0">
                <a:solidFill>
                  <a:srgbClr val="FFFFFF"/>
                </a:solidFill>
                <a:latin typeface="Arial" pitchFamily="34" charset="0"/>
                <a:ea typeface="Arial" pitchFamily="34" charset="-122"/>
                <a:cs typeface="Arial" pitchFamily="34" charset="-120"/>
              </a:rPr>
              <a:t>PAL_AUTOML_FIT tested</a:t>
            </a:r>
            <a:endParaRPr lang="en-US" sz="1000" dirty="0"/>
          </a:p>
        </p:txBody>
      </p:sp>
      <p:sp>
        <p:nvSpPr>
          <p:cNvPr id="32" name="Text 30"/>
          <p:cNvSpPr/>
          <p:nvPr/>
        </p:nvSpPr>
        <p:spPr>
          <a:xfrm>
            <a:off x="4846320" y="3383280"/>
            <a:ext cx="1737360" cy="292608"/>
          </a:xfrm>
          <a:prstGeom prst="rect">
            <a:avLst/>
          </a:prstGeom>
          <a:noFill/>
          <a:ln/>
        </p:spPr>
        <p:txBody>
          <a:bodyPr wrap="square" lIns="0" tIns="0" rIns="0" bIns="0" rtlCol="0" anchor="ctr"/>
          <a:lstStyle/>
          <a:p>
            <a:pPr algn="l" indent="0" marL="0">
              <a:buNone/>
            </a:pPr>
            <a:r>
              <a:rPr lang="en-US" sz="950" dirty="0">
                <a:solidFill>
                  <a:srgbClr val="B0B8C0"/>
                </a:solidFill>
                <a:latin typeface="Arial" pitchFamily="34" charset="0"/>
                <a:ea typeface="Arial" pitchFamily="34" charset="-122"/>
                <a:cs typeface="Arial" pitchFamily="34" charset="-120"/>
              </a:rPr>
              <a:t>9 scripts, 4 BSTS iterations</a:t>
            </a:r>
            <a:endParaRPr lang="en-US" sz="950" dirty="0"/>
          </a:p>
        </p:txBody>
      </p:sp>
      <p:sp>
        <p:nvSpPr>
          <p:cNvPr id="33" name="Text 31"/>
          <p:cNvSpPr/>
          <p:nvPr/>
        </p:nvSpPr>
        <p:spPr>
          <a:xfrm>
            <a:off x="4846320" y="3703320"/>
            <a:ext cx="1737360" cy="292608"/>
          </a:xfrm>
          <a:prstGeom prst="rect">
            <a:avLst/>
          </a:prstGeom>
          <a:noFill/>
          <a:ln/>
        </p:spPr>
        <p:txBody>
          <a:bodyPr wrap="square" lIns="0" tIns="0" rIns="0" bIns="0" rtlCol="0" anchor="ctr"/>
          <a:lstStyle/>
          <a:p>
            <a:pPr algn="l" indent="0" marL="0">
              <a:buNone/>
            </a:pPr>
            <a:r>
              <a:rPr lang="en-US" sz="950" dirty="0">
                <a:solidFill>
                  <a:srgbClr val="B0B8C0"/>
                </a:solidFill>
                <a:latin typeface="Arial" pitchFamily="34" charset="0"/>
                <a:ea typeface="Arial" pitchFamily="34" charset="-122"/>
                <a:cs typeface="Arial" pitchFamily="34" charset="-120"/>
              </a:rPr>
              <a:t>AutoML recommended BSTS</a:t>
            </a:r>
            <a:endParaRPr lang="en-US" sz="950" dirty="0"/>
          </a:p>
        </p:txBody>
      </p:sp>
      <p:sp>
        <p:nvSpPr>
          <p:cNvPr id="34" name="Text 32"/>
          <p:cNvSpPr/>
          <p:nvPr/>
        </p:nvSpPr>
        <p:spPr>
          <a:xfrm>
            <a:off x="4846320" y="4023360"/>
            <a:ext cx="1737360" cy="292608"/>
          </a:xfrm>
          <a:prstGeom prst="rect">
            <a:avLst/>
          </a:prstGeom>
          <a:noFill/>
          <a:ln/>
        </p:spPr>
        <p:txBody>
          <a:bodyPr wrap="square" lIns="0" tIns="0" rIns="0" bIns="0" rtlCol="0" anchor="ctr"/>
          <a:lstStyle/>
          <a:p>
            <a:pPr algn="l" indent="0" marL="0">
              <a:buNone/>
            </a:pPr>
            <a:r>
              <a:rPr lang="en-US" sz="950" dirty="0">
                <a:solidFill>
                  <a:srgbClr val="B0B8C0"/>
                </a:solidFill>
                <a:latin typeface="Arial" pitchFamily="34" charset="0"/>
                <a:ea typeface="Arial" pitchFamily="34" charset="-122"/>
                <a:cs typeface="Arial" pitchFamily="34" charset="-120"/>
              </a:rPr>
              <a:t>hana_ml BSTS implemented</a:t>
            </a:r>
            <a:endParaRPr lang="en-US" sz="950" dirty="0"/>
          </a:p>
        </p:txBody>
      </p:sp>
      <p:sp>
        <p:nvSpPr>
          <p:cNvPr id="35" name="Shape 33"/>
          <p:cNvSpPr/>
          <p:nvPr/>
        </p:nvSpPr>
        <p:spPr>
          <a:xfrm>
            <a:off x="7543800" y="1737360"/>
            <a:ext cx="457200" cy="457200"/>
          </a:xfrm>
          <a:prstGeom prst="ellipse">
            <a:avLst/>
          </a:prstGeom>
          <a:solidFill>
            <a:srgbClr val="4CAF50"/>
          </a:solidFill>
          <a:ln w="38100">
            <a:solidFill>
              <a:srgbClr val="0F1923"/>
            </a:solidFill>
            <a:prstDash val="solid"/>
          </a:ln>
        </p:spPr>
      </p:sp>
      <p:sp>
        <p:nvSpPr>
          <p:cNvPr id="36" name="Text 34"/>
          <p:cNvSpPr/>
          <p:nvPr/>
        </p:nvSpPr>
        <p:spPr>
          <a:xfrm>
            <a:off x="7543800" y="1737360"/>
            <a:ext cx="457200" cy="457200"/>
          </a:xfrm>
          <a:prstGeom prst="rect">
            <a:avLst/>
          </a:prstGeom>
          <a:noFill/>
          <a:ln/>
        </p:spPr>
        <p:txBody>
          <a:bodyPr wrap="square" lIns="0" tIns="0" rIns="0" bIns="0" rtlCol="0" anchor="ctr"/>
          <a:lstStyle/>
          <a:p>
            <a:pPr algn="ctr" indent="0" marL="0">
              <a:buNone/>
            </a:pPr>
            <a:r>
              <a:rPr lang="en-US" sz="1200" b="1" dirty="0">
                <a:solidFill>
                  <a:srgbClr val="0F1923"/>
                </a:solidFill>
                <a:latin typeface="Arial" pitchFamily="34" charset="0"/>
                <a:ea typeface="Arial" pitchFamily="34" charset="-122"/>
                <a:cs typeface="Arial" pitchFamily="34" charset="-120"/>
              </a:rPr>
              <a:t>04</a:t>
            </a:r>
            <a:endParaRPr lang="en-US" sz="1200" dirty="0"/>
          </a:p>
        </p:txBody>
      </p:sp>
      <p:sp>
        <p:nvSpPr>
          <p:cNvPr id="37" name="Shape 35"/>
          <p:cNvSpPr/>
          <p:nvPr/>
        </p:nvSpPr>
        <p:spPr>
          <a:xfrm>
            <a:off x="6903720" y="2377440"/>
            <a:ext cx="1920240" cy="2148840"/>
          </a:xfrm>
          <a:prstGeom prst="rect">
            <a:avLst/>
          </a:prstGeom>
          <a:solidFill>
            <a:srgbClr val="172A3A"/>
          </a:solidFill>
          <a:ln w="19050">
            <a:solidFill>
              <a:srgbClr val="4CAF50"/>
            </a:solidFill>
            <a:prstDash val="solid"/>
          </a:ln>
        </p:spPr>
      </p:sp>
      <p:sp>
        <p:nvSpPr>
          <p:cNvPr id="38" name="Text 36"/>
          <p:cNvSpPr/>
          <p:nvPr/>
        </p:nvSpPr>
        <p:spPr>
          <a:xfrm>
            <a:off x="6995160" y="2450592"/>
            <a:ext cx="1737360" cy="228600"/>
          </a:xfrm>
          <a:prstGeom prst="rect">
            <a:avLst/>
          </a:prstGeom>
          <a:noFill/>
          <a:ln/>
        </p:spPr>
        <p:txBody>
          <a:bodyPr wrap="square" lIns="0" tIns="0" rIns="0" bIns="0" rtlCol="0" anchor="ctr"/>
          <a:lstStyle/>
          <a:p>
            <a:pPr algn="l" indent="0" marL="0">
              <a:buNone/>
            </a:pPr>
            <a:r>
              <a:rPr lang="en-US" sz="800" b="1" dirty="0">
                <a:solidFill>
                  <a:srgbClr val="4CAF50"/>
                </a:solidFill>
                <a:latin typeface="Arial" pitchFamily="34" charset="0"/>
                <a:ea typeface="Arial" pitchFamily="34" charset="-122"/>
                <a:cs typeface="Arial" pitchFamily="34" charset="-120"/>
              </a:rPr>
              <a:t>ITERATION 4</a:t>
            </a:r>
            <a:endParaRPr lang="en-US" sz="800" dirty="0"/>
          </a:p>
        </p:txBody>
      </p:sp>
      <p:sp>
        <p:nvSpPr>
          <p:cNvPr id="39" name="Text 37"/>
          <p:cNvSpPr/>
          <p:nvPr/>
        </p:nvSpPr>
        <p:spPr>
          <a:xfrm>
            <a:off x="6995160" y="2679192"/>
            <a:ext cx="1737360" cy="365760"/>
          </a:xfrm>
          <a:prstGeom prst="rect">
            <a:avLst/>
          </a:prstGeom>
          <a:noFill/>
          <a:ln/>
        </p:spPr>
        <p:txBody>
          <a:bodyPr wrap="square" lIns="0" tIns="0" rIns="0" bIns="0" rtlCol="0" anchor="t"/>
          <a:lstStyle/>
          <a:p>
            <a:pPr algn="l" indent="0" marL="0">
              <a:buNone/>
            </a:pPr>
            <a:r>
              <a:rPr lang="en-US" sz="1400" b="1" dirty="0">
                <a:solidFill>
                  <a:srgbClr val="FFFFFF"/>
                </a:solidFill>
                <a:latin typeface="Arial" pitchFamily="34" charset="0"/>
                <a:ea typeface="Arial" pitchFamily="34" charset="-122"/>
                <a:cs typeface="Arial" pitchFamily="34" charset="-120"/>
              </a:rPr>
              <a:t>Production + API</a:t>
            </a:r>
            <a:endParaRPr lang="en-US" sz="1400" dirty="0"/>
          </a:p>
        </p:txBody>
      </p:sp>
      <p:sp>
        <p:nvSpPr>
          <p:cNvPr id="40" name="Text 38"/>
          <p:cNvSpPr/>
          <p:nvPr/>
        </p:nvSpPr>
        <p:spPr>
          <a:xfrm>
            <a:off x="6995160" y="3063240"/>
            <a:ext cx="1737360" cy="292608"/>
          </a:xfrm>
          <a:prstGeom prst="rect">
            <a:avLst/>
          </a:prstGeom>
          <a:noFill/>
          <a:ln/>
        </p:spPr>
        <p:txBody>
          <a:bodyPr wrap="square" lIns="0" tIns="0" rIns="0" bIns="0" rtlCol="0" anchor="ctr"/>
          <a:lstStyle/>
          <a:p>
            <a:pPr algn="l" indent="0" marL="0">
              <a:buNone/>
            </a:pPr>
            <a:r>
              <a:rPr lang="en-US" sz="1000" b="1" dirty="0">
                <a:solidFill>
                  <a:srgbClr val="FFFFFF"/>
                </a:solidFill>
                <a:latin typeface="Arial" pitchFamily="34" charset="0"/>
                <a:ea typeface="Arial" pitchFamily="34" charset="-122"/>
                <a:cs typeface="Arial" pitchFamily="34" charset="-120"/>
              </a:rPr>
              <a:t>SES + SARIMA + BSTS</a:t>
            </a:r>
            <a:endParaRPr lang="en-US" sz="1000" dirty="0"/>
          </a:p>
        </p:txBody>
      </p:sp>
      <p:sp>
        <p:nvSpPr>
          <p:cNvPr id="41" name="Text 39"/>
          <p:cNvSpPr/>
          <p:nvPr/>
        </p:nvSpPr>
        <p:spPr>
          <a:xfrm>
            <a:off x="6995160" y="3383280"/>
            <a:ext cx="1737360" cy="292608"/>
          </a:xfrm>
          <a:prstGeom prst="rect">
            <a:avLst/>
          </a:prstGeom>
          <a:noFill/>
          <a:ln/>
        </p:spPr>
        <p:txBody>
          <a:bodyPr wrap="square" lIns="0" tIns="0" rIns="0" bIns="0" rtlCol="0" anchor="ctr"/>
          <a:lstStyle/>
          <a:p>
            <a:pPr algn="l" indent="0" marL="0">
              <a:buNone/>
            </a:pPr>
            <a:r>
              <a:rPr lang="en-US" sz="950" dirty="0">
                <a:solidFill>
                  <a:srgbClr val="B0B8C0"/>
                </a:solidFill>
                <a:latin typeface="Arial" pitchFamily="34" charset="0"/>
                <a:ea typeface="Arial" pitchFamily="34" charset="-122"/>
                <a:cs typeface="Arial" pitchFamily="34" charset="-120"/>
              </a:rPr>
              <a:t>12-month forecast horizon</a:t>
            </a:r>
            <a:endParaRPr lang="en-US" sz="950" dirty="0"/>
          </a:p>
        </p:txBody>
      </p:sp>
      <p:sp>
        <p:nvSpPr>
          <p:cNvPr id="42" name="Text 40"/>
          <p:cNvSpPr/>
          <p:nvPr/>
        </p:nvSpPr>
        <p:spPr>
          <a:xfrm>
            <a:off x="6995160" y="3703320"/>
            <a:ext cx="1737360" cy="292608"/>
          </a:xfrm>
          <a:prstGeom prst="rect">
            <a:avLst/>
          </a:prstGeom>
          <a:noFill/>
          <a:ln/>
        </p:spPr>
        <p:txBody>
          <a:bodyPr wrap="square" lIns="0" tIns="0" rIns="0" bIns="0" rtlCol="0" anchor="ctr"/>
          <a:lstStyle/>
          <a:p>
            <a:pPr algn="l" indent="0" marL="0">
              <a:buNone/>
            </a:pPr>
            <a:r>
              <a:rPr lang="en-US" sz="950" dirty="0">
                <a:solidFill>
                  <a:srgbClr val="B0B8C0"/>
                </a:solidFill>
                <a:latin typeface="Arial" pitchFamily="34" charset="0"/>
                <a:ea typeface="Arial" pitchFamily="34" charset="-122"/>
                <a:cs typeface="Arial" pitchFamily="34" charset="-120"/>
              </a:rPr>
              <a:t>5 tunable params via API</a:t>
            </a:r>
            <a:endParaRPr lang="en-US" sz="950" dirty="0"/>
          </a:p>
        </p:txBody>
      </p:sp>
      <p:sp>
        <p:nvSpPr>
          <p:cNvPr id="43" name="Text 41"/>
          <p:cNvSpPr/>
          <p:nvPr/>
        </p:nvSpPr>
        <p:spPr>
          <a:xfrm>
            <a:off x="6995160" y="4023360"/>
            <a:ext cx="1737360" cy="292608"/>
          </a:xfrm>
          <a:prstGeom prst="rect">
            <a:avLst/>
          </a:prstGeom>
          <a:noFill/>
          <a:ln/>
        </p:spPr>
        <p:txBody>
          <a:bodyPr wrap="square" lIns="0" tIns="0" rIns="0" bIns="0" rtlCol="0" anchor="ctr"/>
          <a:lstStyle/>
          <a:p>
            <a:pPr algn="l" indent="0" marL="0">
              <a:buNone/>
            </a:pPr>
            <a:r>
              <a:rPr lang="en-US" sz="950" dirty="0">
                <a:solidFill>
                  <a:srgbClr val="B0B8C0"/>
                </a:solidFill>
                <a:latin typeface="Arial" pitchFamily="34" charset="0"/>
                <a:ea typeface="Arial" pitchFamily="34" charset="-122"/>
                <a:cs typeface="Arial" pitchFamily="34" charset="-120"/>
              </a:rPr>
              <a:t>Composite key forecasting</a:t>
            </a:r>
            <a:endParaRPr lang="en-US" sz="950" dirty="0"/>
          </a:p>
        </p:txBody>
      </p:sp>
      <p:sp>
        <p:nvSpPr>
          <p:cNvPr id="44" name="Text 42"/>
          <p:cNvSpPr/>
          <p:nvPr/>
        </p:nvSpPr>
        <p:spPr>
          <a:xfrm>
            <a:off x="457200" y="4754880"/>
            <a:ext cx="8229600" cy="274320"/>
          </a:xfrm>
          <a:prstGeom prst="rect">
            <a:avLst/>
          </a:prstGeom>
          <a:noFill/>
          <a:ln/>
        </p:spPr>
        <p:txBody>
          <a:bodyPr wrap="square" lIns="0" tIns="0" rIns="0" bIns="0" rtlCol="0" anchor="ctr"/>
          <a:lstStyle/>
          <a:p>
            <a:pPr algn="ctr" indent="0" marL="0">
              <a:buNone/>
            </a:pPr>
            <a:r>
              <a:rPr lang="en-US" sz="1000" dirty="0">
                <a:solidFill>
                  <a:srgbClr val="00BCD4"/>
                </a:solidFill>
                <a:latin typeface="Arial" pitchFamily="34" charset="0"/>
                <a:ea typeface="Arial" pitchFamily="34" charset="-122"/>
                <a:cs typeface="Arial" pitchFamily="34" charset="-120"/>
              </a:rPr>
              <a:t>13 experimental scripts  ·  All models run via SAP PAL inside HANA Cloud  ·  Zero data leaves the database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923"/>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CD4"/>
          </a:solidFill>
          <a:ln/>
        </p:spPr>
      </p:sp>
      <p:sp>
        <p:nvSpPr>
          <p:cNvPr id="3" name="Shape 1"/>
          <p:cNvSpPr/>
          <p:nvPr/>
        </p:nvSpPr>
        <p:spPr>
          <a:xfrm>
            <a:off x="457200" y="228600"/>
            <a:ext cx="2194560" cy="365760"/>
          </a:xfrm>
          <a:prstGeom prst="rect">
            <a:avLst/>
          </a:prstGeom>
          <a:solidFill>
            <a:srgbClr val="F9A825"/>
          </a:solidFill>
          <a:ln/>
        </p:spPr>
      </p:sp>
      <p:sp>
        <p:nvSpPr>
          <p:cNvPr id="4" name="Text 2"/>
          <p:cNvSpPr/>
          <p:nvPr/>
        </p:nvSpPr>
        <p:spPr>
          <a:xfrm>
            <a:off x="457200" y="228600"/>
            <a:ext cx="2194560" cy="365760"/>
          </a:xfrm>
          <a:prstGeom prst="rect">
            <a:avLst/>
          </a:prstGeom>
          <a:noFill/>
          <a:ln/>
        </p:spPr>
        <p:txBody>
          <a:bodyPr wrap="square" lIns="0" tIns="0" rIns="0" bIns="0" rtlCol="0" anchor="ctr"/>
          <a:lstStyle/>
          <a:p>
            <a:pPr algn="ctr" indent="0" marL="0">
              <a:buNone/>
            </a:pPr>
            <a:r>
              <a:rPr lang="en-US" sz="1000" b="1" dirty="0">
                <a:solidFill>
                  <a:srgbClr val="1A1A1A"/>
                </a:solidFill>
                <a:latin typeface="Arial" pitchFamily="34" charset="0"/>
                <a:ea typeface="Arial" pitchFamily="34" charset="-122"/>
                <a:cs typeface="Arial" pitchFamily="34" charset="-120"/>
              </a:rPr>
              <a:t>SAP PAL MODELS</a:t>
            </a:r>
            <a:endParaRPr lang="en-US" sz="1000" dirty="0"/>
          </a:p>
        </p:txBody>
      </p:sp>
      <p:sp>
        <p:nvSpPr>
          <p:cNvPr id="5" name="Text 3"/>
          <p:cNvSpPr/>
          <p:nvPr/>
        </p:nvSpPr>
        <p:spPr>
          <a:xfrm>
            <a:off x="457200" y="685800"/>
            <a:ext cx="8229600" cy="45720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Three SAP PAL Models Compete Per Accessory</a:t>
            </a:r>
            <a:endParaRPr lang="en-US" sz="2800" dirty="0"/>
          </a:p>
        </p:txBody>
      </p:sp>
      <p:sp>
        <p:nvSpPr>
          <p:cNvPr id="6" name="Text 4"/>
          <p:cNvSpPr/>
          <p:nvPr/>
        </p:nvSpPr>
        <p:spPr>
          <a:xfrm>
            <a:off x="457200" y="1097280"/>
            <a:ext cx="8229600" cy="320040"/>
          </a:xfrm>
          <a:prstGeom prst="rect">
            <a:avLst/>
          </a:prstGeom>
          <a:noFill/>
          <a:ln/>
        </p:spPr>
        <p:txBody>
          <a:bodyPr wrap="square" lIns="0" tIns="0" rIns="0" bIns="0" rtlCol="0" anchor="ctr"/>
          <a:lstStyle/>
          <a:p>
            <a:pPr indent="0" marL="0">
              <a:buNone/>
            </a:pPr>
            <a:r>
              <a:rPr lang="en-US" sz="1200" dirty="0">
                <a:solidFill>
                  <a:srgbClr val="B0B8C0"/>
                </a:solidFill>
                <a:latin typeface="Arial" pitchFamily="34" charset="0"/>
                <a:ea typeface="Arial" pitchFamily="34" charset="-122"/>
                <a:cs typeface="Arial" pitchFamily="34" charset="-120"/>
              </a:rPr>
              <a:t>Each model runs inside SAP HANA Cloud via PAL — the best one is automatically selected by lowest MAPE</a:t>
            </a:r>
            <a:endParaRPr lang="en-US" sz="1200" dirty="0"/>
          </a:p>
        </p:txBody>
      </p:sp>
      <p:sp>
        <p:nvSpPr>
          <p:cNvPr id="7" name="Shape 5"/>
          <p:cNvSpPr/>
          <p:nvPr/>
        </p:nvSpPr>
        <p:spPr>
          <a:xfrm>
            <a:off x="457200" y="1554480"/>
            <a:ext cx="8229600" cy="1005840"/>
          </a:xfrm>
          <a:prstGeom prst="rect">
            <a:avLst/>
          </a:prstGeom>
          <a:solidFill>
            <a:srgbClr val="172A3A"/>
          </a:solidFill>
          <a:ln w="19050">
            <a:solidFill>
              <a:srgbClr val="E53935"/>
            </a:solidFill>
            <a:prstDash val="solid"/>
          </a:ln>
        </p:spPr>
      </p:sp>
      <p:sp>
        <p:nvSpPr>
          <p:cNvPr id="8" name="Shape 6"/>
          <p:cNvSpPr/>
          <p:nvPr/>
        </p:nvSpPr>
        <p:spPr>
          <a:xfrm>
            <a:off x="457200" y="1554480"/>
            <a:ext cx="64008" cy="1005840"/>
          </a:xfrm>
          <a:prstGeom prst="rect">
            <a:avLst/>
          </a:prstGeom>
          <a:solidFill>
            <a:srgbClr val="E53935"/>
          </a:solidFill>
          <a:ln/>
        </p:spPr>
      </p:sp>
      <p:sp>
        <p:nvSpPr>
          <p:cNvPr id="9" name="Text 7"/>
          <p:cNvSpPr/>
          <p:nvPr/>
        </p:nvSpPr>
        <p:spPr>
          <a:xfrm>
            <a:off x="685800" y="1600200"/>
            <a:ext cx="1371600" cy="320040"/>
          </a:xfrm>
          <a:prstGeom prst="rect">
            <a:avLst/>
          </a:prstGeom>
          <a:noFill/>
          <a:ln/>
        </p:spPr>
        <p:txBody>
          <a:bodyPr wrap="square" lIns="0" tIns="0" rIns="0" bIns="0" rtlCol="0" anchor="ctr"/>
          <a:lstStyle/>
          <a:p>
            <a:pPr algn="l" indent="0" marL="0">
              <a:buNone/>
            </a:pPr>
            <a:r>
              <a:rPr lang="en-US" sz="1800" b="1" dirty="0">
                <a:solidFill>
                  <a:srgbClr val="E53935"/>
                </a:solidFill>
                <a:latin typeface="Arial" pitchFamily="34" charset="0"/>
                <a:ea typeface="Arial" pitchFamily="34" charset="-122"/>
                <a:cs typeface="Arial" pitchFamily="34" charset="-120"/>
              </a:rPr>
              <a:t>SES</a:t>
            </a:r>
            <a:endParaRPr lang="en-US" sz="1800" dirty="0"/>
          </a:p>
        </p:txBody>
      </p:sp>
      <p:sp>
        <p:nvSpPr>
          <p:cNvPr id="10" name="Text 8"/>
          <p:cNvSpPr/>
          <p:nvPr/>
        </p:nvSpPr>
        <p:spPr>
          <a:xfrm>
            <a:off x="2011680" y="1600200"/>
            <a:ext cx="1920240" cy="320040"/>
          </a:xfrm>
          <a:prstGeom prst="rect">
            <a:avLst/>
          </a:prstGeom>
          <a:noFill/>
          <a:ln/>
        </p:spPr>
        <p:txBody>
          <a:bodyPr wrap="square" lIns="0" tIns="0" rIns="0" bIns="0" rtlCol="0" anchor="ctr"/>
          <a:lstStyle/>
          <a:p>
            <a:pPr algn="l" indent="0" marL="0">
              <a:buNone/>
            </a:pPr>
            <a:r>
              <a:rPr lang="en-US" sz="1000" dirty="0">
                <a:solidFill>
                  <a:srgbClr val="B0B8C0"/>
                </a:solidFill>
                <a:latin typeface="Arial" pitchFamily="34" charset="0"/>
                <a:ea typeface="Arial" pitchFamily="34" charset="-122"/>
                <a:cs typeface="Arial" pitchFamily="34" charset="-120"/>
              </a:rPr>
              <a:t>Simple Exponential Smoothing</a:t>
            </a:r>
            <a:endParaRPr lang="en-US" sz="1000" dirty="0"/>
          </a:p>
        </p:txBody>
      </p:sp>
      <p:sp>
        <p:nvSpPr>
          <p:cNvPr id="11" name="Shape 9"/>
          <p:cNvSpPr/>
          <p:nvPr/>
        </p:nvSpPr>
        <p:spPr>
          <a:xfrm>
            <a:off x="4114800" y="1645920"/>
            <a:ext cx="4389120" cy="256032"/>
          </a:xfrm>
          <a:prstGeom prst="rect">
            <a:avLst/>
          </a:prstGeom>
          <a:solidFill>
            <a:srgbClr val="0D1520"/>
          </a:solidFill>
          <a:ln/>
        </p:spPr>
      </p:sp>
      <p:sp>
        <p:nvSpPr>
          <p:cNvPr id="12" name="Text 10"/>
          <p:cNvSpPr/>
          <p:nvPr/>
        </p:nvSpPr>
        <p:spPr>
          <a:xfrm>
            <a:off x="4160520" y="1645920"/>
            <a:ext cx="4297680" cy="256032"/>
          </a:xfrm>
          <a:prstGeom prst="rect">
            <a:avLst/>
          </a:prstGeom>
          <a:noFill/>
          <a:ln/>
        </p:spPr>
        <p:txBody>
          <a:bodyPr wrap="square" lIns="0" tIns="0" rIns="0" bIns="0" rtlCol="0" anchor="ctr"/>
          <a:lstStyle/>
          <a:p>
            <a:pPr algn="l" indent="0" marL="0">
              <a:buNone/>
            </a:pPr>
            <a:r>
              <a:rPr lang="en-US" sz="900" dirty="0">
                <a:solidFill>
                  <a:srgbClr val="00BCD4"/>
                </a:solidFill>
                <a:latin typeface="Consolas" pitchFamily="34" charset="0"/>
                <a:ea typeface="Consolas" pitchFamily="34" charset="-122"/>
                <a:cs typeface="Consolas" pitchFamily="34" charset="-120"/>
              </a:rPr>
              <a:t>PAL_BROWN_EXPSMOOTH</a:t>
            </a:r>
            <a:endParaRPr lang="en-US" sz="900" dirty="0"/>
          </a:p>
        </p:txBody>
      </p:sp>
      <p:sp>
        <p:nvSpPr>
          <p:cNvPr id="13" name="Text 11"/>
          <p:cNvSpPr/>
          <p:nvPr/>
        </p:nvSpPr>
        <p:spPr>
          <a:xfrm>
            <a:off x="685800" y="1938528"/>
            <a:ext cx="7772400" cy="256032"/>
          </a:xfrm>
          <a:prstGeom prst="rect">
            <a:avLst/>
          </a:prstGeom>
          <a:noFill/>
          <a:ln/>
        </p:spPr>
        <p:txBody>
          <a:bodyPr wrap="square" lIns="0" tIns="0" rIns="0" bIns="0" rtlCol="0" anchor="ctr"/>
          <a:lstStyle/>
          <a:p>
            <a:pPr algn="l" indent="0" marL="0">
              <a:buNone/>
            </a:pPr>
            <a:r>
              <a:rPr lang="en-US" sz="950" b="1" dirty="0">
                <a:solidFill>
                  <a:srgbClr val="FFFFFF"/>
                </a:solidFill>
                <a:latin typeface="Arial" pitchFamily="34" charset="0"/>
                <a:ea typeface="Arial" pitchFamily="34" charset="-122"/>
                <a:cs typeface="Arial" pitchFamily="34" charset="-120"/>
              </a:rPr>
              <a:t>How: </a:t>
            </a:r>
            <a:pPr algn="l" indent="0" marL="0">
              <a:buNone/>
            </a:pPr>
            <a:r>
              <a:rPr lang="en-US" sz="950" dirty="0">
                <a:solidFill>
                  <a:srgbClr val="B0B8C0"/>
                </a:solidFill>
                <a:latin typeface="Arial" pitchFamily="34" charset="0"/>
                <a:ea typeface="Arial" pitchFamily="34" charset="-122"/>
                <a:cs typeface="Arial" pitchFamily="34" charset="-120"/>
              </a:rPr>
              <a:t>Weighted average of recent months. Smoothing constant (alpha) auto-optimized by PAL.</a:t>
            </a:r>
            <a:endParaRPr lang="en-US" sz="950" dirty="0"/>
          </a:p>
        </p:txBody>
      </p:sp>
      <p:sp>
        <p:nvSpPr>
          <p:cNvPr id="14" name="Text 12"/>
          <p:cNvSpPr/>
          <p:nvPr/>
        </p:nvSpPr>
        <p:spPr>
          <a:xfrm>
            <a:off x="685800" y="2121408"/>
            <a:ext cx="5029200" cy="256032"/>
          </a:xfrm>
          <a:prstGeom prst="rect">
            <a:avLst/>
          </a:prstGeom>
          <a:noFill/>
          <a:ln/>
        </p:spPr>
        <p:txBody>
          <a:bodyPr wrap="square" lIns="0" tIns="0" rIns="0" bIns="0" rtlCol="0" anchor="ctr"/>
          <a:lstStyle/>
          <a:p>
            <a:pPr algn="l" indent="0" marL="0">
              <a:buNone/>
            </a:pPr>
            <a:r>
              <a:rPr lang="en-US" sz="950" b="1" dirty="0">
                <a:solidFill>
                  <a:srgbClr val="FFFFFF"/>
                </a:solidFill>
                <a:latin typeface="Arial" pitchFamily="34" charset="0"/>
                <a:ea typeface="Arial" pitchFamily="34" charset="-122"/>
                <a:cs typeface="Arial" pitchFamily="34" charset="-120"/>
              </a:rPr>
              <a:t>Best when: </a:t>
            </a:r>
            <a:pPr algn="l" indent="0" marL="0">
              <a:buNone/>
            </a:pPr>
            <a:r>
              <a:rPr lang="en-US" sz="950" dirty="0">
                <a:solidFill>
                  <a:srgbClr val="B0B8C0"/>
                </a:solidFill>
                <a:latin typeface="Arial" pitchFamily="34" charset="0"/>
                <a:ea typeface="Arial" pitchFamily="34" charset="-122"/>
                <a:cs typeface="Arial" pitchFamily="34" charset="-120"/>
              </a:rPr>
              <a:t>Steady demand with no strong seasonal pattern</a:t>
            </a:r>
            <a:endParaRPr lang="en-US" sz="950" dirty="0"/>
          </a:p>
        </p:txBody>
      </p:sp>
      <p:sp>
        <p:nvSpPr>
          <p:cNvPr id="15" name="Text 13"/>
          <p:cNvSpPr/>
          <p:nvPr/>
        </p:nvSpPr>
        <p:spPr>
          <a:xfrm>
            <a:off x="685800" y="2304288"/>
            <a:ext cx="7772400" cy="228600"/>
          </a:xfrm>
          <a:prstGeom prst="rect">
            <a:avLst/>
          </a:prstGeom>
          <a:noFill/>
          <a:ln/>
        </p:spPr>
        <p:txBody>
          <a:bodyPr wrap="square" lIns="0" tIns="0" rIns="0" bIns="0" rtlCol="0" anchor="ctr"/>
          <a:lstStyle/>
          <a:p>
            <a:pPr algn="l" indent="0" marL="0">
              <a:buNone/>
            </a:pPr>
            <a:r>
              <a:rPr lang="en-US" sz="950" b="1" dirty="0">
                <a:solidFill>
                  <a:srgbClr val="FFFFFF"/>
                </a:solidFill>
                <a:latin typeface="Arial" pitchFamily="34" charset="0"/>
                <a:ea typeface="Arial" pitchFamily="34" charset="-122"/>
                <a:cs typeface="Arial" pitchFamily="34" charset="-120"/>
              </a:rPr>
              <a:t>Tunable: </a:t>
            </a:r>
            <a:pPr algn="l" indent="0" marL="0">
              <a:buNone/>
            </a:pPr>
            <a:r>
              <a:rPr lang="en-US" sz="950" dirty="0">
                <a:solidFill>
                  <a:srgbClr val="B0B8C0"/>
                </a:solidFill>
                <a:latin typeface="Arial" pitchFamily="34" charset="0"/>
                <a:ea typeface="Arial" pitchFamily="34" charset="-122"/>
                <a:cs typeface="Arial" pitchFamily="34" charset="-120"/>
              </a:rPr>
              <a:t>ALPHA (0–1.0) — user-tunable via API</a:t>
            </a:r>
            <a:endParaRPr lang="en-US" sz="950" dirty="0"/>
          </a:p>
        </p:txBody>
      </p:sp>
      <p:sp>
        <p:nvSpPr>
          <p:cNvPr id="16" name="Shape 14"/>
          <p:cNvSpPr/>
          <p:nvPr/>
        </p:nvSpPr>
        <p:spPr>
          <a:xfrm>
            <a:off x="457200" y="2633472"/>
            <a:ext cx="8229600" cy="1005840"/>
          </a:xfrm>
          <a:prstGeom prst="rect">
            <a:avLst/>
          </a:prstGeom>
          <a:solidFill>
            <a:srgbClr val="172A3A"/>
          </a:solidFill>
          <a:ln w="19050">
            <a:solidFill>
              <a:srgbClr val="F9A825"/>
            </a:solidFill>
            <a:prstDash val="solid"/>
          </a:ln>
        </p:spPr>
      </p:sp>
      <p:sp>
        <p:nvSpPr>
          <p:cNvPr id="17" name="Shape 15"/>
          <p:cNvSpPr/>
          <p:nvPr/>
        </p:nvSpPr>
        <p:spPr>
          <a:xfrm>
            <a:off x="457200" y="2633472"/>
            <a:ext cx="64008" cy="1005840"/>
          </a:xfrm>
          <a:prstGeom prst="rect">
            <a:avLst/>
          </a:prstGeom>
          <a:solidFill>
            <a:srgbClr val="F9A825"/>
          </a:solidFill>
          <a:ln/>
        </p:spPr>
      </p:sp>
      <p:sp>
        <p:nvSpPr>
          <p:cNvPr id="18" name="Text 16"/>
          <p:cNvSpPr/>
          <p:nvPr/>
        </p:nvSpPr>
        <p:spPr>
          <a:xfrm>
            <a:off x="685800" y="2679192"/>
            <a:ext cx="1371600" cy="320040"/>
          </a:xfrm>
          <a:prstGeom prst="rect">
            <a:avLst/>
          </a:prstGeom>
          <a:noFill/>
          <a:ln/>
        </p:spPr>
        <p:txBody>
          <a:bodyPr wrap="square" lIns="0" tIns="0" rIns="0" bIns="0" rtlCol="0" anchor="ctr"/>
          <a:lstStyle/>
          <a:p>
            <a:pPr algn="l" indent="0" marL="0">
              <a:buNone/>
            </a:pPr>
            <a:r>
              <a:rPr lang="en-US" sz="1800" b="1" dirty="0">
                <a:solidFill>
                  <a:srgbClr val="F9A825"/>
                </a:solidFill>
                <a:latin typeface="Arial" pitchFamily="34" charset="0"/>
                <a:ea typeface="Arial" pitchFamily="34" charset="-122"/>
                <a:cs typeface="Arial" pitchFamily="34" charset="-120"/>
              </a:rPr>
              <a:t>SARIMA</a:t>
            </a:r>
            <a:endParaRPr lang="en-US" sz="1800" dirty="0"/>
          </a:p>
        </p:txBody>
      </p:sp>
      <p:sp>
        <p:nvSpPr>
          <p:cNvPr id="19" name="Text 17"/>
          <p:cNvSpPr/>
          <p:nvPr/>
        </p:nvSpPr>
        <p:spPr>
          <a:xfrm>
            <a:off x="2011680" y="2679192"/>
            <a:ext cx="1920240" cy="320040"/>
          </a:xfrm>
          <a:prstGeom prst="rect">
            <a:avLst/>
          </a:prstGeom>
          <a:noFill/>
          <a:ln/>
        </p:spPr>
        <p:txBody>
          <a:bodyPr wrap="square" lIns="0" tIns="0" rIns="0" bIns="0" rtlCol="0" anchor="ctr"/>
          <a:lstStyle/>
          <a:p>
            <a:pPr algn="l" indent="0" marL="0">
              <a:buNone/>
            </a:pPr>
            <a:r>
              <a:rPr lang="en-US" sz="1000" dirty="0">
                <a:solidFill>
                  <a:srgbClr val="B0B8C0"/>
                </a:solidFill>
                <a:latin typeface="Arial" pitchFamily="34" charset="0"/>
                <a:ea typeface="Arial" pitchFamily="34" charset="-122"/>
                <a:cs typeface="Arial" pitchFamily="34" charset="-120"/>
              </a:rPr>
              <a:t>Seasonal Auto-ARIMA</a:t>
            </a:r>
            <a:endParaRPr lang="en-US" sz="1000" dirty="0"/>
          </a:p>
        </p:txBody>
      </p:sp>
      <p:sp>
        <p:nvSpPr>
          <p:cNvPr id="20" name="Shape 18"/>
          <p:cNvSpPr/>
          <p:nvPr/>
        </p:nvSpPr>
        <p:spPr>
          <a:xfrm>
            <a:off x="4114800" y="2724912"/>
            <a:ext cx="4389120" cy="256032"/>
          </a:xfrm>
          <a:prstGeom prst="rect">
            <a:avLst/>
          </a:prstGeom>
          <a:solidFill>
            <a:srgbClr val="0D1520"/>
          </a:solidFill>
          <a:ln/>
        </p:spPr>
      </p:sp>
      <p:sp>
        <p:nvSpPr>
          <p:cNvPr id="21" name="Text 19"/>
          <p:cNvSpPr/>
          <p:nvPr/>
        </p:nvSpPr>
        <p:spPr>
          <a:xfrm>
            <a:off x="4160520" y="2724912"/>
            <a:ext cx="4297680" cy="256032"/>
          </a:xfrm>
          <a:prstGeom prst="rect">
            <a:avLst/>
          </a:prstGeom>
          <a:noFill/>
          <a:ln/>
        </p:spPr>
        <p:txBody>
          <a:bodyPr wrap="square" lIns="0" tIns="0" rIns="0" bIns="0" rtlCol="0" anchor="ctr"/>
          <a:lstStyle/>
          <a:p>
            <a:pPr algn="l" indent="0" marL="0">
              <a:buNone/>
            </a:pPr>
            <a:r>
              <a:rPr lang="en-US" sz="900" dirty="0">
                <a:solidFill>
                  <a:srgbClr val="00BCD4"/>
                </a:solidFill>
                <a:latin typeface="Consolas" pitchFamily="34" charset="0"/>
                <a:ea typeface="Consolas" pitchFamily="34" charset="-122"/>
                <a:cs typeface="Consolas" pitchFamily="34" charset="-120"/>
              </a:rPr>
              <a:t>PAL_AUTOARIMA + PAL_ARIMA_FORECAST</a:t>
            </a:r>
            <a:endParaRPr lang="en-US" sz="900" dirty="0"/>
          </a:p>
        </p:txBody>
      </p:sp>
      <p:sp>
        <p:nvSpPr>
          <p:cNvPr id="22" name="Text 20"/>
          <p:cNvSpPr/>
          <p:nvPr/>
        </p:nvSpPr>
        <p:spPr>
          <a:xfrm>
            <a:off x="685800" y="3017520"/>
            <a:ext cx="7772400" cy="256032"/>
          </a:xfrm>
          <a:prstGeom prst="rect">
            <a:avLst/>
          </a:prstGeom>
          <a:noFill/>
          <a:ln/>
        </p:spPr>
        <p:txBody>
          <a:bodyPr wrap="square" lIns="0" tIns="0" rIns="0" bIns="0" rtlCol="0" anchor="ctr"/>
          <a:lstStyle/>
          <a:p>
            <a:pPr algn="l" indent="0" marL="0">
              <a:buNone/>
            </a:pPr>
            <a:r>
              <a:rPr lang="en-US" sz="950" b="1" dirty="0">
                <a:solidFill>
                  <a:srgbClr val="FFFFFF"/>
                </a:solidFill>
                <a:latin typeface="Arial" pitchFamily="34" charset="0"/>
                <a:ea typeface="Arial" pitchFamily="34" charset="-122"/>
                <a:cs typeface="Arial" pitchFamily="34" charset="-120"/>
              </a:rPr>
              <a:t>How: </a:t>
            </a:r>
            <a:pPr algn="l" indent="0" marL="0">
              <a:buNone/>
            </a:pPr>
            <a:r>
              <a:rPr lang="en-US" sz="950" dirty="0">
                <a:solidFill>
                  <a:srgbClr val="B0B8C0"/>
                </a:solidFill>
                <a:latin typeface="Arial" pitchFamily="34" charset="0"/>
                <a:ea typeface="Arial" pitchFamily="34" charset="-122"/>
                <a:cs typeface="Arial" pitchFamily="34" charset="-120"/>
              </a:rPr>
              <a:t>Auto-selects best (p,d,q)(P,D,Q) seasonal order. Two-step: fit model, then forecast.</a:t>
            </a:r>
            <a:endParaRPr lang="en-US" sz="950" dirty="0"/>
          </a:p>
        </p:txBody>
      </p:sp>
      <p:sp>
        <p:nvSpPr>
          <p:cNvPr id="23" name="Text 21"/>
          <p:cNvSpPr/>
          <p:nvPr/>
        </p:nvSpPr>
        <p:spPr>
          <a:xfrm>
            <a:off x="685800" y="3200400"/>
            <a:ext cx="5029200" cy="256032"/>
          </a:xfrm>
          <a:prstGeom prst="rect">
            <a:avLst/>
          </a:prstGeom>
          <a:noFill/>
          <a:ln/>
        </p:spPr>
        <p:txBody>
          <a:bodyPr wrap="square" lIns="0" tIns="0" rIns="0" bIns="0" rtlCol="0" anchor="ctr"/>
          <a:lstStyle/>
          <a:p>
            <a:pPr algn="l" indent="0" marL="0">
              <a:buNone/>
            </a:pPr>
            <a:r>
              <a:rPr lang="en-US" sz="950" b="1" dirty="0">
                <a:solidFill>
                  <a:srgbClr val="FFFFFF"/>
                </a:solidFill>
                <a:latin typeface="Arial" pitchFamily="34" charset="0"/>
                <a:ea typeface="Arial" pitchFamily="34" charset="-122"/>
                <a:cs typeface="Arial" pitchFamily="34" charset="-120"/>
              </a:rPr>
              <a:t>Best when: </a:t>
            </a:r>
            <a:pPr algn="l" indent="0" marL="0">
              <a:buNone/>
            </a:pPr>
            <a:r>
              <a:rPr lang="en-US" sz="950" dirty="0">
                <a:solidFill>
                  <a:srgbClr val="B0B8C0"/>
                </a:solidFill>
                <a:latin typeface="Arial" pitchFamily="34" charset="0"/>
                <a:ea typeface="Arial" pitchFamily="34" charset="-122"/>
                <a:cs typeface="Arial" pitchFamily="34" charset="-120"/>
              </a:rPr>
              <a:t>Clear repeating yearly cycle (e.g. December always dips)</a:t>
            </a:r>
            <a:endParaRPr lang="en-US" sz="950" dirty="0"/>
          </a:p>
        </p:txBody>
      </p:sp>
      <p:sp>
        <p:nvSpPr>
          <p:cNvPr id="24" name="Text 22"/>
          <p:cNvSpPr/>
          <p:nvPr/>
        </p:nvSpPr>
        <p:spPr>
          <a:xfrm>
            <a:off x="685800" y="3383280"/>
            <a:ext cx="7772400" cy="228600"/>
          </a:xfrm>
          <a:prstGeom prst="rect">
            <a:avLst/>
          </a:prstGeom>
          <a:noFill/>
          <a:ln/>
        </p:spPr>
        <p:txBody>
          <a:bodyPr wrap="square" lIns="0" tIns="0" rIns="0" bIns="0" rtlCol="0" anchor="ctr"/>
          <a:lstStyle/>
          <a:p>
            <a:pPr algn="l" indent="0" marL="0">
              <a:buNone/>
            </a:pPr>
            <a:r>
              <a:rPr lang="en-US" sz="950" b="1" dirty="0">
                <a:solidFill>
                  <a:srgbClr val="FFFFFF"/>
                </a:solidFill>
                <a:latin typeface="Arial" pitchFamily="34" charset="0"/>
                <a:ea typeface="Arial" pitchFamily="34" charset="-122"/>
                <a:cs typeface="Arial" pitchFamily="34" charset="-120"/>
              </a:rPr>
              <a:t>Tunable: </a:t>
            </a:r>
            <a:pPr algn="l" indent="0" marL="0">
              <a:buNone/>
            </a:pPr>
            <a:r>
              <a:rPr lang="en-US" sz="950" dirty="0">
                <a:solidFill>
                  <a:srgbClr val="B0B8C0"/>
                </a:solidFill>
                <a:latin typeface="Arial" pitchFamily="34" charset="0"/>
                <a:ea typeface="Arial" pitchFamily="34" charset="-122"/>
                <a:cs typeface="Arial" pitchFamily="34" charset="-120"/>
              </a:rPr>
              <a:t>METHOD (AIC/AICc/BIC), MAX_P, MAX_Q — all tunable</a:t>
            </a:r>
            <a:endParaRPr lang="en-US" sz="950" dirty="0"/>
          </a:p>
        </p:txBody>
      </p:sp>
      <p:sp>
        <p:nvSpPr>
          <p:cNvPr id="25" name="Shape 23"/>
          <p:cNvSpPr/>
          <p:nvPr/>
        </p:nvSpPr>
        <p:spPr>
          <a:xfrm>
            <a:off x="457200" y="3712464"/>
            <a:ext cx="8229600" cy="1005840"/>
          </a:xfrm>
          <a:prstGeom prst="rect">
            <a:avLst/>
          </a:prstGeom>
          <a:solidFill>
            <a:srgbClr val="172A3A"/>
          </a:solidFill>
          <a:ln w="19050">
            <a:solidFill>
              <a:srgbClr val="00BCD4"/>
            </a:solidFill>
            <a:prstDash val="solid"/>
          </a:ln>
        </p:spPr>
      </p:sp>
      <p:sp>
        <p:nvSpPr>
          <p:cNvPr id="26" name="Shape 24"/>
          <p:cNvSpPr/>
          <p:nvPr/>
        </p:nvSpPr>
        <p:spPr>
          <a:xfrm>
            <a:off x="457200" y="3712464"/>
            <a:ext cx="64008" cy="1005840"/>
          </a:xfrm>
          <a:prstGeom prst="rect">
            <a:avLst/>
          </a:prstGeom>
          <a:solidFill>
            <a:srgbClr val="00BCD4"/>
          </a:solidFill>
          <a:ln/>
        </p:spPr>
      </p:sp>
      <p:sp>
        <p:nvSpPr>
          <p:cNvPr id="27" name="Text 25"/>
          <p:cNvSpPr/>
          <p:nvPr/>
        </p:nvSpPr>
        <p:spPr>
          <a:xfrm>
            <a:off x="685800" y="3758184"/>
            <a:ext cx="1371600" cy="320040"/>
          </a:xfrm>
          <a:prstGeom prst="rect">
            <a:avLst/>
          </a:prstGeom>
          <a:noFill/>
          <a:ln/>
        </p:spPr>
        <p:txBody>
          <a:bodyPr wrap="square" lIns="0" tIns="0" rIns="0" bIns="0" rtlCol="0" anchor="ctr"/>
          <a:lstStyle/>
          <a:p>
            <a:pPr algn="l" indent="0" marL="0">
              <a:buNone/>
            </a:pPr>
            <a:r>
              <a:rPr lang="en-US" sz="1800" b="1" dirty="0">
                <a:solidFill>
                  <a:srgbClr val="00BCD4"/>
                </a:solidFill>
                <a:latin typeface="Arial" pitchFamily="34" charset="0"/>
                <a:ea typeface="Arial" pitchFamily="34" charset="-122"/>
                <a:cs typeface="Arial" pitchFamily="34" charset="-120"/>
              </a:rPr>
              <a:t>BSTS</a:t>
            </a:r>
            <a:endParaRPr lang="en-US" sz="1800" dirty="0"/>
          </a:p>
        </p:txBody>
      </p:sp>
      <p:sp>
        <p:nvSpPr>
          <p:cNvPr id="28" name="Text 26"/>
          <p:cNvSpPr/>
          <p:nvPr/>
        </p:nvSpPr>
        <p:spPr>
          <a:xfrm>
            <a:off x="2011680" y="3758184"/>
            <a:ext cx="1920240" cy="320040"/>
          </a:xfrm>
          <a:prstGeom prst="rect">
            <a:avLst/>
          </a:prstGeom>
          <a:noFill/>
          <a:ln/>
        </p:spPr>
        <p:txBody>
          <a:bodyPr wrap="square" lIns="0" tIns="0" rIns="0" bIns="0" rtlCol="0" anchor="ctr"/>
          <a:lstStyle/>
          <a:p>
            <a:pPr algn="l" indent="0" marL="0">
              <a:buNone/>
            </a:pPr>
            <a:r>
              <a:rPr lang="en-US" sz="1000" dirty="0">
                <a:solidFill>
                  <a:srgbClr val="B0B8C0"/>
                </a:solidFill>
                <a:latin typeface="Arial" pitchFamily="34" charset="0"/>
                <a:ea typeface="Arial" pitchFamily="34" charset="-122"/>
                <a:cs typeface="Arial" pitchFamily="34" charset="-120"/>
              </a:rPr>
              <a:t>Bayesian Structural Time Series</a:t>
            </a:r>
            <a:endParaRPr lang="en-US" sz="1000" dirty="0"/>
          </a:p>
        </p:txBody>
      </p:sp>
      <p:sp>
        <p:nvSpPr>
          <p:cNvPr id="29" name="Shape 27"/>
          <p:cNvSpPr/>
          <p:nvPr/>
        </p:nvSpPr>
        <p:spPr>
          <a:xfrm>
            <a:off x="4114800" y="3803904"/>
            <a:ext cx="4389120" cy="256032"/>
          </a:xfrm>
          <a:prstGeom prst="rect">
            <a:avLst/>
          </a:prstGeom>
          <a:solidFill>
            <a:srgbClr val="0D1520"/>
          </a:solidFill>
          <a:ln/>
        </p:spPr>
      </p:sp>
      <p:sp>
        <p:nvSpPr>
          <p:cNvPr id="30" name="Text 28"/>
          <p:cNvSpPr/>
          <p:nvPr/>
        </p:nvSpPr>
        <p:spPr>
          <a:xfrm>
            <a:off x="4160520" y="3803904"/>
            <a:ext cx="4297680" cy="256032"/>
          </a:xfrm>
          <a:prstGeom prst="rect">
            <a:avLst/>
          </a:prstGeom>
          <a:noFill/>
          <a:ln/>
        </p:spPr>
        <p:txBody>
          <a:bodyPr wrap="square" lIns="0" tIns="0" rIns="0" bIns="0" rtlCol="0" anchor="ctr"/>
          <a:lstStyle/>
          <a:p>
            <a:pPr algn="l" indent="0" marL="0">
              <a:buNone/>
            </a:pPr>
            <a:r>
              <a:rPr lang="en-US" sz="900" dirty="0">
                <a:solidFill>
                  <a:srgbClr val="00BCD4"/>
                </a:solidFill>
                <a:latin typeface="Consolas" pitchFamily="34" charset="0"/>
                <a:ea typeface="Consolas" pitchFamily="34" charset="-122"/>
                <a:cs typeface="Consolas" pitchFamily="34" charset="-120"/>
              </a:rPr>
              <a:t>hana_ml BSTS → PAL Script Server</a:t>
            </a:r>
            <a:endParaRPr lang="en-US" sz="900" dirty="0"/>
          </a:p>
        </p:txBody>
      </p:sp>
      <p:sp>
        <p:nvSpPr>
          <p:cNvPr id="31" name="Text 29"/>
          <p:cNvSpPr/>
          <p:nvPr/>
        </p:nvSpPr>
        <p:spPr>
          <a:xfrm>
            <a:off x="685800" y="4096512"/>
            <a:ext cx="7772400" cy="256032"/>
          </a:xfrm>
          <a:prstGeom prst="rect">
            <a:avLst/>
          </a:prstGeom>
          <a:noFill/>
          <a:ln/>
        </p:spPr>
        <p:txBody>
          <a:bodyPr wrap="square" lIns="0" tIns="0" rIns="0" bIns="0" rtlCol="0" anchor="ctr"/>
          <a:lstStyle/>
          <a:p>
            <a:pPr algn="l" indent="0" marL="0">
              <a:buNone/>
            </a:pPr>
            <a:r>
              <a:rPr lang="en-US" sz="950" b="1" dirty="0">
                <a:solidFill>
                  <a:srgbClr val="FFFFFF"/>
                </a:solidFill>
                <a:latin typeface="Arial" pitchFamily="34" charset="0"/>
                <a:ea typeface="Arial" pitchFamily="34" charset="-122"/>
                <a:cs typeface="Arial" pitchFamily="34" charset="-120"/>
              </a:rPr>
              <a:t>How: </a:t>
            </a:r>
            <a:pPr algn="l" indent="0" marL="0">
              <a:buNone/>
            </a:pPr>
            <a:r>
              <a:rPr lang="en-US" sz="950" dirty="0">
                <a:solidFill>
                  <a:srgbClr val="B0B8C0"/>
                </a:solidFill>
                <a:latin typeface="Arial" pitchFamily="34" charset="0"/>
                <a:ea typeface="Arial" pitchFamily="34" charset="-122"/>
                <a:cs typeface="Arial" pitchFamily="34" charset="-120"/>
              </a:rPr>
              <a:t>Decomposes into trend + seasonal + noise via MCMC Bayesian inference. 2000 iterations default.</a:t>
            </a:r>
            <a:endParaRPr lang="en-US" sz="950" dirty="0"/>
          </a:p>
        </p:txBody>
      </p:sp>
      <p:sp>
        <p:nvSpPr>
          <p:cNvPr id="32" name="Text 30"/>
          <p:cNvSpPr/>
          <p:nvPr/>
        </p:nvSpPr>
        <p:spPr>
          <a:xfrm>
            <a:off x="685800" y="4279392"/>
            <a:ext cx="5029200" cy="256032"/>
          </a:xfrm>
          <a:prstGeom prst="rect">
            <a:avLst/>
          </a:prstGeom>
          <a:noFill/>
          <a:ln/>
        </p:spPr>
        <p:txBody>
          <a:bodyPr wrap="square" lIns="0" tIns="0" rIns="0" bIns="0" rtlCol="0" anchor="ctr"/>
          <a:lstStyle/>
          <a:p>
            <a:pPr algn="l" indent="0" marL="0">
              <a:buNone/>
            </a:pPr>
            <a:r>
              <a:rPr lang="en-US" sz="950" b="1" dirty="0">
                <a:solidFill>
                  <a:srgbClr val="FFFFFF"/>
                </a:solidFill>
                <a:latin typeface="Arial" pitchFamily="34" charset="0"/>
                <a:ea typeface="Arial" pitchFamily="34" charset="-122"/>
                <a:cs typeface="Arial" pitchFamily="34" charset="-120"/>
              </a:rPr>
              <a:t>Best when: </a:t>
            </a:r>
            <a:pPr algn="l" indent="0" marL="0">
              <a:buNone/>
            </a:pPr>
            <a:r>
              <a:rPr lang="en-US" sz="950" dirty="0">
                <a:solidFill>
                  <a:srgbClr val="B0B8C0"/>
                </a:solidFill>
                <a:latin typeface="Arial" pitchFamily="34" charset="0"/>
                <a:ea typeface="Arial" pitchFamily="34" charset="-122"/>
                <a:cs typeface="Arial" pitchFamily="34" charset="-120"/>
              </a:rPr>
              <a:t>Complex patterns with both changing trend AND seasonality</a:t>
            </a:r>
            <a:endParaRPr lang="en-US" sz="950" dirty="0"/>
          </a:p>
        </p:txBody>
      </p:sp>
      <p:sp>
        <p:nvSpPr>
          <p:cNvPr id="33" name="Text 31"/>
          <p:cNvSpPr/>
          <p:nvPr/>
        </p:nvSpPr>
        <p:spPr>
          <a:xfrm>
            <a:off x="685800" y="4462272"/>
            <a:ext cx="7772400" cy="228600"/>
          </a:xfrm>
          <a:prstGeom prst="rect">
            <a:avLst/>
          </a:prstGeom>
          <a:noFill/>
          <a:ln/>
        </p:spPr>
        <p:txBody>
          <a:bodyPr wrap="square" lIns="0" tIns="0" rIns="0" bIns="0" rtlCol="0" anchor="ctr"/>
          <a:lstStyle/>
          <a:p>
            <a:pPr algn="l" indent="0" marL="0">
              <a:buNone/>
            </a:pPr>
            <a:r>
              <a:rPr lang="en-US" sz="950" b="1" dirty="0">
                <a:solidFill>
                  <a:srgbClr val="FFFFFF"/>
                </a:solidFill>
                <a:latin typeface="Arial" pitchFamily="34" charset="0"/>
                <a:ea typeface="Arial" pitchFamily="34" charset="-122"/>
                <a:cs typeface="Arial" pitchFamily="34" charset="-120"/>
              </a:rPr>
              <a:t>Tunable: </a:t>
            </a:r>
            <a:pPr algn="l" indent="0" marL="0">
              <a:buNone/>
            </a:pPr>
            <a:r>
              <a:rPr lang="en-US" sz="950" dirty="0">
                <a:solidFill>
                  <a:srgbClr val="B0B8C0"/>
                </a:solidFill>
                <a:latin typeface="Arial" pitchFamily="34" charset="0"/>
                <a:ea typeface="Arial" pitchFamily="34" charset="-122"/>
                <a:cs typeface="Arial" pitchFamily="34" charset="-120"/>
              </a:rPr>
              <a:t>niter, burn, local_linear_trend, damped, seed — all tunable</a:t>
            </a:r>
            <a:endParaRPr lang="en-US" sz="950" dirty="0"/>
          </a:p>
        </p:txBody>
      </p:sp>
      <p:sp>
        <p:nvSpPr>
          <p:cNvPr id="34" name="Text 32"/>
          <p:cNvSpPr/>
          <p:nvPr/>
        </p:nvSpPr>
        <p:spPr>
          <a:xfrm>
            <a:off x="457200" y="4754880"/>
            <a:ext cx="8229600" cy="274320"/>
          </a:xfrm>
          <a:prstGeom prst="rect">
            <a:avLst/>
          </a:prstGeom>
          <a:noFill/>
          <a:ln/>
        </p:spPr>
        <p:txBody>
          <a:bodyPr wrap="square" lIns="0" tIns="0" rIns="0" bIns="0" rtlCol="0" anchor="ctr"/>
          <a:lstStyle/>
          <a:p>
            <a:pPr algn="ctr" indent="0" marL="0">
              <a:buNone/>
            </a:pPr>
            <a:r>
              <a:rPr lang="en-US" sz="1000" dirty="0">
                <a:solidFill>
                  <a:srgbClr val="00BCD4"/>
                </a:solidFill>
                <a:latin typeface="Arial" pitchFamily="34" charset="0"/>
                <a:ea typeface="Arial" pitchFamily="34" charset="-122"/>
                <a:cs typeface="Arial" pitchFamily="34" charset="-120"/>
              </a:rPr>
              <a:t>All computation runs inside SAP HANA Cloud  ·  Python sends instructions via hana_ml SDK  ·  Results stored in HANA tables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923"/>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CD4"/>
          </a:solidFill>
          <a:ln/>
        </p:spPr>
      </p:sp>
      <p:sp>
        <p:nvSpPr>
          <p:cNvPr id="3" name="Shape 1"/>
          <p:cNvSpPr/>
          <p:nvPr/>
        </p:nvSpPr>
        <p:spPr>
          <a:xfrm>
            <a:off x="457200" y="228600"/>
            <a:ext cx="2377440" cy="365760"/>
          </a:xfrm>
          <a:prstGeom prst="rect">
            <a:avLst/>
          </a:prstGeom>
          <a:solidFill>
            <a:srgbClr val="F9A825"/>
          </a:solidFill>
          <a:ln/>
        </p:spPr>
      </p:sp>
      <p:sp>
        <p:nvSpPr>
          <p:cNvPr id="4" name="Text 2"/>
          <p:cNvSpPr/>
          <p:nvPr/>
        </p:nvSpPr>
        <p:spPr>
          <a:xfrm>
            <a:off x="457200" y="228600"/>
            <a:ext cx="2377440" cy="365760"/>
          </a:xfrm>
          <a:prstGeom prst="rect">
            <a:avLst/>
          </a:prstGeom>
          <a:noFill/>
          <a:ln/>
        </p:spPr>
        <p:txBody>
          <a:bodyPr wrap="square" lIns="0" tIns="0" rIns="0" bIns="0" rtlCol="0" anchor="ctr"/>
          <a:lstStyle/>
          <a:p>
            <a:pPr algn="ctr" indent="0" marL="0">
              <a:buNone/>
            </a:pPr>
            <a:r>
              <a:rPr lang="en-US" sz="1000" b="1" dirty="0">
                <a:solidFill>
                  <a:srgbClr val="1A1A1A"/>
                </a:solidFill>
                <a:latin typeface="Arial" pitchFamily="34" charset="0"/>
                <a:ea typeface="Arial" pitchFamily="34" charset="-122"/>
                <a:cs typeface="Arial" pitchFamily="34" charset="-120"/>
              </a:rPr>
              <a:t>PARAMETER TUNING</a:t>
            </a:r>
            <a:endParaRPr lang="en-US" sz="1000" dirty="0"/>
          </a:p>
        </p:txBody>
      </p:sp>
      <p:sp>
        <p:nvSpPr>
          <p:cNvPr id="5" name="Text 3"/>
          <p:cNvSpPr/>
          <p:nvPr/>
        </p:nvSpPr>
        <p:spPr>
          <a:xfrm>
            <a:off x="457200" y="685800"/>
            <a:ext cx="8229600" cy="45720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How We Fine-Tuned Our Way to Accuracy</a:t>
            </a:r>
            <a:endParaRPr lang="en-US" sz="2800" dirty="0"/>
          </a:p>
        </p:txBody>
      </p:sp>
      <p:sp>
        <p:nvSpPr>
          <p:cNvPr id="6" name="Text 4"/>
          <p:cNvSpPr/>
          <p:nvPr/>
        </p:nvSpPr>
        <p:spPr>
          <a:xfrm>
            <a:off x="457200" y="1097280"/>
            <a:ext cx="8229600" cy="365760"/>
          </a:xfrm>
          <a:prstGeom prst="rect">
            <a:avLst/>
          </a:prstGeom>
          <a:noFill/>
          <a:ln/>
        </p:spPr>
        <p:txBody>
          <a:bodyPr wrap="square" lIns="0" tIns="0" rIns="0" bIns="0" rtlCol="0" anchor="ctr"/>
          <a:lstStyle/>
          <a:p>
            <a:pPr indent="0" marL="0">
              <a:buNone/>
            </a:pPr>
            <a:r>
              <a:rPr lang="en-US" sz="1300" dirty="0">
                <a:solidFill>
                  <a:srgbClr val="B0B8C0"/>
                </a:solidFill>
                <a:latin typeface="Arial" pitchFamily="34" charset="0"/>
                <a:ea typeface="Arial" pitchFamily="34" charset="-122"/>
                <a:cs typeface="Arial" pitchFamily="34" charset="-120"/>
              </a:rPr>
              <a:t>Each iteration taught us something new — we adjusted parameters, removed outliers, and let SAP PAL guide our choices</a:t>
            </a:r>
            <a:endParaRPr lang="en-US" sz="1300" dirty="0"/>
          </a:p>
        </p:txBody>
      </p:sp>
      <p:sp>
        <p:nvSpPr>
          <p:cNvPr id="7" name="Shape 5"/>
          <p:cNvSpPr/>
          <p:nvPr/>
        </p:nvSpPr>
        <p:spPr>
          <a:xfrm>
            <a:off x="457200" y="1554480"/>
            <a:ext cx="3977640" cy="594360"/>
          </a:xfrm>
          <a:prstGeom prst="rect">
            <a:avLst/>
          </a:prstGeom>
          <a:solidFill>
            <a:srgbClr val="172A3A"/>
          </a:solidFill>
          <a:ln w="12700">
            <a:solidFill>
              <a:srgbClr val="00BCD4"/>
            </a:solidFill>
            <a:prstDash val="solid"/>
          </a:ln>
        </p:spPr>
      </p:sp>
      <p:sp>
        <p:nvSpPr>
          <p:cNvPr id="8" name="Shape 6"/>
          <p:cNvSpPr/>
          <p:nvPr/>
        </p:nvSpPr>
        <p:spPr>
          <a:xfrm>
            <a:off x="457200" y="1554480"/>
            <a:ext cx="54864" cy="594360"/>
          </a:xfrm>
          <a:prstGeom prst="rect">
            <a:avLst/>
          </a:prstGeom>
          <a:solidFill>
            <a:srgbClr val="00BCD4"/>
          </a:solidFill>
          <a:ln/>
        </p:spPr>
      </p:sp>
      <p:sp>
        <p:nvSpPr>
          <p:cNvPr id="9" name="Text 7"/>
          <p:cNvSpPr/>
          <p:nvPr/>
        </p:nvSpPr>
        <p:spPr>
          <a:xfrm>
            <a:off x="594360" y="1572768"/>
            <a:ext cx="1371600" cy="274320"/>
          </a:xfrm>
          <a:prstGeom prst="rect">
            <a:avLst/>
          </a:prstGeom>
          <a:noFill/>
          <a:ln/>
        </p:spPr>
        <p:txBody>
          <a:bodyPr wrap="square" lIns="0" tIns="0" rIns="0" bIns="0" rtlCol="0" anchor="ctr"/>
          <a:lstStyle/>
          <a:p>
            <a:pPr algn="l" indent="0" marL="0">
              <a:buNone/>
            </a:pPr>
            <a:r>
              <a:rPr lang="en-US" sz="1100" b="1" dirty="0">
                <a:solidFill>
                  <a:srgbClr val="FFFFFF"/>
                </a:solidFill>
                <a:latin typeface="Arial" pitchFamily="34" charset="0"/>
                <a:ea typeface="Arial" pitchFamily="34" charset="-122"/>
                <a:cs typeface="Arial" pitchFamily="34" charset="-120"/>
              </a:rPr>
              <a:t>Forecast Horizon</a:t>
            </a:r>
            <a:endParaRPr lang="en-US" sz="1100" dirty="0"/>
          </a:p>
        </p:txBody>
      </p:sp>
      <p:sp>
        <p:nvSpPr>
          <p:cNvPr id="10" name="Text 8"/>
          <p:cNvSpPr/>
          <p:nvPr/>
        </p:nvSpPr>
        <p:spPr>
          <a:xfrm>
            <a:off x="2011680" y="1572768"/>
            <a:ext cx="2286000" cy="274320"/>
          </a:xfrm>
          <a:prstGeom prst="rect">
            <a:avLst/>
          </a:prstGeom>
          <a:noFill/>
          <a:ln/>
        </p:spPr>
        <p:txBody>
          <a:bodyPr wrap="square" lIns="0" tIns="0" rIns="0" bIns="0" rtlCol="0" anchor="ctr"/>
          <a:lstStyle/>
          <a:p>
            <a:pPr algn="l" indent="0" marL="0">
              <a:buNone/>
            </a:pPr>
            <a:r>
              <a:rPr lang="en-US" sz="1000" b="1" dirty="0">
                <a:solidFill>
                  <a:srgbClr val="E53935"/>
                </a:solidFill>
                <a:latin typeface="Arial" pitchFamily="34" charset="0"/>
                <a:ea typeface="Arial" pitchFamily="34" charset="-122"/>
                <a:cs typeface="Arial" pitchFamily="34" charset="-120"/>
              </a:rPr>
              <a:t>6 months</a:t>
            </a:r>
            <a:pPr algn="l" indent="0" marL="0">
              <a:buNone/>
            </a:pPr>
            <a:r>
              <a:rPr lang="en-US" sz="1000" dirty="0">
                <a:solidFill>
                  <a:srgbClr val="B0B8C0"/>
                </a:solidFill>
                <a:latin typeface="Arial" pitchFamily="34" charset="0"/>
                <a:ea typeface="Arial" pitchFamily="34" charset="-122"/>
                <a:cs typeface="Arial" pitchFamily="34" charset="-120"/>
              </a:rPr>
              <a:t>  →  </a:t>
            </a:r>
            <a:pPr algn="l" indent="0" marL="0">
              <a:buNone/>
            </a:pPr>
            <a:r>
              <a:rPr lang="en-US" sz="1000" b="1" dirty="0">
                <a:solidFill>
                  <a:srgbClr val="4CAF50"/>
                </a:solidFill>
                <a:latin typeface="Arial" pitchFamily="34" charset="0"/>
                <a:ea typeface="Arial" pitchFamily="34" charset="-122"/>
                <a:cs typeface="Arial" pitchFamily="34" charset="-120"/>
              </a:rPr>
              <a:t>12 months</a:t>
            </a:r>
            <a:endParaRPr lang="en-US" sz="1000" dirty="0"/>
          </a:p>
        </p:txBody>
      </p:sp>
      <p:sp>
        <p:nvSpPr>
          <p:cNvPr id="11" name="Text 9"/>
          <p:cNvSpPr/>
          <p:nvPr/>
        </p:nvSpPr>
        <p:spPr>
          <a:xfrm>
            <a:off x="594360" y="1865376"/>
            <a:ext cx="3703320" cy="256032"/>
          </a:xfrm>
          <a:prstGeom prst="rect">
            <a:avLst/>
          </a:prstGeom>
          <a:noFill/>
          <a:ln/>
        </p:spPr>
        <p:txBody>
          <a:bodyPr wrap="square" lIns="0" tIns="0" rIns="0" bIns="0" rtlCol="0" anchor="t"/>
          <a:lstStyle/>
          <a:p>
            <a:pPr algn="l" indent="0" marL="0">
              <a:buNone/>
            </a:pPr>
            <a:r>
              <a:rPr lang="en-US" sz="900" dirty="0">
                <a:solidFill>
                  <a:srgbClr val="B0B8C0"/>
                </a:solidFill>
                <a:latin typeface="Arial" pitchFamily="34" charset="0"/>
                <a:ea typeface="Arial" pitchFamily="34" charset="-122"/>
                <a:cs typeface="Arial" pitchFamily="34" charset="-120"/>
              </a:rPr>
              <a:t>Business needed full-year planning visibility</a:t>
            </a:r>
            <a:endParaRPr lang="en-US" sz="900" dirty="0"/>
          </a:p>
        </p:txBody>
      </p:sp>
      <p:sp>
        <p:nvSpPr>
          <p:cNvPr id="12" name="Shape 10"/>
          <p:cNvSpPr/>
          <p:nvPr/>
        </p:nvSpPr>
        <p:spPr>
          <a:xfrm>
            <a:off x="4709160" y="1554480"/>
            <a:ext cx="3977640" cy="594360"/>
          </a:xfrm>
          <a:prstGeom prst="rect">
            <a:avLst/>
          </a:prstGeom>
          <a:solidFill>
            <a:srgbClr val="172A3A"/>
          </a:solidFill>
          <a:ln w="12700">
            <a:solidFill>
              <a:srgbClr val="2196F3"/>
            </a:solidFill>
            <a:prstDash val="solid"/>
          </a:ln>
        </p:spPr>
      </p:sp>
      <p:sp>
        <p:nvSpPr>
          <p:cNvPr id="13" name="Shape 11"/>
          <p:cNvSpPr/>
          <p:nvPr/>
        </p:nvSpPr>
        <p:spPr>
          <a:xfrm>
            <a:off x="4709160" y="1554480"/>
            <a:ext cx="54864" cy="594360"/>
          </a:xfrm>
          <a:prstGeom prst="rect">
            <a:avLst/>
          </a:prstGeom>
          <a:solidFill>
            <a:srgbClr val="2196F3"/>
          </a:solidFill>
          <a:ln/>
        </p:spPr>
      </p:sp>
      <p:sp>
        <p:nvSpPr>
          <p:cNvPr id="14" name="Text 12"/>
          <p:cNvSpPr/>
          <p:nvPr/>
        </p:nvSpPr>
        <p:spPr>
          <a:xfrm>
            <a:off x="4846320" y="1572768"/>
            <a:ext cx="1371600" cy="274320"/>
          </a:xfrm>
          <a:prstGeom prst="rect">
            <a:avLst/>
          </a:prstGeom>
          <a:noFill/>
          <a:ln/>
        </p:spPr>
        <p:txBody>
          <a:bodyPr wrap="square" lIns="0" tIns="0" rIns="0" bIns="0" rtlCol="0" anchor="ctr"/>
          <a:lstStyle/>
          <a:p>
            <a:pPr algn="l" indent="0" marL="0">
              <a:buNone/>
            </a:pPr>
            <a:r>
              <a:rPr lang="en-US" sz="1100" b="1" dirty="0">
                <a:solidFill>
                  <a:srgbClr val="FFFFFF"/>
                </a:solidFill>
                <a:latin typeface="Arial" pitchFamily="34" charset="0"/>
                <a:ea typeface="Arial" pitchFamily="34" charset="-122"/>
                <a:cs typeface="Arial" pitchFamily="34" charset="-120"/>
              </a:rPr>
              <a:t>Test Holdout</a:t>
            </a:r>
            <a:endParaRPr lang="en-US" sz="1100" dirty="0"/>
          </a:p>
        </p:txBody>
      </p:sp>
      <p:sp>
        <p:nvSpPr>
          <p:cNvPr id="15" name="Text 13"/>
          <p:cNvSpPr/>
          <p:nvPr/>
        </p:nvSpPr>
        <p:spPr>
          <a:xfrm>
            <a:off x="6263640" y="1572768"/>
            <a:ext cx="2286000" cy="274320"/>
          </a:xfrm>
          <a:prstGeom prst="rect">
            <a:avLst/>
          </a:prstGeom>
          <a:noFill/>
          <a:ln/>
        </p:spPr>
        <p:txBody>
          <a:bodyPr wrap="square" lIns="0" tIns="0" rIns="0" bIns="0" rtlCol="0" anchor="ctr"/>
          <a:lstStyle/>
          <a:p>
            <a:pPr algn="l" indent="0" marL="0">
              <a:buNone/>
            </a:pPr>
            <a:r>
              <a:rPr lang="en-US" sz="1000" b="1" dirty="0">
                <a:solidFill>
                  <a:srgbClr val="E53935"/>
                </a:solidFill>
                <a:latin typeface="Arial" pitchFamily="34" charset="0"/>
                <a:ea typeface="Arial" pitchFamily="34" charset="-122"/>
                <a:cs typeface="Arial" pitchFamily="34" charset="-120"/>
              </a:rPr>
              <a:t>5 months</a:t>
            </a:r>
            <a:pPr algn="l" indent="0" marL="0">
              <a:buNone/>
            </a:pPr>
            <a:r>
              <a:rPr lang="en-US" sz="1000" dirty="0">
                <a:solidFill>
                  <a:srgbClr val="B0B8C0"/>
                </a:solidFill>
                <a:latin typeface="Arial" pitchFamily="34" charset="0"/>
                <a:ea typeface="Arial" pitchFamily="34" charset="-122"/>
                <a:cs typeface="Arial" pitchFamily="34" charset="-120"/>
              </a:rPr>
              <a:t>  →  </a:t>
            </a:r>
            <a:pPr algn="l" indent="0" marL="0">
              <a:buNone/>
            </a:pPr>
            <a:r>
              <a:rPr lang="en-US" sz="1000" b="1" dirty="0">
                <a:solidFill>
                  <a:srgbClr val="4CAF50"/>
                </a:solidFill>
                <a:latin typeface="Arial" pitchFamily="34" charset="0"/>
                <a:ea typeface="Arial" pitchFamily="34" charset="-122"/>
                <a:cs typeface="Arial" pitchFamily="34" charset="-120"/>
              </a:rPr>
              <a:t>3 months</a:t>
            </a:r>
            <a:endParaRPr lang="en-US" sz="1000" dirty="0"/>
          </a:p>
        </p:txBody>
      </p:sp>
      <p:sp>
        <p:nvSpPr>
          <p:cNvPr id="16" name="Text 14"/>
          <p:cNvSpPr/>
          <p:nvPr/>
        </p:nvSpPr>
        <p:spPr>
          <a:xfrm>
            <a:off x="4846320" y="1865376"/>
            <a:ext cx="3703320" cy="256032"/>
          </a:xfrm>
          <a:prstGeom prst="rect">
            <a:avLst/>
          </a:prstGeom>
          <a:noFill/>
          <a:ln/>
        </p:spPr>
        <p:txBody>
          <a:bodyPr wrap="square" lIns="0" tIns="0" rIns="0" bIns="0" rtlCol="0" anchor="t"/>
          <a:lstStyle/>
          <a:p>
            <a:pPr algn="l" indent="0" marL="0">
              <a:buNone/>
            </a:pPr>
            <a:r>
              <a:rPr lang="en-US" sz="900" dirty="0">
                <a:solidFill>
                  <a:srgbClr val="B0B8C0"/>
                </a:solidFill>
                <a:latin typeface="Arial" pitchFamily="34" charset="0"/>
                <a:ea typeface="Arial" pitchFamily="34" charset="-122"/>
                <a:cs typeface="Arial" pitchFamily="34" charset="-120"/>
              </a:rPr>
              <a:t>More training data improved BSTS convergence</a:t>
            </a:r>
            <a:endParaRPr lang="en-US" sz="900" dirty="0"/>
          </a:p>
        </p:txBody>
      </p:sp>
      <p:sp>
        <p:nvSpPr>
          <p:cNvPr id="17" name="Shape 15"/>
          <p:cNvSpPr/>
          <p:nvPr/>
        </p:nvSpPr>
        <p:spPr>
          <a:xfrm>
            <a:off x="457200" y="2221992"/>
            <a:ext cx="3977640" cy="594360"/>
          </a:xfrm>
          <a:prstGeom prst="rect">
            <a:avLst/>
          </a:prstGeom>
          <a:solidFill>
            <a:srgbClr val="172A3A"/>
          </a:solidFill>
          <a:ln w="12700">
            <a:solidFill>
              <a:srgbClr val="F9A825"/>
            </a:solidFill>
            <a:prstDash val="solid"/>
          </a:ln>
        </p:spPr>
      </p:sp>
      <p:sp>
        <p:nvSpPr>
          <p:cNvPr id="18" name="Shape 16"/>
          <p:cNvSpPr/>
          <p:nvPr/>
        </p:nvSpPr>
        <p:spPr>
          <a:xfrm>
            <a:off x="457200" y="2221992"/>
            <a:ext cx="54864" cy="594360"/>
          </a:xfrm>
          <a:prstGeom prst="rect">
            <a:avLst/>
          </a:prstGeom>
          <a:solidFill>
            <a:srgbClr val="F9A825"/>
          </a:solidFill>
          <a:ln/>
        </p:spPr>
      </p:sp>
      <p:sp>
        <p:nvSpPr>
          <p:cNvPr id="19" name="Text 17"/>
          <p:cNvSpPr/>
          <p:nvPr/>
        </p:nvSpPr>
        <p:spPr>
          <a:xfrm>
            <a:off x="594360" y="2240280"/>
            <a:ext cx="1371600" cy="274320"/>
          </a:xfrm>
          <a:prstGeom prst="rect">
            <a:avLst/>
          </a:prstGeom>
          <a:noFill/>
          <a:ln/>
        </p:spPr>
        <p:txBody>
          <a:bodyPr wrap="square" lIns="0" tIns="0" rIns="0" bIns="0" rtlCol="0" anchor="ctr"/>
          <a:lstStyle/>
          <a:p>
            <a:pPr algn="l" indent="0" marL="0">
              <a:buNone/>
            </a:pPr>
            <a:r>
              <a:rPr lang="en-US" sz="1100" b="1" dirty="0">
                <a:solidFill>
                  <a:srgbClr val="FFFFFF"/>
                </a:solidFill>
                <a:latin typeface="Arial" pitchFamily="34" charset="0"/>
                <a:ea typeface="Arial" pitchFamily="34" charset="-122"/>
                <a:cs typeface="Arial" pitchFamily="34" charset="-120"/>
              </a:rPr>
              <a:t>Models Used</a:t>
            </a:r>
            <a:endParaRPr lang="en-US" sz="1100" dirty="0"/>
          </a:p>
        </p:txBody>
      </p:sp>
      <p:sp>
        <p:nvSpPr>
          <p:cNvPr id="20" name="Text 18"/>
          <p:cNvSpPr/>
          <p:nvPr/>
        </p:nvSpPr>
        <p:spPr>
          <a:xfrm>
            <a:off x="2011680" y="2240280"/>
            <a:ext cx="2286000" cy="274320"/>
          </a:xfrm>
          <a:prstGeom prst="rect">
            <a:avLst/>
          </a:prstGeom>
          <a:noFill/>
          <a:ln/>
        </p:spPr>
        <p:txBody>
          <a:bodyPr wrap="square" lIns="0" tIns="0" rIns="0" bIns="0" rtlCol="0" anchor="ctr"/>
          <a:lstStyle/>
          <a:p>
            <a:pPr algn="l" indent="0" marL="0">
              <a:buNone/>
            </a:pPr>
            <a:r>
              <a:rPr lang="en-US" sz="1000" b="1" dirty="0">
                <a:solidFill>
                  <a:srgbClr val="E53935"/>
                </a:solidFill>
                <a:latin typeface="Arial" pitchFamily="34" charset="0"/>
                <a:ea typeface="Arial" pitchFamily="34" charset="-122"/>
                <a:cs typeface="Arial" pitchFamily="34" charset="-120"/>
              </a:rPr>
              <a:t>SES only</a:t>
            </a:r>
            <a:pPr algn="l" indent="0" marL="0">
              <a:buNone/>
            </a:pPr>
            <a:r>
              <a:rPr lang="en-US" sz="1000" dirty="0">
                <a:solidFill>
                  <a:srgbClr val="B0B8C0"/>
                </a:solidFill>
                <a:latin typeface="Arial" pitchFamily="34" charset="0"/>
                <a:ea typeface="Arial" pitchFamily="34" charset="-122"/>
                <a:cs typeface="Arial" pitchFamily="34" charset="-120"/>
              </a:rPr>
              <a:t>  →  </a:t>
            </a:r>
            <a:pPr algn="l" indent="0" marL="0">
              <a:buNone/>
            </a:pPr>
            <a:r>
              <a:rPr lang="en-US" sz="1000" b="1" dirty="0">
                <a:solidFill>
                  <a:srgbClr val="4CAF50"/>
                </a:solidFill>
                <a:latin typeface="Arial" pitchFamily="34" charset="0"/>
                <a:ea typeface="Arial" pitchFamily="34" charset="-122"/>
                <a:cs typeface="Arial" pitchFamily="34" charset="-120"/>
              </a:rPr>
              <a:t>SES + SARIMA + BSTS</a:t>
            </a:r>
            <a:endParaRPr lang="en-US" sz="1000" dirty="0"/>
          </a:p>
        </p:txBody>
      </p:sp>
      <p:sp>
        <p:nvSpPr>
          <p:cNvPr id="21" name="Text 19"/>
          <p:cNvSpPr/>
          <p:nvPr/>
        </p:nvSpPr>
        <p:spPr>
          <a:xfrm>
            <a:off x="594360" y="2532888"/>
            <a:ext cx="3703320" cy="256032"/>
          </a:xfrm>
          <a:prstGeom prst="rect">
            <a:avLst/>
          </a:prstGeom>
          <a:noFill/>
          <a:ln/>
        </p:spPr>
        <p:txBody>
          <a:bodyPr wrap="square" lIns="0" tIns="0" rIns="0" bIns="0" rtlCol="0" anchor="t"/>
          <a:lstStyle/>
          <a:p>
            <a:pPr algn="l" indent="0" marL="0">
              <a:buNone/>
            </a:pPr>
            <a:r>
              <a:rPr lang="en-US" sz="900" dirty="0">
                <a:solidFill>
                  <a:srgbClr val="B0B8C0"/>
                </a:solidFill>
                <a:latin typeface="Arial" pitchFamily="34" charset="0"/>
                <a:ea typeface="Arial" pitchFamily="34" charset="-122"/>
                <a:cs typeface="Arial" pitchFamily="34" charset="-120"/>
              </a:rPr>
              <a:t>AutoML (PAL_AUTOML_FIT) recommended BSTS as best model</a:t>
            </a:r>
            <a:endParaRPr lang="en-US" sz="900" dirty="0"/>
          </a:p>
        </p:txBody>
      </p:sp>
      <p:sp>
        <p:nvSpPr>
          <p:cNvPr id="22" name="Shape 20"/>
          <p:cNvSpPr/>
          <p:nvPr/>
        </p:nvSpPr>
        <p:spPr>
          <a:xfrm>
            <a:off x="4709160" y="2221992"/>
            <a:ext cx="3977640" cy="594360"/>
          </a:xfrm>
          <a:prstGeom prst="rect">
            <a:avLst/>
          </a:prstGeom>
          <a:solidFill>
            <a:srgbClr val="172A3A"/>
          </a:solidFill>
          <a:ln w="12700">
            <a:solidFill>
              <a:srgbClr val="FF9800"/>
            </a:solidFill>
            <a:prstDash val="solid"/>
          </a:ln>
        </p:spPr>
      </p:sp>
      <p:sp>
        <p:nvSpPr>
          <p:cNvPr id="23" name="Shape 21"/>
          <p:cNvSpPr/>
          <p:nvPr/>
        </p:nvSpPr>
        <p:spPr>
          <a:xfrm>
            <a:off x="4709160" y="2221992"/>
            <a:ext cx="54864" cy="594360"/>
          </a:xfrm>
          <a:prstGeom prst="rect">
            <a:avLst/>
          </a:prstGeom>
          <a:solidFill>
            <a:srgbClr val="FF9800"/>
          </a:solidFill>
          <a:ln/>
        </p:spPr>
      </p:sp>
      <p:sp>
        <p:nvSpPr>
          <p:cNvPr id="24" name="Text 22"/>
          <p:cNvSpPr/>
          <p:nvPr/>
        </p:nvSpPr>
        <p:spPr>
          <a:xfrm>
            <a:off x="4846320" y="2240280"/>
            <a:ext cx="1371600" cy="274320"/>
          </a:xfrm>
          <a:prstGeom prst="rect">
            <a:avLst/>
          </a:prstGeom>
          <a:noFill/>
          <a:ln/>
        </p:spPr>
        <p:txBody>
          <a:bodyPr wrap="square" lIns="0" tIns="0" rIns="0" bIns="0" rtlCol="0" anchor="ctr"/>
          <a:lstStyle/>
          <a:p>
            <a:pPr algn="l" indent="0" marL="0">
              <a:buNone/>
            </a:pPr>
            <a:r>
              <a:rPr lang="en-US" sz="1100" b="1" dirty="0">
                <a:solidFill>
                  <a:srgbClr val="FFFFFF"/>
                </a:solidFill>
                <a:latin typeface="Arial" pitchFamily="34" charset="0"/>
                <a:ea typeface="Arial" pitchFamily="34" charset="-122"/>
                <a:cs typeface="Arial" pitchFamily="34" charset="-120"/>
              </a:rPr>
              <a:t>BSTS Iterations</a:t>
            </a:r>
            <a:endParaRPr lang="en-US" sz="1100" dirty="0"/>
          </a:p>
        </p:txBody>
      </p:sp>
      <p:sp>
        <p:nvSpPr>
          <p:cNvPr id="25" name="Text 23"/>
          <p:cNvSpPr/>
          <p:nvPr/>
        </p:nvSpPr>
        <p:spPr>
          <a:xfrm>
            <a:off x="6263640" y="2240280"/>
            <a:ext cx="2286000" cy="274320"/>
          </a:xfrm>
          <a:prstGeom prst="rect">
            <a:avLst/>
          </a:prstGeom>
          <a:noFill/>
          <a:ln/>
        </p:spPr>
        <p:txBody>
          <a:bodyPr wrap="square" lIns="0" tIns="0" rIns="0" bIns="0" rtlCol="0" anchor="ctr"/>
          <a:lstStyle/>
          <a:p>
            <a:pPr algn="l" indent="0" marL="0">
              <a:buNone/>
            </a:pPr>
            <a:r>
              <a:rPr lang="en-US" sz="1000" b="1" dirty="0">
                <a:solidFill>
                  <a:srgbClr val="E53935"/>
                </a:solidFill>
                <a:latin typeface="Arial" pitchFamily="34" charset="0"/>
                <a:ea typeface="Arial" pitchFamily="34" charset="-122"/>
                <a:cs typeface="Arial" pitchFamily="34" charset="-120"/>
              </a:rPr>
              <a:t>1000 (test)</a:t>
            </a:r>
            <a:pPr algn="l" indent="0" marL="0">
              <a:buNone/>
            </a:pPr>
            <a:r>
              <a:rPr lang="en-US" sz="1000" dirty="0">
                <a:solidFill>
                  <a:srgbClr val="B0B8C0"/>
                </a:solidFill>
                <a:latin typeface="Arial" pitchFamily="34" charset="0"/>
                <a:ea typeface="Arial" pitchFamily="34" charset="-122"/>
                <a:cs typeface="Arial" pitchFamily="34" charset="-120"/>
              </a:rPr>
              <a:t>  →  </a:t>
            </a:r>
            <a:pPr algn="l" indent="0" marL="0">
              <a:buNone/>
            </a:pPr>
            <a:r>
              <a:rPr lang="en-US" sz="1000" b="1" dirty="0">
                <a:solidFill>
                  <a:srgbClr val="4CAF50"/>
                </a:solidFill>
                <a:latin typeface="Arial" pitchFamily="34" charset="0"/>
                <a:ea typeface="Arial" pitchFamily="34" charset="-122"/>
                <a:cs typeface="Arial" pitchFamily="34" charset="-120"/>
              </a:rPr>
              <a:t>2000 (production)</a:t>
            </a:r>
            <a:endParaRPr lang="en-US" sz="1000" dirty="0"/>
          </a:p>
        </p:txBody>
      </p:sp>
      <p:sp>
        <p:nvSpPr>
          <p:cNvPr id="26" name="Text 24"/>
          <p:cNvSpPr/>
          <p:nvPr/>
        </p:nvSpPr>
        <p:spPr>
          <a:xfrm>
            <a:off x="4846320" y="2532888"/>
            <a:ext cx="3703320" cy="256032"/>
          </a:xfrm>
          <a:prstGeom prst="rect">
            <a:avLst/>
          </a:prstGeom>
          <a:noFill/>
          <a:ln/>
        </p:spPr>
        <p:txBody>
          <a:bodyPr wrap="square" lIns="0" tIns="0" rIns="0" bIns="0" rtlCol="0" anchor="t"/>
          <a:lstStyle/>
          <a:p>
            <a:pPr algn="l" indent="0" marL="0">
              <a:buNone/>
            </a:pPr>
            <a:r>
              <a:rPr lang="en-US" sz="900" dirty="0">
                <a:solidFill>
                  <a:srgbClr val="B0B8C0"/>
                </a:solidFill>
                <a:latin typeface="Arial" pitchFamily="34" charset="0"/>
                <a:ea typeface="Arial" pitchFamily="34" charset="-122"/>
                <a:cs typeface="Arial" pitchFamily="34" charset="-120"/>
              </a:rPr>
              <a:t>1000 MCMC iterations insufficient for convergence</a:t>
            </a:r>
            <a:endParaRPr lang="en-US" sz="900" dirty="0"/>
          </a:p>
        </p:txBody>
      </p:sp>
      <p:sp>
        <p:nvSpPr>
          <p:cNvPr id="27" name="Shape 25"/>
          <p:cNvSpPr/>
          <p:nvPr/>
        </p:nvSpPr>
        <p:spPr>
          <a:xfrm>
            <a:off x="457200" y="2889504"/>
            <a:ext cx="3977640" cy="594360"/>
          </a:xfrm>
          <a:prstGeom prst="rect">
            <a:avLst/>
          </a:prstGeom>
          <a:solidFill>
            <a:srgbClr val="172A3A"/>
          </a:solidFill>
          <a:ln w="12700">
            <a:solidFill>
              <a:srgbClr val="4CAF50"/>
            </a:solidFill>
            <a:prstDash val="solid"/>
          </a:ln>
        </p:spPr>
      </p:sp>
      <p:sp>
        <p:nvSpPr>
          <p:cNvPr id="28" name="Shape 26"/>
          <p:cNvSpPr/>
          <p:nvPr/>
        </p:nvSpPr>
        <p:spPr>
          <a:xfrm>
            <a:off x="457200" y="2889504"/>
            <a:ext cx="54864" cy="594360"/>
          </a:xfrm>
          <a:prstGeom prst="rect">
            <a:avLst/>
          </a:prstGeom>
          <a:solidFill>
            <a:srgbClr val="4CAF50"/>
          </a:solidFill>
          <a:ln/>
        </p:spPr>
      </p:sp>
      <p:sp>
        <p:nvSpPr>
          <p:cNvPr id="29" name="Text 27"/>
          <p:cNvSpPr/>
          <p:nvPr/>
        </p:nvSpPr>
        <p:spPr>
          <a:xfrm>
            <a:off x="594360" y="2907792"/>
            <a:ext cx="1371600" cy="274320"/>
          </a:xfrm>
          <a:prstGeom prst="rect">
            <a:avLst/>
          </a:prstGeom>
          <a:noFill/>
          <a:ln/>
        </p:spPr>
        <p:txBody>
          <a:bodyPr wrap="square" lIns="0" tIns="0" rIns="0" bIns="0" rtlCol="0" anchor="ctr"/>
          <a:lstStyle/>
          <a:p>
            <a:pPr algn="l" indent="0" marL="0">
              <a:buNone/>
            </a:pPr>
            <a:r>
              <a:rPr lang="en-US" sz="1100" b="1" dirty="0">
                <a:solidFill>
                  <a:srgbClr val="FFFFFF"/>
                </a:solidFill>
                <a:latin typeface="Arial" pitchFamily="34" charset="0"/>
                <a:ea typeface="Arial" pitchFamily="34" charset="-122"/>
                <a:cs typeface="Arial" pitchFamily="34" charset="-120"/>
              </a:rPr>
              <a:t>Data Quality</a:t>
            </a:r>
            <a:endParaRPr lang="en-US" sz="1100" dirty="0"/>
          </a:p>
        </p:txBody>
      </p:sp>
      <p:sp>
        <p:nvSpPr>
          <p:cNvPr id="30" name="Text 28"/>
          <p:cNvSpPr/>
          <p:nvPr/>
        </p:nvSpPr>
        <p:spPr>
          <a:xfrm>
            <a:off x="2011680" y="2907792"/>
            <a:ext cx="2286000" cy="274320"/>
          </a:xfrm>
          <a:prstGeom prst="rect">
            <a:avLst/>
          </a:prstGeom>
          <a:noFill/>
          <a:ln/>
        </p:spPr>
        <p:txBody>
          <a:bodyPr wrap="square" lIns="0" tIns="0" rIns="0" bIns="0" rtlCol="0" anchor="ctr"/>
          <a:lstStyle/>
          <a:p>
            <a:pPr algn="l" indent="0" marL="0">
              <a:buNone/>
            </a:pPr>
            <a:r>
              <a:rPr lang="en-US" sz="1000" b="1" dirty="0">
                <a:solidFill>
                  <a:srgbClr val="E53935"/>
                </a:solidFill>
                <a:latin typeface="Arial" pitchFamily="34" charset="0"/>
                <a:ea typeface="Arial" pitchFamily="34" charset="-122"/>
                <a:cs typeface="Arial" pitchFamily="34" charset="-120"/>
              </a:rPr>
              <a:t>None</a:t>
            </a:r>
            <a:pPr algn="l" indent="0" marL="0">
              <a:buNone/>
            </a:pPr>
            <a:r>
              <a:rPr lang="en-US" sz="1000" dirty="0">
                <a:solidFill>
                  <a:srgbClr val="B0B8C0"/>
                </a:solidFill>
                <a:latin typeface="Arial" pitchFamily="34" charset="0"/>
                <a:ea typeface="Arial" pitchFamily="34" charset="-122"/>
                <a:cs typeface="Arial" pitchFamily="34" charset="-120"/>
              </a:rPr>
              <a:t>  →  </a:t>
            </a:r>
            <a:pPr algn="l" indent="0" marL="0">
              <a:buNone/>
            </a:pPr>
            <a:r>
              <a:rPr lang="en-US" sz="1000" b="1" dirty="0">
                <a:solidFill>
                  <a:srgbClr val="4CAF50"/>
                </a:solidFill>
                <a:latin typeface="Arial" pitchFamily="34" charset="0"/>
                <a:ea typeface="Arial" pitchFamily="34" charset="-122"/>
                <a:cs typeface="Arial" pitchFamily="34" charset="-120"/>
              </a:rPr>
              <a:t>Outlier + cliff detection</a:t>
            </a:r>
            <a:endParaRPr lang="en-US" sz="1000" dirty="0"/>
          </a:p>
        </p:txBody>
      </p:sp>
      <p:sp>
        <p:nvSpPr>
          <p:cNvPr id="31" name="Text 29"/>
          <p:cNvSpPr/>
          <p:nvPr/>
        </p:nvSpPr>
        <p:spPr>
          <a:xfrm>
            <a:off x="594360" y="3200400"/>
            <a:ext cx="3703320" cy="256032"/>
          </a:xfrm>
          <a:prstGeom prst="rect">
            <a:avLst/>
          </a:prstGeom>
          <a:noFill/>
          <a:ln/>
        </p:spPr>
        <p:txBody>
          <a:bodyPr wrap="square" lIns="0" tIns="0" rIns="0" bIns="0" rtlCol="0" anchor="t"/>
          <a:lstStyle/>
          <a:p>
            <a:pPr algn="l" indent="0" marL="0">
              <a:buNone/>
            </a:pPr>
            <a:r>
              <a:rPr lang="en-US" sz="900" dirty="0">
                <a:solidFill>
                  <a:srgbClr val="B0B8C0"/>
                </a:solidFill>
                <a:latin typeface="Arial" pitchFamily="34" charset="0"/>
                <a:ea typeface="Arial" pitchFamily="34" charset="-122"/>
                <a:cs typeface="Arial" pitchFamily="34" charset="-120"/>
              </a:rPr>
              <a:t>Production shutdowns and one-time events created spikes</a:t>
            </a:r>
            <a:endParaRPr lang="en-US" sz="900" dirty="0"/>
          </a:p>
        </p:txBody>
      </p:sp>
      <p:sp>
        <p:nvSpPr>
          <p:cNvPr id="32" name="Shape 30"/>
          <p:cNvSpPr/>
          <p:nvPr/>
        </p:nvSpPr>
        <p:spPr>
          <a:xfrm>
            <a:off x="4709160" y="2889504"/>
            <a:ext cx="3977640" cy="594360"/>
          </a:xfrm>
          <a:prstGeom prst="rect">
            <a:avLst/>
          </a:prstGeom>
          <a:solidFill>
            <a:srgbClr val="172A3A"/>
          </a:solidFill>
          <a:ln w="12700">
            <a:solidFill>
              <a:srgbClr val="E53935"/>
            </a:solidFill>
            <a:prstDash val="solid"/>
          </a:ln>
        </p:spPr>
      </p:sp>
      <p:sp>
        <p:nvSpPr>
          <p:cNvPr id="33" name="Shape 31"/>
          <p:cNvSpPr/>
          <p:nvPr/>
        </p:nvSpPr>
        <p:spPr>
          <a:xfrm>
            <a:off x="4709160" y="2889504"/>
            <a:ext cx="54864" cy="594360"/>
          </a:xfrm>
          <a:prstGeom prst="rect">
            <a:avLst/>
          </a:prstGeom>
          <a:solidFill>
            <a:srgbClr val="E53935"/>
          </a:solidFill>
          <a:ln/>
        </p:spPr>
      </p:sp>
      <p:sp>
        <p:nvSpPr>
          <p:cNvPr id="34" name="Text 32"/>
          <p:cNvSpPr/>
          <p:nvPr/>
        </p:nvSpPr>
        <p:spPr>
          <a:xfrm>
            <a:off x="4846320" y="2907792"/>
            <a:ext cx="1371600" cy="274320"/>
          </a:xfrm>
          <a:prstGeom prst="rect">
            <a:avLst/>
          </a:prstGeom>
          <a:noFill/>
          <a:ln/>
        </p:spPr>
        <p:txBody>
          <a:bodyPr wrap="square" lIns="0" tIns="0" rIns="0" bIns="0" rtlCol="0" anchor="ctr"/>
          <a:lstStyle/>
          <a:p>
            <a:pPr algn="l" indent="0" marL="0">
              <a:buNone/>
            </a:pPr>
            <a:r>
              <a:rPr lang="en-US" sz="1100" b="1" dirty="0">
                <a:solidFill>
                  <a:srgbClr val="FFFFFF"/>
                </a:solidFill>
                <a:latin typeface="Arial" pitchFamily="34" charset="0"/>
                <a:ea typeface="Arial" pitchFamily="34" charset="-122"/>
                <a:cs typeface="Arial" pitchFamily="34" charset="-120"/>
              </a:rPr>
              <a:t>Negative Clamping</a:t>
            </a:r>
            <a:endParaRPr lang="en-US" sz="1100" dirty="0"/>
          </a:p>
        </p:txBody>
      </p:sp>
      <p:sp>
        <p:nvSpPr>
          <p:cNvPr id="35" name="Text 33"/>
          <p:cNvSpPr/>
          <p:nvPr/>
        </p:nvSpPr>
        <p:spPr>
          <a:xfrm>
            <a:off x="6263640" y="2907792"/>
            <a:ext cx="2286000" cy="274320"/>
          </a:xfrm>
          <a:prstGeom prst="rect">
            <a:avLst/>
          </a:prstGeom>
          <a:noFill/>
          <a:ln/>
        </p:spPr>
        <p:txBody>
          <a:bodyPr wrap="square" lIns="0" tIns="0" rIns="0" bIns="0" rtlCol="0" anchor="ctr"/>
          <a:lstStyle/>
          <a:p>
            <a:pPr algn="l" indent="0" marL="0">
              <a:buNone/>
            </a:pPr>
            <a:r>
              <a:rPr lang="en-US" sz="1000" b="1" dirty="0">
                <a:solidFill>
                  <a:srgbClr val="E53935"/>
                </a:solidFill>
                <a:latin typeface="Arial" pitchFamily="34" charset="0"/>
                <a:ea typeface="Arial" pitchFamily="34" charset="-122"/>
                <a:cs typeface="Arial" pitchFamily="34" charset="-120"/>
              </a:rPr>
              <a:t>None</a:t>
            </a:r>
            <a:pPr algn="l" indent="0" marL="0">
              <a:buNone/>
            </a:pPr>
            <a:r>
              <a:rPr lang="en-US" sz="1000" dirty="0">
                <a:solidFill>
                  <a:srgbClr val="B0B8C0"/>
                </a:solidFill>
                <a:latin typeface="Arial" pitchFamily="34" charset="0"/>
                <a:ea typeface="Arial" pitchFamily="34" charset="-122"/>
                <a:cs typeface="Arial" pitchFamily="34" charset="-120"/>
              </a:rPr>
              <a:t>  →  </a:t>
            </a:r>
            <a:pPr algn="l" indent="0" marL="0">
              <a:buNone/>
            </a:pPr>
            <a:r>
              <a:rPr lang="en-US" sz="1000" b="1" dirty="0">
                <a:solidFill>
                  <a:srgbClr val="4CAF50"/>
                </a:solidFill>
                <a:latin typeface="Arial" pitchFamily="34" charset="0"/>
                <a:ea typeface="Arial" pitchFamily="34" charset="-122"/>
                <a:cs typeface="Arial" pitchFamily="34" charset="-120"/>
              </a:rPr>
              <a:t>max(0, forecast)</a:t>
            </a:r>
            <a:endParaRPr lang="en-US" sz="1000" dirty="0"/>
          </a:p>
        </p:txBody>
      </p:sp>
      <p:sp>
        <p:nvSpPr>
          <p:cNvPr id="36" name="Text 34"/>
          <p:cNvSpPr/>
          <p:nvPr/>
        </p:nvSpPr>
        <p:spPr>
          <a:xfrm>
            <a:off x="4846320" y="3200400"/>
            <a:ext cx="3703320" cy="256032"/>
          </a:xfrm>
          <a:prstGeom prst="rect">
            <a:avLst/>
          </a:prstGeom>
          <a:noFill/>
          <a:ln/>
        </p:spPr>
        <p:txBody>
          <a:bodyPr wrap="square" lIns="0" tIns="0" rIns="0" bIns="0" rtlCol="0" anchor="t"/>
          <a:lstStyle/>
          <a:p>
            <a:pPr algn="l" indent="0" marL="0">
              <a:buNone/>
            </a:pPr>
            <a:r>
              <a:rPr lang="en-US" sz="900" dirty="0">
                <a:solidFill>
                  <a:srgbClr val="B0B8C0"/>
                </a:solidFill>
                <a:latin typeface="Arial" pitchFamily="34" charset="0"/>
                <a:ea typeface="Arial" pitchFamily="34" charset="-122"/>
                <a:cs typeface="Arial" pitchFamily="34" charset="-120"/>
              </a:rPr>
              <a:t>SARIMA can produce negative counts — clamped to zero</a:t>
            </a:r>
            <a:endParaRPr lang="en-US" sz="900" dirty="0"/>
          </a:p>
        </p:txBody>
      </p:sp>
      <p:sp>
        <p:nvSpPr>
          <p:cNvPr id="37" name="Shape 35"/>
          <p:cNvSpPr/>
          <p:nvPr/>
        </p:nvSpPr>
        <p:spPr>
          <a:xfrm>
            <a:off x="457200" y="3703320"/>
            <a:ext cx="8229600" cy="777240"/>
          </a:xfrm>
          <a:prstGeom prst="rect">
            <a:avLst/>
          </a:prstGeom>
          <a:solidFill>
            <a:srgbClr val="172A3A"/>
          </a:solidFill>
          <a:ln w="19050">
            <a:solidFill>
              <a:srgbClr val="00BCD4"/>
            </a:solidFill>
            <a:prstDash val="solid"/>
          </a:ln>
        </p:spPr>
      </p:sp>
      <p:sp>
        <p:nvSpPr>
          <p:cNvPr id="38" name="Text 36"/>
          <p:cNvSpPr/>
          <p:nvPr/>
        </p:nvSpPr>
        <p:spPr>
          <a:xfrm>
            <a:off x="640080" y="3749040"/>
            <a:ext cx="1828800" cy="228600"/>
          </a:xfrm>
          <a:prstGeom prst="rect">
            <a:avLst/>
          </a:prstGeom>
          <a:noFill/>
          <a:ln/>
        </p:spPr>
        <p:txBody>
          <a:bodyPr wrap="square" lIns="0" tIns="0" rIns="0" bIns="0" rtlCol="0" anchor="ctr"/>
          <a:lstStyle/>
          <a:p>
            <a:pPr algn="l" indent="0" marL="0">
              <a:buNone/>
            </a:pPr>
            <a:r>
              <a:rPr lang="en-US" sz="1000" b="1" dirty="0">
                <a:solidFill>
                  <a:srgbClr val="00BCD4"/>
                </a:solidFill>
                <a:latin typeface="Arial" pitchFamily="34" charset="0"/>
                <a:ea typeface="Arial" pitchFamily="34" charset="-122"/>
                <a:cs typeface="Arial" pitchFamily="34" charset="-120"/>
              </a:rPr>
              <a:t>KEY LEARNINGS</a:t>
            </a:r>
            <a:endParaRPr lang="en-US" sz="1000" dirty="0"/>
          </a:p>
        </p:txBody>
      </p:sp>
      <p:sp>
        <p:nvSpPr>
          <p:cNvPr id="39" name="Text 37"/>
          <p:cNvSpPr/>
          <p:nvPr/>
        </p:nvSpPr>
        <p:spPr>
          <a:xfrm>
            <a:off x="640080" y="3977640"/>
            <a:ext cx="7863840" cy="155448"/>
          </a:xfrm>
          <a:prstGeom prst="rect">
            <a:avLst/>
          </a:prstGeom>
          <a:noFill/>
          <a:ln/>
        </p:spPr>
        <p:txBody>
          <a:bodyPr wrap="square" lIns="0" tIns="0" rIns="0" bIns="0" rtlCol="0" anchor="ctr"/>
          <a:lstStyle/>
          <a:p>
            <a:pPr algn="l" indent="0" marL="0">
              <a:buNone/>
            </a:pPr>
            <a:r>
              <a:rPr lang="en-US" sz="950" dirty="0">
                <a:solidFill>
                  <a:srgbClr val="00BCD4"/>
                </a:solidFill>
                <a:latin typeface="Arial" pitchFamily="34" charset="0"/>
                <a:ea typeface="Arial" pitchFamily="34" charset="-122"/>
                <a:cs typeface="Arial" pitchFamily="34" charset="-120"/>
              </a:rPr>
              <a:t>▸ </a:t>
            </a:r>
            <a:pPr algn="l" indent="0" marL="0">
              <a:buNone/>
            </a:pPr>
            <a:r>
              <a:rPr lang="en-US" sz="950" dirty="0">
                <a:solidFill>
                  <a:srgbClr val="B0B8C0"/>
                </a:solidFill>
                <a:latin typeface="Arial" pitchFamily="34" charset="0"/>
                <a:ea typeface="Arial" pitchFamily="34" charset="-122"/>
                <a:cs typeface="Arial" pitchFamily="34" charset="-120"/>
              </a:rPr>
              <a:t>AutoML (PAL_AUTOML_FIT) confirmed BSTS as best overall — but keeping all 3 models ensures best fit per accessory</a:t>
            </a:r>
            <a:endParaRPr lang="en-US" sz="950" dirty="0"/>
          </a:p>
        </p:txBody>
      </p:sp>
      <p:sp>
        <p:nvSpPr>
          <p:cNvPr id="40" name="Text 38"/>
          <p:cNvSpPr/>
          <p:nvPr/>
        </p:nvSpPr>
        <p:spPr>
          <a:xfrm>
            <a:off x="640080" y="4133088"/>
            <a:ext cx="7863840" cy="155448"/>
          </a:xfrm>
          <a:prstGeom prst="rect">
            <a:avLst/>
          </a:prstGeom>
          <a:noFill/>
          <a:ln/>
        </p:spPr>
        <p:txBody>
          <a:bodyPr wrap="square" lIns="0" tIns="0" rIns="0" bIns="0" rtlCol="0" anchor="ctr"/>
          <a:lstStyle/>
          <a:p>
            <a:pPr algn="l" indent="0" marL="0">
              <a:buNone/>
            </a:pPr>
            <a:r>
              <a:rPr lang="en-US" sz="950" dirty="0">
                <a:solidFill>
                  <a:srgbClr val="00BCD4"/>
                </a:solidFill>
                <a:latin typeface="Arial" pitchFamily="34" charset="0"/>
                <a:ea typeface="Arial" pitchFamily="34" charset="-122"/>
                <a:cs typeface="Arial" pitchFamily="34" charset="-120"/>
              </a:rPr>
              <a:t>▸ </a:t>
            </a:r>
            <a:pPr algn="l" indent="0" marL="0">
              <a:buNone/>
            </a:pPr>
            <a:r>
              <a:rPr lang="en-US" sz="950" dirty="0">
                <a:solidFill>
                  <a:srgbClr val="B0B8C0"/>
                </a:solidFill>
                <a:latin typeface="Arial" pitchFamily="34" charset="0"/>
                <a:ea typeface="Arial" pitchFamily="34" charset="-122"/>
                <a:cs typeface="Arial" pitchFamily="34" charset="-120"/>
              </a:rPr>
              <a:t>More MCMC iterations (niter) = better BSTS accuracy, but diminishing returns above 3000</a:t>
            </a:r>
            <a:endParaRPr lang="en-US" sz="950" dirty="0"/>
          </a:p>
        </p:txBody>
      </p:sp>
      <p:sp>
        <p:nvSpPr>
          <p:cNvPr id="41" name="Text 39"/>
          <p:cNvSpPr/>
          <p:nvPr/>
        </p:nvSpPr>
        <p:spPr>
          <a:xfrm>
            <a:off x="640080" y="4288536"/>
            <a:ext cx="7863840" cy="155448"/>
          </a:xfrm>
          <a:prstGeom prst="rect">
            <a:avLst/>
          </a:prstGeom>
          <a:noFill/>
          <a:ln/>
        </p:spPr>
        <p:txBody>
          <a:bodyPr wrap="square" lIns="0" tIns="0" rIns="0" bIns="0" rtlCol="0" anchor="ctr"/>
          <a:lstStyle/>
          <a:p>
            <a:pPr algn="l" indent="0" marL="0">
              <a:buNone/>
            </a:pPr>
            <a:r>
              <a:rPr lang="en-US" sz="950" dirty="0">
                <a:solidFill>
                  <a:srgbClr val="00BCD4"/>
                </a:solidFill>
                <a:latin typeface="Arial" pitchFamily="34" charset="0"/>
                <a:ea typeface="Arial" pitchFamily="34" charset="-122"/>
                <a:cs typeface="Arial" pitchFamily="34" charset="-120"/>
              </a:rPr>
              <a:t>▸ </a:t>
            </a:r>
            <a:pPr algn="l" indent="0" marL="0">
              <a:buNone/>
            </a:pPr>
            <a:r>
              <a:rPr lang="en-US" sz="950" dirty="0">
                <a:solidFill>
                  <a:srgbClr val="B0B8C0"/>
                </a:solidFill>
                <a:latin typeface="Arial" pitchFamily="34" charset="0"/>
                <a:ea typeface="Arial" pitchFamily="34" charset="-122"/>
                <a:cs typeface="Arial" pitchFamily="34" charset="-120"/>
              </a:rPr>
              <a:t>Exposing parameters via REST API enables on-demand fine-tuning without redeploying the pipeline</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923"/>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CD4"/>
          </a:solidFill>
          <a:ln/>
        </p:spPr>
      </p:sp>
      <p:sp>
        <p:nvSpPr>
          <p:cNvPr id="3" name="Shape 1"/>
          <p:cNvSpPr/>
          <p:nvPr/>
        </p:nvSpPr>
        <p:spPr>
          <a:xfrm>
            <a:off x="457200" y="228600"/>
            <a:ext cx="1828800" cy="365760"/>
          </a:xfrm>
          <a:prstGeom prst="rect">
            <a:avLst/>
          </a:prstGeom>
          <a:solidFill>
            <a:srgbClr val="F9A825"/>
          </a:solidFill>
          <a:ln/>
        </p:spPr>
      </p:sp>
      <p:sp>
        <p:nvSpPr>
          <p:cNvPr id="4" name="Text 2"/>
          <p:cNvSpPr/>
          <p:nvPr/>
        </p:nvSpPr>
        <p:spPr>
          <a:xfrm>
            <a:off x="457200" y="228600"/>
            <a:ext cx="1828800" cy="365760"/>
          </a:xfrm>
          <a:prstGeom prst="rect">
            <a:avLst/>
          </a:prstGeom>
          <a:noFill/>
          <a:ln/>
        </p:spPr>
        <p:txBody>
          <a:bodyPr wrap="square" lIns="0" tIns="0" rIns="0" bIns="0" rtlCol="0" anchor="ctr"/>
          <a:lstStyle/>
          <a:p>
            <a:pPr algn="ctr" indent="0" marL="0">
              <a:buNone/>
            </a:pPr>
            <a:r>
              <a:rPr lang="en-US" sz="1000" b="1" dirty="0">
                <a:solidFill>
                  <a:srgbClr val="1A1A1A"/>
                </a:solidFill>
                <a:latin typeface="Arial" pitchFamily="34" charset="0"/>
                <a:ea typeface="Arial" pitchFamily="34" charset="-122"/>
                <a:cs typeface="Arial" pitchFamily="34" charset="-120"/>
              </a:rPr>
              <a:t>DATA PIPELINE</a:t>
            </a:r>
            <a:endParaRPr lang="en-US" sz="1000" dirty="0"/>
          </a:p>
        </p:txBody>
      </p:sp>
      <p:sp>
        <p:nvSpPr>
          <p:cNvPr id="5" name="Text 3"/>
          <p:cNvSpPr/>
          <p:nvPr/>
        </p:nvSpPr>
        <p:spPr>
          <a:xfrm>
            <a:off x="457200" y="777240"/>
            <a:ext cx="8229600" cy="54864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From Raw Data to 12-Month Predictions</a:t>
            </a:r>
            <a:endParaRPr lang="en-US" sz="3400" dirty="0"/>
          </a:p>
        </p:txBody>
      </p:sp>
      <p:sp>
        <p:nvSpPr>
          <p:cNvPr id="6" name="Text 4"/>
          <p:cNvSpPr/>
          <p:nvPr/>
        </p:nvSpPr>
        <p:spPr>
          <a:xfrm>
            <a:off x="457200" y="1234440"/>
            <a:ext cx="8229600" cy="365760"/>
          </a:xfrm>
          <a:prstGeom prst="rect">
            <a:avLst/>
          </a:prstGeom>
          <a:noFill/>
          <a:ln/>
        </p:spPr>
        <p:txBody>
          <a:bodyPr wrap="square" lIns="0" tIns="0" rIns="0" bIns="0" rtlCol="0" anchor="ctr"/>
          <a:lstStyle/>
          <a:p>
            <a:pPr indent="0" marL="0">
              <a:buNone/>
            </a:pPr>
            <a:r>
              <a:rPr lang="en-US" sz="1300" dirty="0">
                <a:solidFill>
                  <a:srgbClr val="B0B8C0"/>
                </a:solidFill>
                <a:latin typeface="Arial" pitchFamily="34" charset="0"/>
                <a:ea typeface="Arial" pitchFamily="34" charset="-122"/>
                <a:cs typeface="Arial" pitchFamily="34" charset="-120"/>
              </a:rPr>
              <a:t>How 33,674 production records become actionable intelligence — powered by SAP PAL inside HANA Cloud</a:t>
            </a:r>
            <a:endParaRPr lang="en-US" sz="1300" dirty="0"/>
          </a:p>
        </p:txBody>
      </p:sp>
      <p:sp>
        <p:nvSpPr>
          <p:cNvPr id="7" name="Shape 5"/>
          <p:cNvSpPr/>
          <p:nvPr/>
        </p:nvSpPr>
        <p:spPr>
          <a:xfrm>
            <a:off x="320040" y="1920240"/>
            <a:ext cx="1508760" cy="2743200"/>
          </a:xfrm>
          <a:prstGeom prst="rect">
            <a:avLst/>
          </a:prstGeom>
          <a:solidFill>
            <a:srgbClr val="172A3A"/>
          </a:solidFill>
          <a:ln w="19050">
            <a:solidFill>
              <a:srgbClr val="00BCD4"/>
            </a:solidFill>
            <a:prstDash val="solid"/>
          </a:ln>
        </p:spPr>
      </p:sp>
      <p:sp>
        <p:nvSpPr>
          <p:cNvPr id="8" name="Shape 6"/>
          <p:cNvSpPr/>
          <p:nvPr/>
        </p:nvSpPr>
        <p:spPr>
          <a:xfrm>
            <a:off x="320040" y="1920240"/>
            <a:ext cx="1508760" cy="54864"/>
          </a:xfrm>
          <a:prstGeom prst="rect">
            <a:avLst/>
          </a:prstGeom>
          <a:solidFill>
            <a:srgbClr val="00BCD4"/>
          </a:solidFill>
          <a:ln/>
        </p:spPr>
      </p:sp>
      <p:sp>
        <p:nvSpPr>
          <p:cNvPr id="9" name="Shape 7"/>
          <p:cNvSpPr/>
          <p:nvPr/>
        </p:nvSpPr>
        <p:spPr>
          <a:xfrm>
            <a:off x="822960" y="2103120"/>
            <a:ext cx="502920" cy="502920"/>
          </a:xfrm>
          <a:prstGeom prst="ellipse">
            <a:avLst/>
          </a:prstGeom>
          <a:solidFill>
            <a:srgbClr val="00BCD4"/>
          </a:solidFill>
          <a:ln/>
        </p:spPr>
      </p:sp>
      <p:sp>
        <p:nvSpPr>
          <p:cNvPr id="10" name="Text 8"/>
          <p:cNvSpPr/>
          <p:nvPr/>
        </p:nvSpPr>
        <p:spPr>
          <a:xfrm>
            <a:off x="822960" y="2103120"/>
            <a:ext cx="502920" cy="502920"/>
          </a:xfrm>
          <a:prstGeom prst="rect">
            <a:avLst/>
          </a:prstGeom>
          <a:noFill/>
          <a:ln/>
        </p:spPr>
        <p:txBody>
          <a:bodyPr wrap="square" lIns="0" tIns="0" rIns="0" bIns="0" rtlCol="0" anchor="ctr"/>
          <a:lstStyle/>
          <a:p>
            <a:pPr algn="ctr" indent="0" marL="0">
              <a:buNone/>
            </a:pPr>
            <a:r>
              <a:rPr lang="en-US" sz="1800" b="1" dirty="0">
                <a:solidFill>
                  <a:srgbClr val="0F1923"/>
                </a:solidFill>
                <a:latin typeface="Arial" pitchFamily="34" charset="0"/>
                <a:ea typeface="Arial" pitchFamily="34" charset="-122"/>
                <a:cs typeface="Arial" pitchFamily="34" charset="-120"/>
              </a:rPr>
              <a:t>1</a:t>
            </a:r>
            <a:endParaRPr lang="en-US" sz="1800" dirty="0"/>
          </a:p>
        </p:txBody>
      </p:sp>
      <p:sp>
        <p:nvSpPr>
          <p:cNvPr id="11" name="Text 9"/>
          <p:cNvSpPr/>
          <p:nvPr/>
        </p:nvSpPr>
        <p:spPr>
          <a:xfrm>
            <a:off x="365760" y="2743200"/>
            <a:ext cx="141732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Raw Data</a:t>
            </a:r>
            <a:endParaRPr lang="en-US" sz="1300" dirty="0"/>
          </a:p>
        </p:txBody>
      </p:sp>
      <p:sp>
        <p:nvSpPr>
          <p:cNvPr id="12" name="Text 10"/>
          <p:cNvSpPr/>
          <p:nvPr/>
        </p:nvSpPr>
        <p:spPr>
          <a:xfrm>
            <a:off x="365760" y="3200400"/>
            <a:ext cx="1417320" cy="365760"/>
          </a:xfrm>
          <a:prstGeom prst="rect">
            <a:avLst/>
          </a:prstGeom>
          <a:noFill/>
          <a:ln/>
        </p:spPr>
        <p:txBody>
          <a:bodyPr wrap="square" lIns="0" tIns="0" rIns="0" bIns="0" rtlCol="0" anchor="ctr"/>
          <a:lstStyle/>
          <a:p>
            <a:pPr algn="ctr" indent="0" marL="0">
              <a:buNone/>
            </a:pPr>
            <a:r>
              <a:rPr lang="en-US" sz="1050" dirty="0">
                <a:solidFill>
                  <a:srgbClr val="B0B8C0"/>
                </a:solidFill>
                <a:latin typeface="Arial" pitchFamily="34" charset="0"/>
                <a:ea typeface="Arial" pitchFamily="34" charset="-122"/>
                <a:cs typeface="Arial" pitchFamily="34" charset="-120"/>
              </a:rPr>
              <a:t>33,674 records</a:t>
            </a:r>
            <a:endParaRPr lang="en-US" sz="1050" dirty="0"/>
          </a:p>
        </p:txBody>
      </p:sp>
      <p:sp>
        <p:nvSpPr>
          <p:cNvPr id="13" name="Text 11"/>
          <p:cNvSpPr/>
          <p:nvPr/>
        </p:nvSpPr>
        <p:spPr>
          <a:xfrm>
            <a:off x="365760" y="3611880"/>
            <a:ext cx="1417320" cy="365760"/>
          </a:xfrm>
          <a:prstGeom prst="rect">
            <a:avLst/>
          </a:prstGeom>
          <a:noFill/>
          <a:ln/>
        </p:spPr>
        <p:txBody>
          <a:bodyPr wrap="square" lIns="0" tIns="0" rIns="0" bIns="0" rtlCol="0" anchor="ctr"/>
          <a:lstStyle/>
          <a:p>
            <a:pPr algn="ctr" indent="0" marL="0">
              <a:buNone/>
            </a:pPr>
            <a:r>
              <a:rPr lang="en-US" sz="1050" dirty="0">
                <a:solidFill>
                  <a:srgbClr val="B0B8C0"/>
                </a:solidFill>
                <a:latin typeface="Arial" pitchFamily="34" charset="0"/>
                <a:ea typeface="Arial" pitchFamily="34" charset="-122"/>
                <a:cs typeface="Arial" pitchFamily="34" charset="-120"/>
              </a:rPr>
              <a:t>29 months history</a:t>
            </a:r>
            <a:endParaRPr lang="en-US" sz="1050" dirty="0"/>
          </a:p>
        </p:txBody>
      </p:sp>
      <p:sp>
        <p:nvSpPr>
          <p:cNvPr id="14" name="Text 12"/>
          <p:cNvSpPr/>
          <p:nvPr/>
        </p:nvSpPr>
        <p:spPr>
          <a:xfrm>
            <a:off x="365760" y="4023360"/>
            <a:ext cx="1417320" cy="365760"/>
          </a:xfrm>
          <a:prstGeom prst="rect">
            <a:avLst/>
          </a:prstGeom>
          <a:noFill/>
          <a:ln/>
        </p:spPr>
        <p:txBody>
          <a:bodyPr wrap="square" lIns="0" tIns="0" rIns="0" bIns="0" rtlCol="0" anchor="ctr"/>
          <a:lstStyle/>
          <a:p>
            <a:pPr algn="ctr" indent="0" marL="0">
              <a:buNone/>
            </a:pPr>
            <a:r>
              <a:rPr lang="en-US" sz="1050" dirty="0">
                <a:solidFill>
                  <a:srgbClr val="B0B8C0"/>
                </a:solidFill>
                <a:latin typeface="Arial" pitchFamily="34" charset="0"/>
                <a:ea typeface="Arial" pitchFamily="34" charset="-122"/>
                <a:cs typeface="Arial" pitchFamily="34" charset="-120"/>
              </a:rPr>
              <a:t>5 data dimensions</a:t>
            </a:r>
            <a:endParaRPr lang="en-US" sz="1050" dirty="0"/>
          </a:p>
        </p:txBody>
      </p:sp>
      <p:sp>
        <p:nvSpPr>
          <p:cNvPr id="15" name="Text 13"/>
          <p:cNvSpPr/>
          <p:nvPr/>
        </p:nvSpPr>
        <p:spPr>
          <a:xfrm>
            <a:off x="1847088" y="3017520"/>
            <a:ext cx="146304" cy="457200"/>
          </a:xfrm>
          <a:prstGeom prst="rect">
            <a:avLst/>
          </a:prstGeom>
          <a:noFill/>
          <a:ln/>
        </p:spPr>
        <p:txBody>
          <a:bodyPr wrap="square" lIns="0" tIns="0" rIns="0" bIns="0" rtlCol="0" anchor="ctr"/>
          <a:lstStyle/>
          <a:p>
            <a:pPr algn="ctr" indent="0" marL="0">
              <a:buNone/>
            </a:pPr>
            <a:r>
              <a:rPr lang="en-US" sz="1400" dirty="0">
                <a:solidFill>
                  <a:srgbClr val="00BCD4"/>
                </a:solidFill>
                <a:latin typeface="Arial" pitchFamily="34" charset="0"/>
                <a:ea typeface="Arial" pitchFamily="34" charset="-122"/>
                <a:cs typeface="Arial" pitchFamily="34" charset="-120"/>
              </a:rPr>
              <a:t>▶</a:t>
            </a:r>
            <a:endParaRPr lang="en-US" sz="1400" dirty="0"/>
          </a:p>
        </p:txBody>
      </p:sp>
      <p:sp>
        <p:nvSpPr>
          <p:cNvPr id="16" name="Shape 14"/>
          <p:cNvSpPr/>
          <p:nvPr/>
        </p:nvSpPr>
        <p:spPr>
          <a:xfrm>
            <a:off x="2011680" y="1920240"/>
            <a:ext cx="1508760" cy="2743200"/>
          </a:xfrm>
          <a:prstGeom prst="rect">
            <a:avLst/>
          </a:prstGeom>
          <a:solidFill>
            <a:srgbClr val="172A3A"/>
          </a:solidFill>
          <a:ln w="19050">
            <a:solidFill>
              <a:srgbClr val="2196F3"/>
            </a:solidFill>
            <a:prstDash val="solid"/>
          </a:ln>
        </p:spPr>
      </p:sp>
      <p:sp>
        <p:nvSpPr>
          <p:cNvPr id="17" name="Shape 15"/>
          <p:cNvSpPr/>
          <p:nvPr/>
        </p:nvSpPr>
        <p:spPr>
          <a:xfrm>
            <a:off x="2011680" y="1920240"/>
            <a:ext cx="1508760" cy="54864"/>
          </a:xfrm>
          <a:prstGeom prst="rect">
            <a:avLst/>
          </a:prstGeom>
          <a:solidFill>
            <a:srgbClr val="2196F3"/>
          </a:solidFill>
          <a:ln/>
        </p:spPr>
      </p:sp>
      <p:sp>
        <p:nvSpPr>
          <p:cNvPr id="18" name="Shape 16"/>
          <p:cNvSpPr/>
          <p:nvPr/>
        </p:nvSpPr>
        <p:spPr>
          <a:xfrm>
            <a:off x="2514600" y="2103120"/>
            <a:ext cx="502920" cy="502920"/>
          </a:xfrm>
          <a:prstGeom prst="ellipse">
            <a:avLst/>
          </a:prstGeom>
          <a:solidFill>
            <a:srgbClr val="2196F3"/>
          </a:solidFill>
          <a:ln/>
        </p:spPr>
      </p:sp>
      <p:sp>
        <p:nvSpPr>
          <p:cNvPr id="19" name="Text 17"/>
          <p:cNvSpPr/>
          <p:nvPr/>
        </p:nvSpPr>
        <p:spPr>
          <a:xfrm>
            <a:off x="2514600" y="2103120"/>
            <a:ext cx="502920" cy="502920"/>
          </a:xfrm>
          <a:prstGeom prst="rect">
            <a:avLst/>
          </a:prstGeom>
          <a:noFill/>
          <a:ln/>
        </p:spPr>
        <p:txBody>
          <a:bodyPr wrap="square" lIns="0" tIns="0" rIns="0" bIns="0" rtlCol="0" anchor="ctr"/>
          <a:lstStyle/>
          <a:p>
            <a:pPr algn="ctr" indent="0" marL="0">
              <a:buNone/>
            </a:pPr>
            <a:r>
              <a:rPr lang="en-US" sz="1800" b="1" dirty="0">
                <a:solidFill>
                  <a:srgbClr val="0F1923"/>
                </a:solidFill>
                <a:latin typeface="Arial" pitchFamily="34" charset="0"/>
                <a:ea typeface="Arial" pitchFamily="34" charset="-122"/>
                <a:cs typeface="Arial" pitchFamily="34" charset="-120"/>
              </a:rPr>
              <a:t>2</a:t>
            </a:r>
            <a:endParaRPr lang="en-US" sz="1800" dirty="0"/>
          </a:p>
        </p:txBody>
      </p:sp>
      <p:sp>
        <p:nvSpPr>
          <p:cNvPr id="20" name="Text 18"/>
          <p:cNvSpPr/>
          <p:nvPr/>
        </p:nvSpPr>
        <p:spPr>
          <a:xfrm>
            <a:off x="2057400" y="2743200"/>
            <a:ext cx="141732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Data Quality</a:t>
            </a:r>
            <a:endParaRPr lang="en-US" sz="1300" dirty="0"/>
          </a:p>
        </p:txBody>
      </p:sp>
      <p:sp>
        <p:nvSpPr>
          <p:cNvPr id="21" name="Text 19"/>
          <p:cNvSpPr/>
          <p:nvPr/>
        </p:nvSpPr>
        <p:spPr>
          <a:xfrm>
            <a:off x="2057400" y="3200400"/>
            <a:ext cx="1417320" cy="365760"/>
          </a:xfrm>
          <a:prstGeom prst="rect">
            <a:avLst/>
          </a:prstGeom>
          <a:noFill/>
          <a:ln/>
        </p:spPr>
        <p:txBody>
          <a:bodyPr wrap="square" lIns="0" tIns="0" rIns="0" bIns="0" rtlCol="0" anchor="ctr"/>
          <a:lstStyle/>
          <a:p>
            <a:pPr algn="ctr" indent="0" marL="0">
              <a:buNone/>
            </a:pPr>
            <a:r>
              <a:rPr lang="en-US" sz="1050" dirty="0">
                <a:solidFill>
                  <a:srgbClr val="B0B8C0"/>
                </a:solidFill>
                <a:latin typeface="Arial" pitchFamily="34" charset="0"/>
                <a:ea typeface="Arial" pitchFamily="34" charset="-122"/>
                <a:cs typeface="Arial" pitchFamily="34" charset="-120"/>
              </a:rPr>
              <a:t>Outlier detection</a:t>
            </a:r>
            <a:endParaRPr lang="en-US" sz="1050" dirty="0"/>
          </a:p>
        </p:txBody>
      </p:sp>
      <p:sp>
        <p:nvSpPr>
          <p:cNvPr id="22" name="Text 20"/>
          <p:cNvSpPr/>
          <p:nvPr/>
        </p:nvSpPr>
        <p:spPr>
          <a:xfrm>
            <a:off x="2057400" y="3611880"/>
            <a:ext cx="1417320" cy="365760"/>
          </a:xfrm>
          <a:prstGeom prst="rect">
            <a:avLst/>
          </a:prstGeom>
          <a:noFill/>
          <a:ln/>
        </p:spPr>
        <p:txBody>
          <a:bodyPr wrap="square" lIns="0" tIns="0" rIns="0" bIns="0" rtlCol="0" anchor="ctr"/>
          <a:lstStyle/>
          <a:p>
            <a:pPr algn="ctr" indent="0" marL="0">
              <a:buNone/>
            </a:pPr>
            <a:r>
              <a:rPr lang="en-US" sz="1050" dirty="0">
                <a:solidFill>
                  <a:srgbClr val="B0B8C0"/>
                </a:solidFill>
                <a:latin typeface="Arial" pitchFamily="34" charset="0"/>
                <a:ea typeface="Arial" pitchFamily="34" charset="-122"/>
                <a:cs typeface="Arial" pitchFamily="34" charset="-120"/>
              </a:rPr>
              <a:t>Spike correction</a:t>
            </a:r>
            <a:endParaRPr lang="en-US" sz="1050" dirty="0"/>
          </a:p>
        </p:txBody>
      </p:sp>
      <p:sp>
        <p:nvSpPr>
          <p:cNvPr id="23" name="Text 21"/>
          <p:cNvSpPr/>
          <p:nvPr/>
        </p:nvSpPr>
        <p:spPr>
          <a:xfrm>
            <a:off x="2057400" y="4023360"/>
            <a:ext cx="1417320" cy="365760"/>
          </a:xfrm>
          <a:prstGeom prst="rect">
            <a:avLst/>
          </a:prstGeom>
          <a:noFill/>
          <a:ln/>
        </p:spPr>
        <p:txBody>
          <a:bodyPr wrap="square" lIns="0" tIns="0" rIns="0" bIns="0" rtlCol="0" anchor="ctr"/>
          <a:lstStyle/>
          <a:p>
            <a:pPr algn="ctr" indent="0" marL="0">
              <a:buNone/>
            </a:pPr>
            <a:r>
              <a:rPr lang="en-US" sz="1050" dirty="0">
                <a:solidFill>
                  <a:srgbClr val="B0B8C0"/>
                </a:solidFill>
                <a:latin typeface="Arial" pitchFamily="34" charset="0"/>
                <a:ea typeface="Arial" pitchFamily="34" charset="-122"/>
                <a:cs typeface="Arial" pitchFamily="34" charset="-120"/>
              </a:rPr>
              <a:t>Completeness checks</a:t>
            </a:r>
            <a:endParaRPr lang="en-US" sz="1050" dirty="0"/>
          </a:p>
        </p:txBody>
      </p:sp>
      <p:sp>
        <p:nvSpPr>
          <p:cNvPr id="24" name="Text 22"/>
          <p:cNvSpPr/>
          <p:nvPr/>
        </p:nvSpPr>
        <p:spPr>
          <a:xfrm>
            <a:off x="3538728" y="3017520"/>
            <a:ext cx="146304" cy="457200"/>
          </a:xfrm>
          <a:prstGeom prst="rect">
            <a:avLst/>
          </a:prstGeom>
          <a:noFill/>
          <a:ln/>
        </p:spPr>
        <p:txBody>
          <a:bodyPr wrap="square" lIns="0" tIns="0" rIns="0" bIns="0" rtlCol="0" anchor="ctr"/>
          <a:lstStyle/>
          <a:p>
            <a:pPr algn="ctr" indent="0" marL="0">
              <a:buNone/>
            </a:pPr>
            <a:r>
              <a:rPr lang="en-US" sz="1400" dirty="0">
                <a:solidFill>
                  <a:srgbClr val="00BCD4"/>
                </a:solidFill>
                <a:latin typeface="Arial" pitchFamily="34" charset="0"/>
                <a:ea typeface="Arial" pitchFamily="34" charset="-122"/>
                <a:cs typeface="Arial" pitchFamily="34" charset="-120"/>
              </a:rPr>
              <a:t>▶</a:t>
            </a:r>
            <a:endParaRPr lang="en-US" sz="1400" dirty="0"/>
          </a:p>
        </p:txBody>
      </p:sp>
      <p:sp>
        <p:nvSpPr>
          <p:cNvPr id="25" name="Shape 23"/>
          <p:cNvSpPr/>
          <p:nvPr/>
        </p:nvSpPr>
        <p:spPr>
          <a:xfrm>
            <a:off x="3703320" y="1920240"/>
            <a:ext cx="1508760" cy="2743200"/>
          </a:xfrm>
          <a:prstGeom prst="rect">
            <a:avLst/>
          </a:prstGeom>
          <a:solidFill>
            <a:srgbClr val="172A3A"/>
          </a:solidFill>
          <a:ln w="19050">
            <a:solidFill>
              <a:srgbClr val="F9A825"/>
            </a:solidFill>
            <a:prstDash val="solid"/>
          </a:ln>
        </p:spPr>
      </p:sp>
      <p:sp>
        <p:nvSpPr>
          <p:cNvPr id="26" name="Shape 24"/>
          <p:cNvSpPr/>
          <p:nvPr/>
        </p:nvSpPr>
        <p:spPr>
          <a:xfrm>
            <a:off x="3703320" y="1920240"/>
            <a:ext cx="1508760" cy="54864"/>
          </a:xfrm>
          <a:prstGeom prst="rect">
            <a:avLst/>
          </a:prstGeom>
          <a:solidFill>
            <a:srgbClr val="F9A825"/>
          </a:solidFill>
          <a:ln/>
        </p:spPr>
      </p:sp>
      <p:sp>
        <p:nvSpPr>
          <p:cNvPr id="27" name="Shape 25"/>
          <p:cNvSpPr/>
          <p:nvPr/>
        </p:nvSpPr>
        <p:spPr>
          <a:xfrm>
            <a:off x="4206240" y="2103120"/>
            <a:ext cx="502920" cy="502920"/>
          </a:xfrm>
          <a:prstGeom prst="ellipse">
            <a:avLst/>
          </a:prstGeom>
          <a:solidFill>
            <a:srgbClr val="F9A825"/>
          </a:solidFill>
          <a:ln/>
        </p:spPr>
      </p:sp>
      <p:sp>
        <p:nvSpPr>
          <p:cNvPr id="28" name="Text 26"/>
          <p:cNvSpPr/>
          <p:nvPr/>
        </p:nvSpPr>
        <p:spPr>
          <a:xfrm>
            <a:off x="4206240" y="2103120"/>
            <a:ext cx="502920" cy="502920"/>
          </a:xfrm>
          <a:prstGeom prst="rect">
            <a:avLst/>
          </a:prstGeom>
          <a:noFill/>
          <a:ln/>
        </p:spPr>
        <p:txBody>
          <a:bodyPr wrap="square" lIns="0" tIns="0" rIns="0" bIns="0" rtlCol="0" anchor="ctr"/>
          <a:lstStyle/>
          <a:p>
            <a:pPr algn="ctr" indent="0" marL="0">
              <a:buNone/>
            </a:pPr>
            <a:r>
              <a:rPr lang="en-US" sz="1800" b="1" dirty="0">
                <a:solidFill>
                  <a:srgbClr val="0F1923"/>
                </a:solidFill>
                <a:latin typeface="Arial" pitchFamily="34" charset="0"/>
                <a:ea typeface="Arial" pitchFamily="34" charset="-122"/>
                <a:cs typeface="Arial" pitchFamily="34" charset="-120"/>
              </a:rPr>
              <a:t>3</a:t>
            </a:r>
            <a:endParaRPr lang="en-US" sz="1800" dirty="0"/>
          </a:p>
        </p:txBody>
      </p:sp>
      <p:sp>
        <p:nvSpPr>
          <p:cNvPr id="29" name="Text 27"/>
          <p:cNvSpPr/>
          <p:nvPr/>
        </p:nvSpPr>
        <p:spPr>
          <a:xfrm>
            <a:off x="3749040" y="2743200"/>
            <a:ext cx="141732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SAP PAL Training</a:t>
            </a:r>
            <a:endParaRPr lang="en-US" sz="1300" dirty="0"/>
          </a:p>
        </p:txBody>
      </p:sp>
      <p:sp>
        <p:nvSpPr>
          <p:cNvPr id="30" name="Text 28"/>
          <p:cNvSpPr/>
          <p:nvPr/>
        </p:nvSpPr>
        <p:spPr>
          <a:xfrm>
            <a:off x="3749040" y="3200400"/>
            <a:ext cx="1417320" cy="365760"/>
          </a:xfrm>
          <a:prstGeom prst="rect">
            <a:avLst/>
          </a:prstGeom>
          <a:noFill/>
          <a:ln/>
        </p:spPr>
        <p:txBody>
          <a:bodyPr wrap="square" lIns="0" tIns="0" rIns="0" bIns="0" rtlCol="0" anchor="ctr"/>
          <a:lstStyle/>
          <a:p>
            <a:pPr algn="ctr" indent="0" marL="0">
              <a:buNone/>
            </a:pPr>
            <a:r>
              <a:rPr lang="en-US" sz="1050" dirty="0">
                <a:solidFill>
                  <a:srgbClr val="B0B8C0"/>
                </a:solidFill>
                <a:latin typeface="Arial" pitchFamily="34" charset="0"/>
                <a:ea typeface="Arial" pitchFamily="34" charset="-122"/>
                <a:cs typeface="Arial" pitchFamily="34" charset="-120"/>
              </a:rPr>
              <a:t>SES | SARIMA | BSTS</a:t>
            </a:r>
            <a:endParaRPr lang="en-US" sz="1050" dirty="0"/>
          </a:p>
        </p:txBody>
      </p:sp>
      <p:sp>
        <p:nvSpPr>
          <p:cNvPr id="31" name="Text 29"/>
          <p:cNvSpPr/>
          <p:nvPr/>
        </p:nvSpPr>
        <p:spPr>
          <a:xfrm>
            <a:off x="3749040" y="3611880"/>
            <a:ext cx="1417320" cy="365760"/>
          </a:xfrm>
          <a:prstGeom prst="rect">
            <a:avLst/>
          </a:prstGeom>
          <a:noFill/>
          <a:ln/>
        </p:spPr>
        <p:txBody>
          <a:bodyPr wrap="square" lIns="0" tIns="0" rIns="0" bIns="0" rtlCol="0" anchor="ctr"/>
          <a:lstStyle/>
          <a:p>
            <a:pPr algn="ctr" indent="0" marL="0">
              <a:buNone/>
            </a:pPr>
            <a:r>
              <a:rPr lang="en-US" sz="1050" dirty="0">
                <a:solidFill>
                  <a:srgbClr val="B0B8C0"/>
                </a:solidFill>
                <a:latin typeface="Arial" pitchFamily="34" charset="0"/>
                <a:ea typeface="Arial" pitchFamily="34" charset="-122"/>
                <a:cs typeface="Arial" pitchFamily="34" charset="-120"/>
              </a:rPr>
              <a:t>All via SAP PAL</a:t>
            </a:r>
            <a:endParaRPr lang="en-US" sz="1050" dirty="0"/>
          </a:p>
        </p:txBody>
      </p:sp>
      <p:sp>
        <p:nvSpPr>
          <p:cNvPr id="32" name="Text 30"/>
          <p:cNvSpPr/>
          <p:nvPr/>
        </p:nvSpPr>
        <p:spPr>
          <a:xfrm>
            <a:off x="3749040" y="4023360"/>
            <a:ext cx="1417320" cy="365760"/>
          </a:xfrm>
          <a:prstGeom prst="rect">
            <a:avLst/>
          </a:prstGeom>
          <a:noFill/>
          <a:ln/>
        </p:spPr>
        <p:txBody>
          <a:bodyPr wrap="square" lIns="0" tIns="0" rIns="0" bIns="0" rtlCol="0" anchor="ctr"/>
          <a:lstStyle/>
          <a:p>
            <a:pPr algn="ctr" indent="0" marL="0">
              <a:buNone/>
            </a:pPr>
            <a:r>
              <a:rPr lang="en-US" sz="1050" dirty="0">
                <a:solidFill>
                  <a:srgbClr val="B0B8C0"/>
                </a:solidFill>
                <a:latin typeface="Arial" pitchFamily="34" charset="0"/>
                <a:ea typeface="Arial" pitchFamily="34" charset="-122"/>
                <a:cs typeface="Arial" pitchFamily="34" charset="-120"/>
              </a:rPr>
              <a:t>Per accessory code</a:t>
            </a:r>
            <a:endParaRPr lang="en-US" sz="1050" dirty="0"/>
          </a:p>
        </p:txBody>
      </p:sp>
      <p:sp>
        <p:nvSpPr>
          <p:cNvPr id="33" name="Text 31"/>
          <p:cNvSpPr/>
          <p:nvPr/>
        </p:nvSpPr>
        <p:spPr>
          <a:xfrm>
            <a:off x="5230368" y="3017520"/>
            <a:ext cx="146304" cy="457200"/>
          </a:xfrm>
          <a:prstGeom prst="rect">
            <a:avLst/>
          </a:prstGeom>
          <a:noFill/>
          <a:ln/>
        </p:spPr>
        <p:txBody>
          <a:bodyPr wrap="square" lIns="0" tIns="0" rIns="0" bIns="0" rtlCol="0" anchor="ctr"/>
          <a:lstStyle/>
          <a:p>
            <a:pPr algn="ctr" indent="0" marL="0">
              <a:buNone/>
            </a:pPr>
            <a:r>
              <a:rPr lang="en-US" sz="1400" dirty="0">
                <a:solidFill>
                  <a:srgbClr val="00BCD4"/>
                </a:solidFill>
                <a:latin typeface="Arial" pitchFamily="34" charset="0"/>
                <a:ea typeface="Arial" pitchFamily="34" charset="-122"/>
                <a:cs typeface="Arial" pitchFamily="34" charset="-120"/>
              </a:rPr>
              <a:t>▶</a:t>
            </a:r>
            <a:endParaRPr lang="en-US" sz="1400" dirty="0"/>
          </a:p>
        </p:txBody>
      </p:sp>
      <p:sp>
        <p:nvSpPr>
          <p:cNvPr id="34" name="Shape 32"/>
          <p:cNvSpPr/>
          <p:nvPr/>
        </p:nvSpPr>
        <p:spPr>
          <a:xfrm>
            <a:off x="5394960" y="1920240"/>
            <a:ext cx="1508760" cy="2743200"/>
          </a:xfrm>
          <a:prstGeom prst="rect">
            <a:avLst/>
          </a:prstGeom>
          <a:solidFill>
            <a:srgbClr val="172A3A"/>
          </a:solidFill>
          <a:ln w="19050">
            <a:solidFill>
              <a:srgbClr val="FF9800"/>
            </a:solidFill>
            <a:prstDash val="solid"/>
          </a:ln>
        </p:spPr>
      </p:sp>
      <p:sp>
        <p:nvSpPr>
          <p:cNvPr id="35" name="Shape 33"/>
          <p:cNvSpPr/>
          <p:nvPr/>
        </p:nvSpPr>
        <p:spPr>
          <a:xfrm>
            <a:off x="5394960" y="1920240"/>
            <a:ext cx="1508760" cy="54864"/>
          </a:xfrm>
          <a:prstGeom prst="rect">
            <a:avLst/>
          </a:prstGeom>
          <a:solidFill>
            <a:srgbClr val="FF9800"/>
          </a:solidFill>
          <a:ln/>
        </p:spPr>
      </p:sp>
      <p:sp>
        <p:nvSpPr>
          <p:cNvPr id="36" name="Shape 34"/>
          <p:cNvSpPr/>
          <p:nvPr/>
        </p:nvSpPr>
        <p:spPr>
          <a:xfrm>
            <a:off x="5897880" y="2103120"/>
            <a:ext cx="502920" cy="502920"/>
          </a:xfrm>
          <a:prstGeom prst="ellipse">
            <a:avLst/>
          </a:prstGeom>
          <a:solidFill>
            <a:srgbClr val="FF9800"/>
          </a:solidFill>
          <a:ln/>
        </p:spPr>
      </p:sp>
      <p:sp>
        <p:nvSpPr>
          <p:cNvPr id="37" name="Text 35"/>
          <p:cNvSpPr/>
          <p:nvPr/>
        </p:nvSpPr>
        <p:spPr>
          <a:xfrm>
            <a:off x="5897880" y="2103120"/>
            <a:ext cx="502920" cy="502920"/>
          </a:xfrm>
          <a:prstGeom prst="rect">
            <a:avLst/>
          </a:prstGeom>
          <a:noFill/>
          <a:ln/>
        </p:spPr>
        <p:txBody>
          <a:bodyPr wrap="square" lIns="0" tIns="0" rIns="0" bIns="0" rtlCol="0" anchor="ctr"/>
          <a:lstStyle/>
          <a:p>
            <a:pPr algn="ctr" indent="0" marL="0">
              <a:buNone/>
            </a:pPr>
            <a:r>
              <a:rPr lang="en-US" sz="1800" b="1" dirty="0">
                <a:solidFill>
                  <a:srgbClr val="0F1923"/>
                </a:solidFill>
                <a:latin typeface="Arial" pitchFamily="34" charset="0"/>
                <a:ea typeface="Arial" pitchFamily="34" charset="-122"/>
                <a:cs typeface="Arial" pitchFamily="34" charset="-120"/>
              </a:rPr>
              <a:t>4</a:t>
            </a:r>
            <a:endParaRPr lang="en-US" sz="1800" dirty="0"/>
          </a:p>
        </p:txBody>
      </p:sp>
      <p:sp>
        <p:nvSpPr>
          <p:cNvPr id="38" name="Text 36"/>
          <p:cNvSpPr/>
          <p:nvPr/>
        </p:nvSpPr>
        <p:spPr>
          <a:xfrm>
            <a:off x="5440680" y="2743200"/>
            <a:ext cx="141732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Model Competition</a:t>
            </a:r>
            <a:endParaRPr lang="en-US" sz="1300" dirty="0"/>
          </a:p>
        </p:txBody>
      </p:sp>
      <p:sp>
        <p:nvSpPr>
          <p:cNvPr id="39" name="Text 37"/>
          <p:cNvSpPr/>
          <p:nvPr/>
        </p:nvSpPr>
        <p:spPr>
          <a:xfrm>
            <a:off x="5440680" y="3200400"/>
            <a:ext cx="1417320" cy="365760"/>
          </a:xfrm>
          <a:prstGeom prst="rect">
            <a:avLst/>
          </a:prstGeom>
          <a:noFill/>
          <a:ln/>
        </p:spPr>
        <p:txBody>
          <a:bodyPr wrap="square" lIns="0" tIns="0" rIns="0" bIns="0" rtlCol="0" anchor="ctr"/>
          <a:lstStyle/>
          <a:p>
            <a:pPr algn="ctr" indent="0" marL="0">
              <a:buNone/>
            </a:pPr>
            <a:r>
              <a:rPr lang="en-US" sz="1050" dirty="0">
                <a:solidFill>
                  <a:srgbClr val="B0B8C0"/>
                </a:solidFill>
                <a:latin typeface="Arial" pitchFamily="34" charset="0"/>
                <a:ea typeface="Arial" pitchFamily="34" charset="-122"/>
                <a:cs typeface="Arial" pitchFamily="34" charset="-120"/>
              </a:rPr>
              <a:t>3-month holdout test</a:t>
            </a:r>
            <a:endParaRPr lang="en-US" sz="1050" dirty="0"/>
          </a:p>
        </p:txBody>
      </p:sp>
      <p:sp>
        <p:nvSpPr>
          <p:cNvPr id="40" name="Text 38"/>
          <p:cNvSpPr/>
          <p:nvPr/>
        </p:nvSpPr>
        <p:spPr>
          <a:xfrm>
            <a:off x="5440680" y="3611880"/>
            <a:ext cx="1417320" cy="365760"/>
          </a:xfrm>
          <a:prstGeom prst="rect">
            <a:avLst/>
          </a:prstGeom>
          <a:noFill/>
          <a:ln/>
        </p:spPr>
        <p:txBody>
          <a:bodyPr wrap="square" lIns="0" tIns="0" rIns="0" bIns="0" rtlCol="0" anchor="ctr"/>
          <a:lstStyle/>
          <a:p>
            <a:pPr algn="ctr" indent="0" marL="0">
              <a:buNone/>
            </a:pPr>
            <a:r>
              <a:rPr lang="en-US" sz="1050" dirty="0">
                <a:solidFill>
                  <a:srgbClr val="B0B8C0"/>
                </a:solidFill>
                <a:latin typeface="Arial" pitchFamily="34" charset="0"/>
                <a:ea typeface="Arial" pitchFamily="34" charset="-122"/>
                <a:cs typeface="Arial" pitchFamily="34" charset="-120"/>
              </a:rPr>
              <a:t>MAPE / RMSE scoring</a:t>
            </a:r>
            <a:endParaRPr lang="en-US" sz="1050" dirty="0"/>
          </a:p>
        </p:txBody>
      </p:sp>
      <p:sp>
        <p:nvSpPr>
          <p:cNvPr id="41" name="Text 39"/>
          <p:cNvSpPr/>
          <p:nvPr/>
        </p:nvSpPr>
        <p:spPr>
          <a:xfrm>
            <a:off x="5440680" y="4023360"/>
            <a:ext cx="1417320" cy="365760"/>
          </a:xfrm>
          <a:prstGeom prst="rect">
            <a:avLst/>
          </a:prstGeom>
          <a:noFill/>
          <a:ln/>
        </p:spPr>
        <p:txBody>
          <a:bodyPr wrap="square" lIns="0" tIns="0" rIns="0" bIns="0" rtlCol="0" anchor="ctr"/>
          <a:lstStyle/>
          <a:p>
            <a:pPr algn="ctr" indent="0" marL="0">
              <a:buNone/>
            </a:pPr>
            <a:r>
              <a:rPr lang="en-US" sz="1050" dirty="0">
                <a:solidFill>
                  <a:srgbClr val="B0B8C0"/>
                </a:solidFill>
                <a:latin typeface="Arial" pitchFamily="34" charset="0"/>
                <a:ea typeface="Arial" pitchFamily="34" charset="-122"/>
                <a:cs typeface="Arial" pitchFamily="34" charset="-120"/>
              </a:rPr>
              <a:t>Auto-select winner</a:t>
            </a:r>
            <a:endParaRPr lang="en-US" sz="1050" dirty="0"/>
          </a:p>
        </p:txBody>
      </p:sp>
      <p:sp>
        <p:nvSpPr>
          <p:cNvPr id="42" name="Text 40"/>
          <p:cNvSpPr/>
          <p:nvPr/>
        </p:nvSpPr>
        <p:spPr>
          <a:xfrm>
            <a:off x="6922008" y="3017520"/>
            <a:ext cx="146304" cy="457200"/>
          </a:xfrm>
          <a:prstGeom prst="rect">
            <a:avLst/>
          </a:prstGeom>
          <a:noFill/>
          <a:ln/>
        </p:spPr>
        <p:txBody>
          <a:bodyPr wrap="square" lIns="0" tIns="0" rIns="0" bIns="0" rtlCol="0" anchor="ctr"/>
          <a:lstStyle/>
          <a:p>
            <a:pPr algn="ctr" indent="0" marL="0">
              <a:buNone/>
            </a:pPr>
            <a:r>
              <a:rPr lang="en-US" sz="1400" dirty="0">
                <a:solidFill>
                  <a:srgbClr val="00BCD4"/>
                </a:solidFill>
                <a:latin typeface="Arial" pitchFamily="34" charset="0"/>
                <a:ea typeface="Arial" pitchFamily="34" charset="-122"/>
                <a:cs typeface="Arial" pitchFamily="34" charset="-120"/>
              </a:rPr>
              <a:t>▶</a:t>
            </a:r>
            <a:endParaRPr lang="en-US" sz="1400" dirty="0"/>
          </a:p>
        </p:txBody>
      </p:sp>
      <p:sp>
        <p:nvSpPr>
          <p:cNvPr id="43" name="Shape 41"/>
          <p:cNvSpPr/>
          <p:nvPr/>
        </p:nvSpPr>
        <p:spPr>
          <a:xfrm>
            <a:off x="7086600" y="1920240"/>
            <a:ext cx="1508760" cy="2743200"/>
          </a:xfrm>
          <a:prstGeom prst="rect">
            <a:avLst/>
          </a:prstGeom>
          <a:solidFill>
            <a:srgbClr val="172A3A"/>
          </a:solidFill>
          <a:ln w="19050">
            <a:solidFill>
              <a:srgbClr val="4CAF50"/>
            </a:solidFill>
            <a:prstDash val="solid"/>
          </a:ln>
        </p:spPr>
      </p:sp>
      <p:sp>
        <p:nvSpPr>
          <p:cNvPr id="44" name="Shape 42"/>
          <p:cNvSpPr/>
          <p:nvPr/>
        </p:nvSpPr>
        <p:spPr>
          <a:xfrm>
            <a:off x="7086600" y="1920240"/>
            <a:ext cx="1508760" cy="54864"/>
          </a:xfrm>
          <a:prstGeom prst="rect">
            <a:avLst/>
          </a:prstGeom>
          <a:solidFill>
            <a:srgbClr val="4CAF50"/>
          </a:solidFill>
          <a:ln/>
        </p:spPr>
      </p:sp>
      <p:sp>
        <p:nvSpPr>
          <p:cNvPr id="45" name="Shape 43"/>
          <p:cNvSpPr/>
          <p:nvPr/>
        </p:nvSpPr>
        <p:spPr>
          <a:xfrm>
            <a:off x="7589520" y="2103120"/>
            <a:ext cx="502920" cy="502920"/>
          </a:xfrm>
          <a:prstGeom prst="ellipse">
            <a:avLst/>
          </a:prstGeom>
          <a:solidFill>
            <a:srgbClr val="4CAF50"/>
          </a:solidFill>
          <a:ln/>
        </p:spPr>
      </p:sp>
      <p:sp>
        <p:nvSpPr>
          <p:cNvPr id="46" name="Text 44"/>
          <p:cNvSpPr/>
          <p:nvPr/>
        </p:nvSpPr>
        <p:spPr>
          <a:xfrm>
            <a:off x="7589520" y="2103120"/>
            <a:ext cx="502920" cy="502920"/>
          </a:xfrm>
          <a:prstGeom prst="rect">
            <a:avLst/>
          </a:prstGeom>
          <a:noFill/>
          <a:ln/>
        </p:spPr>
        <p:txBody>
          <a:bodyPr wrap="square" lIns="0" tIns="0" rIns="0" bIns="0" rtlCol="0" anchor="ctr"/>
          <a:lstStyle/>
          <a:p>
            <a:pPr algn="ctr" indent="0" marL="0">
              <a:buNone/>
            </a:pPr>
            <a:r>
              <a:rPr lang="en-US" sz="1800" b="1" dirty="0">
                <a:solidFill>
                  <a:srgbClr val="0F1923"/>
                </a:solidFill>
                <a:latin typeface="Arial" pitchFamily="34" charset="0"/>
                <a:ea typeface="Arial" pitchFamily="34" charset="-122"/>
                <a:cs typeface="Arial" pitchFamily="34" charset="-120"/>
              </a:rPr>
              <a:t>5</a:t>
            </a:r>
            <a:endParaRPr lang="en-US" sz="1800" dirty="0"/>
          </a:p>
        </p:txBody>
      </p:sp>
      <p:sp>
        <p:nvSpPr>
          <p:cNvPr id="47" name="Text 45"/>
          <p:cNvSpPr/>
          <p:nvPr/>
        </p:nvSpPr>
        <p:spPr>
          <a:xfrm>
            <a:off x="7132320" y="2743200"/>
            <a:ext cx="141732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Predictions</a:t>
            </a:r>
            <a:endParaRPr lang="en-US" sz="1300" dirty="0"/>
          </a:p>
        </p:txBody>
      </p:sp>
      <p:sp>
        <p:nvSpPr>
          <p:cNvPr id="48" name="Text 46"/>
          <p:cNvSpPr/>
          <p:nvPr/>
        </p:nvSpPr>
        <p:spPr>
          <a:xfrm>
            <a:off x="7132320" y="3200400"/>
            <a:ext cx="1417320" cy="365760"/>
          </a:xfrm>
          <a:prstGeom prst="rect">
            <a:avLst/>
          </a:prstGeom>
          <a:noFill/>
          <a:ln/>
        </p:spPr>
        <p:txBody>
          <a:bodyPr wrap="square" lIns="0" tIns="0" rIns="0" bIns="0" rtlCol="0" anchor="ctr"/>
          <a:lstStyle/>
          <a:p>
            <a:pPr algn="ctr" indent="0" marL="0">
              <a:buNone/>
            </a:pPr>
            <a:r>
              <a:rPr lang="en-US" sz="1050" dirty="0">
                <a:solidFill>
                  <a:srgbClr val="B0B8C0"/>
                </a:solidFill>
                <a:latin typeface="Arial" pitchFamily="34" charset="0"/>
                <a:ea typeface="Arial" pitchFamily="34" charset="-122"/>
                <a:cs typeface="Arial" pitchFamily="34" charset="-120"/>
              </a:rPr>
              <a:t>12-month forecast</a:t>
            </a:r>
            <a:endParaRPr lang="en-US" sz="1050" dirty="0"/>
          </a:p>
        </p:txBody>
      </p:sp>
      <p:sp>
        <p:nvSpPr>
          <p:cNvPr id="49" name="Text 47"/>
          <p:cNvSpPr/>
          <p:nvPr/>
        </p:nvSpPr>
        <p:spPr>
          <a:xfrm>
            <a:off x="7132320" y="3611880"/>
            <a:ext cx="1417320" cy="365760"/>
          </a:xfrm>
          <a:prstGeom prst="rect">
            <a:avLst/>
          </a:prstGeom>
          <a:noFill/>
          <a:ln/>
        </p:spPr>
        <p:txBody>
          <a:bodyPr wrap="square" lIns="0" tIns="0" rIns="0" bIns="0" rtlCol="0" anchor="ctr"/>
          <a:lstStyle/>
          <a:p>
            <a:pPr algn="ctr" indent="0" marL="0">
              <a:buNone/>
            </a:pPr>
            <a:r>
              <a:rPr lang="en-US" sz="1050" dirty="0">
                <a:solidFill>
                  <a:srgbClr val="B0B8C0"/>
                </a:solidFill>
                <a:latin typeface="Arial" pitchFamily="34" charset="0"/>
                <a:ea typeface="Arial" pitchFamily="34" charset="-122"/>
                <a:cs typeface="Arial" pitchFamily="34" charset="-120"/>
              </a:rPr>
              <a:t>38 acc codes</a:t>
            </a:r>
            <a:endParaRPr lang="en-US" sz="1050" dirty="0"/>
          </a:p>
        </p:txBody>
      </p:sp>
      <p:sp>
        <p:nvSpPr>
          <p:cNvPr id="50" name="Text 48"/>
          <p:cNvSpPr/>
          <p:nvPr/>
        </p:nvSpPr>
        <p:spPr>
          <a:xfrm>
            <a:off x="7132320" y="4023360"/>
            <a:ext cx="1417320" cy="365760"/>
          </a:xfrm>
          <a:prstGeom prst="rect">
            <a:avLst/>
          </a:prstGeom>
          <a:noFill/>
          <a:ln/>
        </p:spPr>
        <p:txBody>
          <a:bodyPr wrap="square" lIns="0" tIns="0" rIns="0" bIns="0" rtlCol="0" anchor="ctr"/>
          <a:lstStyle/>
          <a:p>
            <a:pPr algn="ctr" indent="0" marL="0">
              <a:buNone/>
            </a:pPr>
            <a:r>
              <a:rPr lang="en-US" sz="1050" dirty="0">
                <a:solidFill>
                  <a:srgbClr val="B0B8C0"/>
                </a:solidFill>
                <a:latin typeface="Arial" pitchFamily="34" charset="0"/>
                <a:ea typeface="Arial" pitchFamily="34" charset="-122"/>
                <a:cs typeface="Arial" pitchFamily="34" charset="-120"/>
              </a:rPr>
              <a:t>594 composite keys</a:t>
            </a:r>
            <a:endParaRPr lang="en-US" sz="1050" dirty="0"/>
          </a:p>
        </p:txBody>
      </p:sp>
      <p:sp>
        <p:nvSpPr>
          <p:cNvPr id="51" name="Shape 49"/>
          <p:cNvSpPr/>
          <p:nvPr/>
        </p:nvSpPr>
        <p:spPr>
          <a:xfrm>
            <a:off x="320040" y="4800600"/>
            <a:ext cx="8503920" cy="274320"/>
          </a:xfrm>
          <a:prstGeom prst="rect">
            <a:avLst/>
          </a:prstGeom>
          <a:solidFill>
            <a:srgbClr val="172A3A"/>
          </a:solidFill>
          <a:ln w="12700">
            <a:solidFill>
              <a:srgbClr val="00BCD4"/>
            </a:solidFill>
            <a:prstDash val="solid"/>
          </a:ln>
        </p:spPr>
      </p:sp>
      <p:sp>
        <p:nvSpPr>
          <p:cNvPr id="52" name="Text 50"/>
          <p:cNvSpPr/>
          <p:nvPr/>
        </p:nvSpPr>
        <p:spPr>
          <a:xfrm>
            <a:off x="320040" y="4800600"/>
            <a:ext cx="8503920" cy="274320"/>
          </a:xfrm>
          <a:prstGeom prst="rect">
            <a:avLst/>
          </a:prstGeom>
          <a:noFill/>
          <a:ln/>
        </p:spPr>
        <p:txBody>
          <a:bodyPr wrap="square" lIns="0" tIns="0" rIns="0" bIns="0" rtlCol="0" anchor="ctr"/>
          <a:lstStyle/>
          <a:p>
            <a:pPr algn="ctr" indent="0" marL="0">
              <a:buNone/>
            </a:pPr>
            <a:r>
              <a:rPr lang="en-US" sz="1000" dirty="0">
                <a:solidFill>
                  <a:srgbClr val="00BCD4"/>
                </a:solidFill>
                <a:latin typeface="Arial" pitchFamily="34" charset="0"/>
                <a:ea typeface="Arial" pitchFamily="34" charset="-122"/>
                <a:cs typeface="Arial" pitchFamily="34" charset="-120"/>
              </a:rPr>
              <a:t>All processing runs inside SAP HANA Cloud  —  Python sends instructions, HANA does the math  —  results stored in HANA tables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923"/>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CD4"/>
          </a:solidFill>
          <a:ln/>
        </p:spPr>
      </p:sp>
      <p:sp>
        <p:nvSpPr>
          <p:cNvPr id="3" name="Shape 1"/>
          <p:cNvSpPr/>
          <p:nvPr/>
        </p:nvSpPr>
        <p:spPr>
          <a:xfrm>
            <a:off x="457200" y="228600"/>
            <a:ext cx="2011680" cy="365760"/>
          </a:xfrm>
          <a:prstGeom prst="rect">
            <a:avLst/>
          </a:prstGeom>
          <a:solidFill>
            <a:srgbClr val="F9A825"/>
          </a:solidFill>
          <a:ln/>
        </p:spPr>
      </p:sp>
      <p:sp>
        <p:nvSpPr>
          <p:cNvPr id="4" name="Text 2"/>
          <p:cNvSpPr/>
          <p:nvPr/>
        </p:nvSpPr>
        <p:spPr>
          <a:xfrm>
            <a:off x="457200" y="228600"/>
            <a:ext cx="2011680" cy="365760"/>
          </a:xfrm>
          <a:prstGeom prst="rect">
            <a:avLst/>
          </a:prstGeom>
          <a:noFill/>
          <a:ln/>
        </p:spPr>
        <p:txBody>
          <a:bodyPr wrap="square" lIns="0" tIns="0" rIns="0" bIns="0" rtlCol="0" anchor="ctr"/>
          <a:lstStyle/>
          <a:p>
            <a:pPr algn="ctr" indent="0" marL="0">
              <a:buNone/>
            </a:pPr>
            <a:r>
              <a:rPr lang="en-US" sz="1000" b="1" dirty="0">
                <a:solidFill>
                  <a:srgbClr val="1A1A1A"/>
                </a:solidFill>
                <a:latin typeface="Arial" pitchFamily="34" charset="0"/>
                <a:ea typeface="Arial" pitchFamily="34" charset="-122"/>
                <a:cs typeface="Arial" pitchFamily="34" charset="-120"/>
              </a:rPr>
              <a:t>MODEL RESULTS</a:t>
            </a:r>
            <a:endParaRPr lang="en-US" sz="1000" dirty="0"/>
          </a:p>
        </p:txBody>
      </p:sp>
      <p:sp>
        <p:nvSpPr>
          <p:cNvPr id="5" name="Text 3"/>
          <p:cNvSpPr/>
          <p:nvPr/>
        </p:nvSpPr>
        <p:spPr>
          <a:xfrm>
            <a:off x="457200" y="777240"/>
            <a:ext cx="8229600" cy="54864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Three Models Compete, Best One Wins</a:t>
            </a:r>
            <a:endParaRPr lang="en-US" sz="3400" dirty="0"/>
          </a:p>
        </p:txBody>
      </p:sp>
      <p:sp>
        <p:nvSpPr>
          <p:cNvPr id="6" name="Text 4"/>
          <p:cNvSpPr/>
          <p:nvPr/>
        </p:nvSpPr>
        <p:spPr>
          <a:xfrm>
            <a:off x="457200" y="1234440"/>
            <a:ext cx="8229600" cy="365760"/>
          </a:xfrm>
          <a:prstGeom prst="rect">
            <a:avLst/>
          </a:prstGeom>
          <a:noFill/>
          <a:ln/>
        </p:spPr>
        <p:txBody>
          <a:bodyPr wrap="square" lIns="0" tIns="0" rIns="0" bIns="0" rtlCol="0" anchor="ctr"/>
          <a:lstStyle/>
          <a:p>
            <a:pPr indent="0" marL="0">
              <a:buNone/>
            </a:pPr>
            <a:r>
              <a:rPr lang="en-US" sz="1300" dirty="0">
                <a:solidFill>
                  <a:srgbClr val="B0B8C0"/>
                </a:solidFill>
                <a:latin typeface="Arial" pitchFamily="34" charset="0"/>
                <a:ea typeface="Arial" pitchFamily="34" charset="-122"/>
                <a:cs typeface="Arial" pitchFamily="34" charset="-120"/>
              </a:rPr>
              <a:t>Trained on historical data, tested on 3-month holdout, best model auto-selected per accessory by lowest MAPE</a:t>
            </a:r>
            <a:endParaRPr lang="en-US" sz="1300" dirty="0"/>
          </a:p>
        </p:txBody>
      </p:sp>
      <p:sp>
        <p:nvSpPr>
          <p:cNvPr id="7" name="Shape 5"/>
          <p:cNvSpPr/>
          <p:nvPr/>
        </p:nvSpPr>
        <p:spPr>
          <a:xfrm>
            <a:off x="457200" y="1783080"/>
            <a:ext cx="4754880" cy="2880360"/>
          </a:xfrm>
          <a:prstGeom prst="rect">
            <a:avLst/>
          </a:prstGeom>
          <a:solidFill>
            <a:srgbClr val="172A3A"/>
          </a:solidFill>
          <a:ln w="19050">
            <a:solidFill>
              <a:srgbClr val="00BCD4"/>
            </a:solidFill>
            <a:prstDash val="solid"/>
          </a:ln>
        </p:spPr>
      </p:sp>
      <p:sp>
        <p:nvSpPr>
          <p:cNvPr id="8" name="Text 6"/>
          <p:cNvSpPr/>
          <p:nvPr/>
        </p:nvSpPr>
        <p:spPr>
          <a:xfrm>
            <a:off x="640080" y="1874520"/>
            <a:ext cx="2743200" cy="274320"/>
          </a:xfrm>
          <a:prstGeom prst="rect">
            <a:avLst/>
          </a:prstGeom>
          <a:noFill/>
          <a:ln/>
        </p:spPr>
        <p:txBody>
          <a:bodyPr wrap="square" lIns="0" tIns="0" rIns="0" bIns="0" rtlCol="0" anchor="ctr"/>
          <a:lstStyle/>
          <a:p>
            <a:pPr algn="l" indent="0" marL="0">
              <a:buNone/>
            </a:pPr>
            <a:r>
              <a:rPr lang="en-US" sz="1000" b="1" dirty="0">
                <a:solidFill>
                  <a:srgbClr val="00BCD4"/>
                </a:solidFill>
                <a:latin typeface="Arial" pitchFamily="34" charset="0"/>
                <a:ea typeface="Arial" pitchFamily="34" charset="-122"/>
                <a:cs typeface="Arial" pitchFamily="34" charset="-120"/>
              </a:rPr>
              <a:t>EXAMPLE: ACCCODE D49</a:t>
            </a:r>
            <a:endParaRPr lang="en-US" sz="1000" dirty="0"/>
          </a:p>
        </p:txBody>
      </p:sp>
      <p:sp>
        <p:nvSpPr>
          <p:cNvPr id="9" name="Text 7"/>
          <p:cNvSpPr/>
          <p:nvPr/>
        </p:nvSpPr>
        <p:spPr>
          <a:xfrm>
            <a:off x="640080" y="2103120"/>
            <a:ext cx="4389120" cy="228600"/>
          </a:xfrm>
          <a:prstGeom prst="rect">
            <a:avLst/>
          </a:prstGeom>
          <a:noFill/>
          <a:ln/>
        </p:spPr>
        <p:txBody>
          <a:bodyPr wrap="square" lIns="0" tIns="0" rIns="0" bIns="0" rtlCol="0" anchor="ctr"/>
          <a:lstStyle/>
          <a:p>
            <a:pPr algn="l" indent="0" marL="0">
              <a:buNone/>
            </a:pPr>
            <a:r>
              <a:rPr lang="en-US" sz="900" dirty="0">
                <a:solidFill>
                  <a:srgbClr val="B0B8C0"/>
                </a:solidFill>
                <a:latin typeface="Arial" pitchFamily="34" charset="0"/>
                <a:ea typeface="Arial" pitchFamily="34" charset="-122"/>
                <a:cs typeface="Arial" pitchFamily="34" charset="-120"/>
              </a:rPr>
              <a:t>Trained on 50 months  ·  Tested on 3 months  ·  Forecasted 12 months</a:t>
            </a:r>
            <a:endParaRPr lang="en-US" sz="9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40080" y="2423160"/>
          <a:ext cx="4389120" cy="914400"/>
        </p:xfrm>
        <a:graphic>
          <a:graphicData uri="http://schemas.openxmlformats.org/drawingml/2006/table">
            <a:tbl>
              <a:tblPr/>
              <a:tblGrid>
                <a:gridCol w="1097280"/>
                <a:gridCol w="914400"/>
                <a:gridCol w="1097280"/>
                <a:gridCol w="914400"/>
              </a:tblGrid>
              <a:tr h="274320">
                <a:tc>
                  <a:txBody>
                    <a:bodyPr/>
                    <a:lstStyle/>
                    <a:p>
                      <a:pPr algn="ctr" indent="0" marL="0">
                        <a:buNone/>
                      </a:pPr>
                      <a:r>
                        <a:rPr lang="en-US" sz="900" b="1" dirty="0">
                          <a:solidFill>
                            <a:srgbClr val="B0B8C0"/>
                          </a:solidFill>
                        </a:rPr>
                        <a:t>MODEL</a:t>
                      </a:r>
                      <a:endParaRPr lang="en-US" sz="900" dirty="0"/>
                    </a:p>
                  </a:txBody>
                  <a:tcPr marL="91440" marR="91440" marT="45720" marB="4572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0D1520"/>
                    </a:solidFill>
                  </a:tcPr>
                </a:tc>
                <a:tc>
                  <a:txBody>
                    <a:bodyPr/>
                    <a:lstStyle/>
                    <a:p>
                      <a:pPr algn="ctr" indent="0" marL="0">
                        <a:buNone/>
                      </a:pPr>
                      <a:r>
                        <a:rPr lang="en-US" sz="900" b="1" dirty="0">
                          <a:solidFill>
                            <a:srgbClr val="B0B8C0"/>
                          </a:solidFill>
                        </a:rPr>
                        <a:t>MAPE</a:t>
                      </a:r>
                      <a:endParaRPr lang="en-US" sz="900" dirty="0"/>
                    </a:p>
                  </a:txBody>
                  <a:tcPr marL="91440" marR="91440" marT="45720" marB="4572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0D1520"/>
                    </a:solidFill>
                  </a:tcPr>
                </a:tc>
                <a:tc>
                  <a:txBody>
                    <a:bodyPr/>
                    <a:lstStyle/>
                    <a:p>
                      <a:pPr algn="ctr" indent="0" marL="0">
                        <a:buNone/>
                      </a:pPr>
                      <a:r>
                        <a:rPr lang="en-US" sz="900" b="1" dirty="0">
                          <a:solidFill>
                            <a:srgbClr val="B0B8C0"/>
                          </a:solidFill>
                        </a:rPr>
                        <a:t>RMSE</a:t>
                      </a:r>
                      <a:endParaRPr lang="en-US" sz="900" dirty="0"/>
                    </a:p>
                  </a:txBody>
                  <a:tcPr marL="91440" marR="91440" marT="45720" marB="4572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0D1520"/>
                    </a:solidFill>
                  </a:tcPr>
                </a:tc>
                <a:tc>
                  <a:txBody>
                    <a:bodyPr/>
                    <a:lstStyle/>
                    <a:p>
                      <a:pPr algn="ctr" indent="0" marL="0">
                        <a:buNone/>
                      </a:pPr>
                      <a:r>
                        <a:rPr lang="en-US" sz="900" b="1" dirty="0">
                          <a:solidFill>
                            <a:srgbClr val="B0B8C0"/>
                          </a:solidFill>
                        </a:rPr>
                        <a:t>SELECTED</a:t>
                      </a:r>
                      <a:endParaRPr lang="en-US" sz="900" dirty="0"/>
                    </a:p>
                  </a:txBody>
                  <a:tcPr marL="91440" marR="91440" marT="45720" marB="4572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0D1520"/>
                    </a:solidFill>
                  </a:tcPr>
                </a:tc>
              </a:tr>
              <a:tr h="320040">
                <a:tc>
                  <a:txBody>
                    <a:bodyPr/>
                    <a:lstStyle/>
                    <a:p>
                      <a:pPr algn="ctr" indent="0" marL="0">
                        <a:buNone/>
                      </a:pPr>
                      <a:r>
                        <a:rPr lang="en-US" sz="1000" b="1" dirty="0">
                          <a:solidFill>
                            <a:srgbClr val="F9A825"/>
                          </a:solidFill>
                        </a:rPr>
                        <a:t>SARIMA</a:t>
                      </a:r>
                      <a:endParaRPr lang="en-US" sz="1000" dirty="0"/>
                    </a:p>
                  </a:txBody>
                  <a:tcPr marL="91440" marR="91440" marT="45720" marB="4572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172A3A"/>
                    </a:solidFill>
                  </a:tcPr>
                </a:tc>
                <a:tc>
                  <a:txBody>
                    <a:bodyPr/>
                    <a:lstStyle/>
                    <a:p>
                      <a:pPr algn="ctr" indent="0" marL="0">
                        <a:buNone/>
                      </a:pPr>
                      <a:r>
                        <a:rPr lang="en-US" sz="1000" dirty="0">
                          <a:solidFill>
                            <a:srgbClr val="FFFFFF"/>
                          </a:solidFill>
                        </a:rPr>
                        <a:t>8.9%</a:t>
                      </a:r>
                      <a:endParaRPr lang="en-US" sz="1000" dirty="0"/>
                    </a:p>
                  </a:txBody>
                  <a:tcPr marL="91440" marR="91440" marT="45720" marB="4572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172A3A"/>
                    </a:solidFill>
                  </a:tcPr>
                </a:tc>
                <a:tc>
                  <a:txBody>
                    <a:bodyPr/>
                    <a:lstStyle/>
                    <a:p>
                      <a:pPr algn="ctr" indent="0" marL="0">
                        <a:buNone/>
                      </a:pPr>
                      <a:r>
                        <a:rPr lang="en-US" sz="1000" dirty="0">
                          <a:solidFill>
                            <a:srgbClr val="FFFFFF"/>
                          </a:solidFill>
                        </a:rPr>
                        <a:t>1,808.6</a:t>
                      </a:r>
                      <a:endParaRPr lang="en-US" sz="1000" dirty="0"/>
                    </a:p>
                  </a:txBody>
                  <a:tcPr marL="91440" marR="91440" marT="45720" marB="4572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172A3A"/>
                    </a:solidFill>
                  </a:tcPr>
                </a:tc>
                <a:tc>
                  <a:txBody>
                    <a:bodyPr/>
                    <a:lstStyle/>
                    <a:p>
                      <a:pPr algn="ctr" indent="0" marL="0">
                        <a:buNone/>
                      </a:pPr>
                      <a:r>
                        <a:rPr lang="en-US" sz="1000" b="1" dirty="0">
                          <a:solidFill>
                            <a:srgbClr val="4CAF50"/>
                          </a:solidFill>
                        </a:rPr>
                        <a:t>✓ Best</a:t>
                      </a:r>
                      <a:endParaRPr lang="en-US" sz="1000" dirty="0"/>
                    </a:p>
                  </a:txBody>
                  <a:tcPr marL="91440" marR="91440" marT="45720" marB="4572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172A3A"/>
                    </a:solidFill>
                  </a:tcPr>
                </a:tc>
              </a:tr>
              <a:tr h="320040">
                <a:tc>
                  <a:txBody>
                    <a:bodyPr/>
                    <a:lstStyle/>
                    <a:p>
                      <a:pPr algn="ctr" indent="0" marL="0">
                        <a:buNone/>
                      </a:pPr>
                      <a:r>
                        <a:rPr lang="en-US" sz="1000" b="1" dirty="0">
                          <a:solidFill>
                            <a:srgbClr val="00BCD4"/>
                          </a:solidFill>
                        </a:rPr>
                        <a:t>BSTS</a:t>
                      </a:r>
                      <a:endParaRPr lang="en-US" sz="1000" dirty="0"/>
                    </a:p>
                  </a:txBody>
                  <a:tcPr marL="91440" marR="91440" marT="45720" marB="4572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172A3A"/>
                    </a:solidFill>
                  </a:tcPr>
                </a:tc>
                <a:tc>
                  <a:txBody>
                    <a:bodyPr/>
                    <a:lstStyle/>
                    <a:p>
                      <a:pPr algn="ctr" indent="0" marL="0">
                        <a:buNone/>
                      </a:pPr>
                      <a:r>
                        <a:rPr lang="en-US" sz="1000" dirty="0">
                          <a:solidFill>
                            <a:srgbClr val="B0B8C0"/>
                          </a:solidFill>
                        </a:rPr>
                        <a:t>14.6%</a:t>
                      </a:r>
                      <a:endParaRPr lang="en-US" sz="1000" dirty="0"/>
                    </a:p>
                  </a:txBody>
                  <a:tcPr marL="91440" marR="91440" marT="45720" marB="4572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172A3A"/>
                    </a:solidFill>
                  </a:tcPr>
                </a:tc>
                <a:tc>
                  <a:txBody>
                    <a:bodyPr/>
                    <a:lstStyle/>
                    <a:p>
                      <a:pPr algn="ctr" indent="0" marL="0">
                        <a:buNone/>
                      </a:pPr>
                      <a:r>
                        <a:rPr lang="en-US" sz="1000" dirty="0">
                          <a:solidFill>
                            <a:srgbClr val="B0B8C0"/>
                          </a:solidFill>
                        </a:rPr>
                        <a:t>1,890.2</a:t>
                      </a:r>
                      <a:endParaRPr lang="en-US" sz="1000" dirty="0"/>
                    </a:p>
                  </a:txBody>
                  <a:tcPr marL="91440" marR="91440" marT="45720" marB="4572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172A3A"/>
                    </a:solidFill>
                  </a:tcPr>
                </a:tc>
                <a:tc>
                  <a:txBody>
                    <a:bodyPr/>
                    <a:lstStyle/>
                    <a:p>
                      <a:pPr algn="ctr" indent="0" marL="0">
                        <a:buNone/>
                      </a:pPr>
                      <a:endParaRPr lang="en-US" sz="1000" dirty="0"/>
                    </a:p>
                  </a:txBody>
                  <a:tcPr marL="91440" marR="91440" marT="45720" marB="4572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172A3A"/>
                    </a:solidFill>
                  </a:tcPr>
                </a:tc>
              </a:tr>
              <a:tr h="320040">
                <a:tc>
                  <a:txBody>
                    <a:bodyPr/>
                    <a:lstStyle/>
                    <a:p>
                      <a:pPr algn="ctr" indent="0" marL="0">
                        <a:buNone/>
                      </a:pPr>
                      <a:r>
                        <a:rPr lang="en-US" sz="1000" b="1" dirty="0">
                          <a:solidFill>
                            <a:srgbClr val="E53935"/>
                          </a:solidFill>
                        </a:rPr>
                        <a:t>SES</a:t>
                      </a:r>
                      <a:endParaRPr lang="en-US" sz="1000" dirty="0"/>
                    </a:p>
                  </a:txBody>
                  <a:tcPr marL="91440" marR="91440" marT="45720" marB="4572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172A3A"/>
                    </a:solidFill>
                  </a:tcPr>
                </a:tc>
                <a:tc>
                  <a:txBody>
                    <a:bodyPr/>
                    <a:lstStyle/>
                    <a:p>
                      <a:pPr algn="ctr" indent="0" marL="0">
                        <a:buNone/>
                      </a:pPr>
                      <a:r>
                        <a:rPr lang="en-US" sz="1000" dirty="0">
                          <a:solidFill>
                            <a:srgbClr val="B0B8C0"/>
                          </a:solidFill>
                        </a:rPr>
                        <a:t>17.2%</a:t>
                      </a:r>
                      <a:endParaRPr lang="en-US" sz="1000" dirty="0"/>
                    </a:p>
                  </a:txBody>
                  <a:tcPr marL="91440" marR="91440" marT="45720" marB="4572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172A3A"/>
                    </a:solidFill>
                  </a:tcPr>
                </a:tc>
                <a:tc>
                  <a:txBody>
                    <a:bodyPr/>
                    <a:lstStyle/>
                    <a:p>
                      <a:pPr algn="ctr" indent="0" marL="0">
                        <a:buNone/>
                      </a:pPr>
                      <a:r>
                        <a:rPr lang="en-US" sz="1000" dirty="0">
                          <a:solidFill>
                            <a:srgbClr val="B0B8C0"/>
                          </a:solidFill>
                        </a:rPr>
                        <a:t>1,982.8</a:t>
                      </a:r>
                      <a:endParaRPr lang="en-US" sz="1000" dirty="0"/>
                    </a:p>
                  </a:txBody>
                  <a:tcPr marL="91440" marR="91440" marT="45720" marB="4572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172A3A"/>
                    </a:solidFill>
                  </a:tcPr>
                </a:tc>
                <a:tc>
                  <a:txBody>
                    <a:bodyPr/>
                    <a:lstStyle/>
                    <a:p>
                      <a:pPr algn="ctr" indent="0" marL="0">
                        <a:buNone/>
                      </a:pPr>
                      <a:endParaRPr lang="en-US" sz="1000" dirty="0"/>
                    </a:p>
                  </a:txBody>
                  <a:tcPr marL="91440" marR="91440" marT="45720" marB="4572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172A3A"/>
                    </a:solidFill>
                  </a:tcPr>
                </a:tc>
              </a:tr>
            </a:tbl>
          </a:graphicData>
        </a:graphic>
      </p:graphicFrame>
      <p:sp>
        <p:nvSpPr>
          <p:cNvPr id="11" name="Text 8"/>
          <p:cNvSpPr/>
          <p:nvPr/>
        </p:nvSpPr>
        <p:spPr>
          <a:xfrm>
            <a:off x="640080" y="3657600"/>
            <a:ext cx="4389120" cy="868680"/>
          </a:xfrm>
          <a:prstGeom prst="rect">
            <a:avLst/>
          </a:prstGeom>
          <a:noFill/>
          <a:ln/>
        </p:spPr>
        <p:txBody>
          <a:bodyPr wrap="square" lIns="0" tIns="0" rIns="0" bIns="0" rtlCol="0" anchor="t"/>
          <a:lstStyle/>
          <a:p>
            <a:pPr algn="l" indent="0" marL="0">
              <a:buNone/>
            </a:pPr>
            <a:r>
              <a:rPr lang="en-US" sz="950" dirty="0">
                <a:solidFill>
                  <a:srgbClr val="B0B8C0"/>
                </a:solidFill>
                <a:latin typeface="Arial" pitchFamily="34" charset="0"/>
                <a:ea typeface="Arial" pitchFamily="34" charset="-122"/>
                <a:cs typeface="Arial" pitchFamily="34" charset="-120"/>
              </a:rPr>
              <a:t>The model with lowest MAPE on the 3-month holdout wins.</a:t>
            </a:r>
            <a:endParaRPr lang="en-US" sz="950" dirty="0"/>
          </a:p>
          <a:p>
            <a:pPr algn="l" indent="0" marL="0">
              <a:buNone/>
            </a:pPr>
            <a:r>
              <a:rPr lang="en-US" sz="950" dirty="0">
                <a:solidFill>
                  <a:srgbClr val="B0B8C0"/>
                </a:solidFill>
                <a:latin typeface="Arial" pitchFamily="34" charset="0"/>
                <a:ea typeface="Arial" pitchFamily="34" charset="-122"/>
                <a:cs typeface="Arial" pitchFamily="34" charset="-120"/>
              </a:rPr>
              <a:t>For D49, SARIMA captured the seasonal pattern best (8.9% error).</a:t>
            </a:r>
            <a:endParaRPr lang="en-US" sz="950" dirty="0"/>
          </a:p>
          <a:p>
            <a:pPr algn="l" indent="0" marL="0">
              <a:buNone/>
            </a:pPr>
            <a:r>
              <a:rPr lang="en-US" sz="950" dirty="0">
                <a:solidFill>
                  <a:srgbClr val="B0B8C0"/>
                </a:solidFill>
                <a:latin typeface="Arial" pitchFamily="34" charset="0"/>
                <a:ea typeface="Arial" pitchFamily="34" charset="-122"/>
                <a:cs typeface="Arial" pitchFamily="34" charset="-120"/>
              </a:rPr>
              <a:t>Different accessories may pick different winners.</a:t>
            </a:r>
            <a:endParaRPr lang="en-US" sz="950" dirty="0"/>
          </a:p>
        </p:txBody>
      </p:sp>
      <p:sp>
        <p:nvSpPr>
          <p:cNvPr id="12" name="Shape 9"/>
          <p:cNvSpPr/>
          <p:nvPr/>
        </p:nvSpPr>
        <p:spPr>
          <a:xfrm>
            <a:off x="5486400" y="1783080"/>
            <a:ext cx="3383280" cy="2880360"/>
          </a:xfrm>
          <a:prstGeom prst="rect">
            <a:avLst/>
          </a:prstGeom>
          <a:solidFill>
            <a:srgbClr val="172A3A"/>
          </a:solidFill>
          <a:ln w="12700">
            <a:solidFill>
              <a:srgbClr val="1A6A73"/>
            </a:solidFill>
            <a:prstDash val="solid"/>
          </a:ln>
        </p:spPr>
      </p:sp>
      <p:sp>
        <p:nvSpPr>
          <p:cNvPr id="13" name="Text 10"/>
          <p:cNvSpPr/>
          <p:nvPr/>
        </p:nvSpPr>
        <p:spPr>
          <a:xfrm>
            <a:off x="5577840" y="1874520"/>
            <a:ext cx="3200400" cy="320040"/>
          </a:xfrm>
          <a:prstGeom prst="rect">
            <a:avLst/>
          </a:prstGeom>
          <a:noFill/>
          <a:ln/>
        </p:spPr>
        <p:txBody>
          <a:bodyPr wrap="square" lIns="0" tIns="0" rIns="0" bIns="0" rtlCol="0" anchor="ctr"/>
          <a:lstStyle/>
          <a:p>
            <a:pPr algn="ctr" indent="0" marL="0">
              <a:buNone/>
            </a:pPr>
            <a:r>
              <a:rPr lang="en-US" sz="1000" b="1" dirty="0">
                <a:solidFill>
                  <a:srgbClr val="00BCD4"/>
                </a:solidFill>
                <a:latin typeface="Arial" pitchFamily="34" charset="0"/>
                <a:ea typeface="Arial" pitchFamily="34" charset="-122"/>
                <a:cs typeface="Arial" pitchFamily="34" charset="-120"/>
              </a:rPr>
              <a:t>WIN RATE ACROSS ALL ACCESSORIES</a:t>
            </a:r>
            <a:endParaRPr lang="en-US" sz="1000" dirty="0"/>
          </a:p>
        </p:txBody>
      </p:sp>
      <p:sp>
        <p:nvSpPr>
          <p:cNvPr id="14" name="Text 11"/>
          <p:cNvSpPr/>
          <p:nvPr/>
        </p:nvSpPr>
        <p:spPr>
          <a:xfrm>
            <a:off x="5577840" y="2331720"/>
            <a:ext cx="868680" cy="411480"/>
          </a:xfrm>
          <a:prstGeom prst="rect">
            <a:avLst/>
          </a:prstGeom>
          <a:noFill/>
          <a:ln/>
        </p:spPr>
        <p:txBody>
          <a:bodyPr wrap="square" lIns="0" tIns="0" rIns="0" bIns="0" rtlCol="0" anchor="ctr"/>
          <a:lstStyle/>
          <a:p>
            <a:pPr algn="r" indent="0" marL="0">
              <a:buNone/>
            </a:pPr>
            <a:r>
              <a:rPr lang="en-US" sz="1100" b="1" dirty="0">
                <a:solidFill>
                  <a:srgbClr val="FFFFFF"/>
                </a:solidFill>
                <a:latin typeface="Arial" pitchFamily="34" charset="0"/>
                <a:ea typeface="Arial" pitchFamily="34" charset="-122"/>
                <a:cs typeface="Arial" pitchFamily="34" charset="-120"/>
              </a:rPr>
              <a:t>BSTS</a:t>
            </a:r>
            <a:endParaRPr lang="en-US" sz="1100" dirty="0"/>
          </a:p>
        </p:txBody>
      </p:sp>
      <p:sp>
        <p:nvSpPr>
          <p:cNvPr id="15" name="Shape 12"/>
          <p:cNvSpPr/>
          <p:nvPr/>
        </p:nvSpPr>
        <p:spPr>
          <a:xfrm>
            <a:off x="6492240" y="2395728"/>
            <a:ext cx="2103120" cy="283464"/>
          </a:xfrm>
          <a:prstGeom prst="rect">
            <a:avLst/>
          </a:prstGeom>
          <a:solidFill>
            <a:srgbClr val="0D1520"/>
          </a:solidFill>
          <a:ln/>
        </p:spPr>
      </p:sp>
      <p:sp>
        <p:nvSpPr>
          <p:cNvPr id="16" name="Shape 13"/>
          <p:cNvSpPr/>
          <p:nvPr/>
        </p:nvSpPr>
        <p:spPr>
          <a:xfrm>
            <a:off x="6492240" y="2395728"/>
            <a:ext cx="1997964" cy="283464"/>
          </a:xfrm>
          <a:prstGeom prst="rect">
            <a:avLst/>
          </a:prstGeom>
          <a:solidFill>
            <a:srgbClr val="00BCD4"/>
          </a:solidFill>
          <a:ln/>
        </p:spPr>
      </p:sp>
      <p:sp>
        <p:nvSpPr>
          <p:cNvPr id="17" name="Text 14"/>
          <p:cNvSpPr/>
          <p:nvPr/>
        </p:nvSpPr>
        <p:spPr>
          <a:xfrm>
            <a:off x="8535924" y="2331720"/>
            <a:ext cx="548640" cy="411480"/>
          </a:xfrm>
          <a:prstGeom prst="rect">
            <a:avLst/>
          </a:prstGeom>
          <a:noFill/>
          <a:ln/>
        </p:spPr>
        <p:txBody>
          <a:bodyPr wrap="square" lIns="0" tIns="0" rIns="0" bIns="0" rtlCol="0" anchor="ctr"/>
          <a:lstStyle/>
          <a:p>
            <a:pPr algn="l" indent="0" marL="0">
              <a:buNone/>
            </a:pPr>
            <a:r>
              <a:rPr lang="en-US" sz="1200" b="1" dirty="0">
                <a:solidFill>
                  <a:srgbClr val="00BCD4"/>
                </a:solidFill>
                <a:latin typeface="Arial" pitchFamily="34" charset="0"/>
                <a:ea typeface="Arial" pitchFamily="34" charset="-122"/>
                <a:cs typeface="Arial" pitchFamily="34" charset="-120"/>
              </a:rPr>
              <a:t>47.5%</a:t>
            </a:r>
            <a:endParaRPr lang="en-US" sz="1200" dirty="0"/>
          </a:p>
        </p:txBody>
      </p:sp>
      <p:sp>
        <p:nvSpPr>
          <p:cNvPr id="18" name="Text 15"/>
          <p:cNvSpPr/>
          <p:nvPr/>
        </p:nvSpPr>
        <p:spPr>
          <a:xfrm>
            <a:off x="5577840" y="3017520"/>
            <a:ext cx="868680" cy="411480"/>
          </a:xfrm>
          <a:prstGeom prst="rect">
            <a:avLst/>
          </a:prstGeom>
          <a:noFill/>
          <a:ln/>
        </p:spPr>
        <p:txBody>
          <a:bodyPr wrap="square" lIns="0" tIns="0" rIns="0" bIns="0" rtlCol="0" anchor="ctr"/>
          <a:lstStyle/>
          <a:p>
            <a:pPr algn="r" indent="0" marL="0">
              <a:buNone/>
            </a:pPr>
            <a:r>
              <a:rPr lang="en-US" sz="1100" b="1" dirty="0">
                <a:solidFill>
                  <a:srgbClr val="FFFFFF"/>
                </a:solidFill>
                <a:latin typeface="Arial" pitchFamily="34" charset="0"/>
                <a:ea typeface="Arial" pitchFamily="34" charset="-122"/>
                <a:cs typeface="Arial" pitchFamily="34" charset="-120"/>
              </a:rPr>
              <a:t>SARIMA</a:t>
            </a:r>
            <a:endParaRPr lang="en-US" sz="1100" dirty="0"/>
          </a:p>
        </p:txBody>
      </p:sp>
      <p:sp>
        <p:nvSpPr>
          <p:cNvPr id="19" name="Shape 16"/>
          <p:cNvSpPr/>
          <p:nvPr/>
        </p:nvSpPr>
        <p:spPr>
          <a:xfrm>
            <a:off x="6492240" y="3081528"/>
            <a:ext cx="2103120" cy="283464"/>
          </a:xfrm>
          <a:prstGeom prst="rect">
            <a:avLst/>
          </a:prstGeom>
          <a:solidFill>
            <a:srgbClr val="0D1520"/>
          </a:solidFill>
          <a:ln/>
        </p:spPr>
      </p:sp>
      <p:sp>
        <p:nvSpPr>
          <p:cNvPr id="20" name="Shape 17"/>
          <p:cNvSpPr/>
          <p:nvPr/>
        </p:nvSpPr>
        <p:spPr>
          <a:xfrm>
            <a:off x="6492240" y="3081528"/>
            <a:ext cx="1367028" cy="283464"/>
          </a:xfrm>
          <a:prstGeom prst="rect">
            <a:avLst/>
          </a:prstGeom>
          <a:solidFill>
            <a:srgbClr val="F9A825"/>
          </a:solidFill>
          <a:ln/>
        </p:spPr>
      </p:sp>
      <p:sp>
        <p:nvSpPr>
          <p:cNvPr id="21" name="Text 18"/>
          <p:cNvSpPr/>
          <p:nvPr/>
        </p:nvSpPr>
        <p:spPr>
          <a:xfrm>
            <a:off x="7904988" y="3017520"/>
            <a:ext cx="548640" cy="411480"/>
          </a:xfrm>
          <a:prstGeom prst="rect">
            <a:avLst/>
          </a:prstGeom>
          <a:noFill/>
          <a:ln/>
        </p:spPr>
        <p:txBody>
          <a:bodyPr wrap="square" lIns="0" tIns="0" rIns="0" bIns="0" rtlCol="0" anchor="ctr"/>
          <a:lstStyle/>
          <a:p>
            <a:pPr algn="l" indent="0" marL="0">
              <a:buNone/>
            </a:pPr>
            <a:r>
              <a:rPr lang="en-US" sz="1200" b="1" dirty="0">
                <a:solidFill>
                  <a:srgbClr val="F9A825"/>
                </a:solidFill>
                <a:latin typeface="Arial" pitchFamily="34" charset="0"/>
                <a:ea typeface="Arial" pitchFamily="34" charset="-122"/>
                <a:cs typeface="Arial" pitchFamily="34" charset="-120"/>
              </a:rPr>
              <a:t>32.5%</a:t>
            </a:r>
            <a:endParaRPr lang="en-US" sz="1200" dirty="0"/>
          </a:p>
        </p:txBody>
      </p:sp>
      <p:sp>
        <p:nvSpPr>
          <p:cNvPr id="22" name="Text 19"/>
          <p:cNvSpPr/>
          <p:nvPr/>
        </p:nvSpPr>
        <p:spPr>
          <a:xfrm>
            <a:off x="5577840" y="3703320"/>
            <a:ext cx="868680" cy="411480"/>
          </a:xfrm>
          <a:prstGeom prst="rect">
            <a:avLst/>
          </a:prstGeom>
          <a:noFill/>
          <a:ln/>
        </p:spPr>
        <p:txBody>
          <a:bodyPr wrap="square" lIns="0" tIns="0" rIns="0" bIns="0" rtlCol="0" anchor="ctr"/>
          <a:lstStyle/>
          <a:p>
            <a:pPr algn="r" indent="0" marL="0">
              <a:buNone/>
            </a:pPr>
            <a:r>
              <a:rPr lang="en-US" sz="1100" b="1" dirty="0">
                <a:solidFill>
                  <a:srgbClr val="FFFFFF"/>
                </a:solidFill>
                <a:latin typeface="Arial" pitchFamily="34" charset="0"/>
                <a:ea typeface="Arial" pitchFamily="34" charset="-122"/>
                <a:cs typeface="Arial" pitchFamily="34" charset="-120"/>
              </a:rPr>
              <a:t>SES</a:t>
            </a:r>
            <a:endParaRPr lang="en-US" sz="1100" dirty="0"/>
          </a:p>
        </p:txBody>
      </p:sp>
      <p:sp>
        <p:nvSpPr>
          <p:cNvPr id="23" name="Shape 20"/>
          <p:cNvSpPr/>
          <p:nvPr/>
        </p:nvSpPr>
        <p:spPr>
          <a:xfrm>
            <a:off x="6492240" y="3767328"/>
            <a:ext cx="2103120" cy="283464"/>
          </a:xfrm>
          <a:prstGeom prst="rect">
            <a:avLst/>
          </a:prstGeom>
          <a:solidFill>
            <a:srgbClr val="0D1520"/>
          </a:solidFill>
          <a:ln/>
        </p:spPr>
      </p:sp>
      <p:sp>
        <p:nvSpPr>
          <p:cNvPr id="24" name="Shape 21"/>
          <p:cNvSpPr/>
          <p:nvPr/>
        </p:nvSpPr>
        <p:spPr>
          <a:xfrm>
            <a:off x="6492240" y="3767328"/>
            <a:ext cx="841248" cy="283464"/>
          </a:xfrm>
          <a:prstGeom prst="rect">
            <a:avLst/>
          </a:prstGeom>
          <a:solidFill>
            <a:srgbClr val="E53935"/>
          </a:solidFill>
          <a:ln/>
        </p:spPr>
      </p:sp>
      <p:sp>
        <p:nvSpPr>
          <p:cNvPr id="25" name="Text 22"/>
          <p:cNvSpPr/>
          <p:nvPr/>
        </p:nvSpPr>
        <p:spPr>
          <a:xfrm>
            <a:off x="7379208" y="3703320"/>
            <a:ext cx="548640" cy="411480"/>
          </a:xfrm>
          <a:prstGeom prst="rect">
            <a:avLst/>
          </a:prstGeom>
          <a:noFill/>
          <a:ln/>
        </p:spPr>
        <p:txBody>
          <a:bodyPr wrap="square" lIns="0" tIns="0" rIns="0" bIns="0" rtlCol="0" anchor="ctr"/>
          <a:lstStyle/>
          <a:p>
            <a:pPr algn="l" indent="0" marL="0">
              <a:buNone/>
            </a:pPr>
            <a:r>
              <a:rPr lang="en-US" sz="1200" b="1" dirty="0">
                <a:solidFill>
                  <a:srgbClr val="E53935"/>
                </a:solidFill>
                <a:latin typeface="Arial" pitchFamily="34" charset="0"/>
                <a:ea typeface="Arial" pitchFamily="34" charset="-122"/>
                <a:cs typeface="Arial" pitchFamily="34" charset="-120"/>
              </a:rPr>
              <a:t>20%</a:t>
            </a:r>
            <a:endParaRPr lang="en-US" sz="1200" dirty="0"/>
          </a:p>
        </p:txBody>
      </p:sp>
      <p:sp>
        <p:nvSpPr>
          <p:cNvPr id="26" name="Shape 23"/>
          <p:cNvSpPr/>
          <p:nvPr/>
        </p:nvSpPr>
        <p:spPr>
          <a:xfrm>
            <a:off x="5577840" y="4114800"/>
            <a:ext cx="3200400" cy="411480"/>
          </a:xfrm>
          <a:prstGeom prst="rect">
            <a:avLst/>
          </a:prstGeom>
          <a:solidFill>
            <a:srgbClr val="0D1520"/>
          </a:solidFill>
          <a:ln/>
        </p:spPr>
      </p:sp>
      <p:sp>
        <p:nvSpPr>
          <p:cNvPr id="27" name="Text 24"/>
          <p:cNvSpPr/>
          <p:nvPr/>
        </p:nvSpPr>
        <p:spPr>
          <a:xfrm>
            <a:off x="5669280" y="4114800"/>
            <a:ext cx="3017520" cy="411480"/>
          </a:xfrm>
          <a:prstGeom prst="rect">
            <a:avLst/>
          </a:prstGeom>
          <a:noFill/>
          <a:ln/>
        </p:spPr>
        <p:txBody>
          <a:bodyPr wrap="square" lIns="0" tIns="0" rIns="0" bIns="0" rtlCol="0" anchor="ctr"/>
          <a:lstStyle/>
          <a:p>
            <a:pPr algn="ctr" indent="0" marL="0">
              <a:buNone/>
            </a:pPr>
            <a:r>
              <a:rPr lang="en-US" sz="900" i="1" dirty="0">
                <a:solidFill>
                  <a:srgbClr val="00BCD4"/>
                </a:solidFill>
                <a:latin typeface="Arial" pitchFamily="34" charset="0"/>
                <a:ea typeface="Arial" pitchFamily="34" charset="-122"/>
                <a:cs typeface="Arial" pitchFamily="34" charset="-120"/>
              </a:rPr>
              <a:t>BSTS wins nearly half — confirming</a:t>
            </a:r>
            <a:endParaRPr lang="en-US" sz="900" dirty="0"/>
          </a:p>
          <a:p>
            <a:pPr algn="ctr" indent="0" marL="0">
              <a:buNone/>
            </a:pPr>
            <a:r>
              <a:rPr lang="en-US" sz="900" i="1" dirty="0">
                <a:solidFill>
                  <a:srgbClr val="00BCD4"/>
                </a:solidFill>
                <a:latin typeface="Arial" pitchFamily="34" charset="0"/>
                <a:ea typeface="Arial" pitchFamily="34" charset="-122"/>
                <a:cs typeface="Arial" pitchFamily="34" charset="-120"/>
              </a:rPr>
              <a:t>AutoML (PAL_AUTOML_FIT) recommendation</a:t>
            </a:r>
            <a:endParaRPr lang="en-US" sz="900" dirty="0"/>
          </a:p>
        </p:txBody>
      </p:sp>
      <p:sp>
        <p:nvSpPr>
          <p:cNvPr id="28" name="Text 25"/>
          <p:cNvSpPr/>
          <p:nvPr/>
        </p:nvSpPr>
        <p:spPr>
          <a:xfrm>
            <a:off x="457200" y="4754880"/>
            <a:ext cx="8229600" cy="274320"/>
          </a:xfrm>
          <a:prstGeom prst="rect">
            <a:avLst/>
          </a:prstGeom>
          <a:noFill/>
          <a:ln/>
        </p:spPr>
        <p:txBody>
          <a:bodyPr wrap="square" lIns="0" tIns="0" rIns="0" bIns="0" rtlCol="0" anchor="ctr"/>
          <a:lstStyle/>
          <a:p>
            <a:pPr algn="ctr" indent="0" marL="0">
              <a:buNone/>
            </a:pPr>
            <a:r>
              <a:rPr lang="en-US" sz="1000" dirty="0">
                <a:solidFill>
                  <a:srgbClr val="B0B8C0"/>
                </a:solidFill>
                <a:latin typeface="Arial" pitchFamily="34" charset="0"/>
                <a:ea typeface="Arial" pitchFamily="34" charset="-122"/>
                <a:cs typeface="Arial" pitchFamily="34" charset="-120"/>
              </a:rPr>
              <a:t>Accuracy measured by MAPE on 3-month holdout  ·  All models powered by SAP PAL  ·  Best model auto-selected per accessory</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923"/>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CD4"/>
          </a:solidFill>
          <a:ln/>
        </p:spPr>
      </p:sp>
      <p:sp>
        <p:nvSpPr>
          <p:cNvPr id="3" name="Shape 1"/>
          <p:cNvSpPr/>
          <p:nvPr/>
        </p:nvSpPr>
        <p:spPr>
          <a:xfrm>
            <a:off x="457200" y="228600"/>
            <a:ext cx="2011680" cy="365760"/>
          </a:xfrm>
          <a:prstGeom prst="rect">
            <a:avLst/>
          </a:prstGeom>
          <a:solidFill>
            <a:srgbClr val="F9A825"/>
          </a:solidFill>
          <a:ln/>
        </p:spPr>
      </p:sp>
      <p:sp>
        <p:nvSpPr>
          <p:cNvPr id="4" name="Text 2"/>
          <p:cNvSpPr/>
          <p:nvPr/>
        </p:nvSpPr>
        <p:spPr>
          <a:xfrm>
            <a:off x="457200" y="228600"/>
            <a:ext cx="2011680" cy="365760"/>
          </a:xfrm>
          <a:prstGeom prst="rect">
            <a:avLst/>
          </a:prstGeom>
          <a:noFill/>
          <a:ln/>
        </p:spPr>
        <p:txBody>
          <a:bodyPr wrap="square" lIns="0" tIns="0" rIns="0" bIns="0" rtlCol="0" anchor="ctr"/>
          <a:lstStyle/>
          <a:p>
            <a:pPr algn="ctr" indent="0" marL="0">
              <a:buNone/>
            </a:pPr>
            <a:r>
              <a:rPr lang="en-US" sz="1000" b="1" dirty="0">
                <a:solidFill>
                  <a:srgbClr val="1A1A1A"/>
                </a:solidFill>
                <a:latin typeface="Arial" pitchFamily="34" charset="0"/>
                <a:ea typeface="Arial" pitchFamily="34" charset="-122"/>
                <a:cs typeface="Arial" pitchFamily="34" charset="-120"/>
              </a:rPr>
              <a:t>KEY TAKEAWAYS</a:t>
            </a:r>
            <a:endParaRPr lang="en-US" sz="1000" dirty="0"/>
          </a:p>
        </p:txBody>
      </p:sp>
      <p:sp>
        <p:nvSpPr>
          <p:cNvPr id="5" name="Text 3"/>
          <p:cNvSpPr/>
          <p:nvPr/>
        </p:nvSpPr>
        <p:spPr>
          <a:xfrm>
            <a:off x="457200" y="685800"/>
            <a:ext cx="8229600" cy="45720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What We Learned Building with SAP PAL</a:t>
            </a:r>
            <a:endParaRPr lang="en-US" sz="2800" dirty="0"/>
          </a:p>
        </p:txBody>
      </p:sp>
      <p:sp>
        <p:nvSpPr>
          <p:cNvPr id="6" name="Text 4"/>
          <p:cNvSpPr/>
          <p:nvPr/>
        </p:nvSpPr>
        <p:spPr>
          <a:xfrm>
            <a:off x="457200" y="1097280"/>
            <a:ext cx="8229600" cy="320040"/>
          </a:xfrm>
          <a:prstGeom prst="rect">
            <a:avLst/>
          </a:prstGeom>
          <a:noFill/>
          <a:ln/>
        </p:spPr>
        <p:txBody>
          <a:bodyPr wrap="square" lIns="0" tIns="0" rIns="0" bIns="0" rtlCol="0" anchor="ctr"/>
          <a:lstStyle/>
          <a:p>
            <a:pPr indent="0" marL="0">
              <a:buNone/>
            </a:pPr>
            <a:r>
              <a:rPr lang="en-US" sz="1200" dirty="0">
                <a:solidFill>
                  <a:srgbClr val="B0B8C0"/>
                </a:solidFill>
                <a:latin typeface="Arial" pitchFamily="34" charset="0"/>
                <a:ea typeface="Arial" pitchFamily="34" charset="-122"/>
                <a:cs typeface="Arial" pitchFamily="34" charset="-120"/>
              </a:rPr>
              <a:t>Lessons from 4 iterations, 13 scripts, and hands-on experience with SAP Predictive Analysis Library</a:t>
            </a:r>
            <a:endParaRPr lang="en-US" sz="1200" dirty="0"/>
          </a:p>
        </p:txBody>
      </p:sp>
      <p:sp>
        <p:nvSpPr>
          <p:cNvPr id="7" name="Shape 5"/>
          <p:cNvSpPr/>
          <p:nvPr/>
        </p:nvSpPr>
        <p:spPr>
          <a:xfrm>
            <a:off x="457200" y="1554480"/>
            <a:ext cx="8229600" cy="594360"/>
          </a:xfrm>
          <a:prstGeom prst="rect">
            <a:avLst/>
          </a:prstGeom>
          <a:solidFill>
            <a:srgbClr val="172A3A"/>
          </a:solidFill>
          <a:ln w="12700">
            <a:solidFill>
              <a:srgbClr val="00BCD4"/>
            </a:solidFill>
            <a:prstDash val="solid"/>
          </a:ln>
        </p:spPr>
      </p:sp>
      <p:sp>
        <p:nvSpPr>
          <p:cNvPr id="8" name="Text 6"/>
          <p:cNvSpPr/>
          <p:nvPr/>
        </p:nvSpPr>
        <p:spPr>
          <a:xfrm>
            <a:off x="548640" y="1600200"/>
            <a:ext cx="457200" cy="457200"/>
          </a:xfrm>
          <a:prstGeom prst="rect">
            <a:avLst/>
          </a:prstGeom>
          <a:noFill/>
          <a:ln/>
        </p:spPr>
        <p:txBody>
          <a:bodyPr wrap="square" lIns="0" tIns="0" rIns="0" bIns="0" rtlCol="0" anchor="ctr"/>
          <a:lstStyle/>
          <a:p>
            <a:pPr algn="ctr" indent="0" marL="0">
              <a:buNone/>
            </a:pPr>
            <a:r>
              <a:rPr lang="en-US" sz="1600" b="1" dirty="0">
                <a:solidFill>
                  <a:srgbClr val="00BCD4"/>
                </a:solidFill>
                <a:latin typeface="Arial" pitchFamily="34" charset="0"/>
                <a:ea typeface="Arial" pitchFamily="34" charset="-122"/>
                <a:cs typeface="Arial" pitchFamily="34" charset="-120"/>
              </a:rPr>
              <a:t>01</a:t>
            </a:r>
            <a:endParaRPr lang="en-US" sz="1600" dirty="0"/>
          </a:p>
        </p:txBody>
      </p:sp>
      <p:sp>
        <p:nvSpPr>
          <p:cNvPr id="9" name="Shape 7"/>
          <p:cNvSpPr/>
          <p:nvPr/>
        </p:nvSpPr>
        <p:spPr>
          <a:xfrm>
            <a:off x="1051560" y="1627632"/>
            <a:ext cx="36576" cy="448056"/>
          </a:xfrm>
          <a:prstGeom prst="rect">
            <a:avLst/>
          </a:prstGeom>
          <a:solidFill>
            <a:srgbClr val="00BCD4"/>
          </a:solidFill>
          <a:ln/>
        </p:spPr>
      </p:sp>
      <p:sp>
        <p:nvSpPr>
          <p:cNvPr id="10" name="Text 8"/>
          <p:cNvSpPr/>
          <p:nvPr/>
        </p:nvSpPr>
        <p:spPr>
          <a:xfrm>
            <a:off x="1188720" y="1572768"/>
            <a:ext cx="7315200" cy="228600"/>
          </a:xfrm>
          <a:prstGeom prst="rect">
            <a:avLst/>
          </a:prstGeom>
          <a:noFill/>
          <a:ln/>
        </p:spPr>
        <p:txBody>
          <a:bodyPr wrap="square" lIns="0" tIns="0" rIns="0" bIns="0" rtlCol="0" anchor="ctr"/>
          <a:lstStyle/>
          <a:p>
            <a:pPr algn="l" indent="0" marL="0">
              <a:buNone/>
            </a:pPr>
            <a:r>
              <a:rPr lang="en-US" sz="1200" b="1" dirty="0">
                <a:solidFill>
                  <a:srgbClr val="FFFFFF"/>
                </a:solidFill>
                <a:latin typeface="Arial" pitchFamily="34" charset="0"/>
                <a:ea typeface="Arial" pitchFamily="34" charset="-122"/>
                <a:cs typeface="Arial" pitchFamily="34" charset="-120"/>
              </a:rPr>
              <a:t>Let AutoML Guide, Then Implement Directly</a:t>
            </a:r>
            <a:endParaRPr lang="en-US" sz="1200" dirty="0"/>
          </a:p>
        </p:txBody>
      </p:sp>
      <p:sp>
        <p:nvSpPr>
          <p:cNvPr id="11" name="Text 9"/>
          <p:cNvSpPr/>
          <p:nvPr/>
        </p:nvSpPr>
        <p:spPr>
          <a:xfrm>
            <a:off x="1188720" y="1810512"/>
            <a:ext cx="7315200" cy="274320"/>
          </a:xfrm>
          <a:prstGeom prst="rect">
            <a:avLst/>
          </a:prstGeom>
          <a:noFill/>
          <a:ln/>
        </p:spPr>
        <p:txBody>
          <a:bodyPr wrap="square" lIns="0" tIns="0" rIns="0" bIns="0" rtlCol="0" anchor="t"/>
          <a:lstStyle/>
          <a:p>
            <a:pPr algn="l" indent="0" marL="0">
              <a:buNone/>
            </a:pPr>
            <a:r>
              <a:rPr lang="en-US" sz="900" dirty="0">
                <a:solidFill>
                  <a:srgbClr val="B0B8C0"/>
                </a:solidFill>
                <a:latin typeface="Arial" pitchFamily="34" charset="0"/>
                <a:ea typeface="Arial" pitchFamily="34" charset="-122"/>
                <a:cs typeface="Arial" pitchFamily="34" charset="-120"/>
              </a:rPr>
              <a:t>PAL_AUTOML_FIT recommended BSTS as the best algorithm. But AutoML's prediction function had a technical limitation. So we implemented BSTS directly via hana_ml — getting the best model without the bug.</a:t>
            </a:r>
            <a:endParaRPr lang="en-US" sz="900" dirty="0"/>
          </a:p>
        </p:txBody>
      </p:sp>
      <p:sp>
        <p:nvSpPr>
          <p:cNvPr id="12" name="Shape 10"/>
          <p:cNvSpPr/>
          <p:nvPr/>
        </p:nvSpPr>
        <p:spPr>
          <a:xfrm>
            <a:off x="457200" y="2221992"/>
            <a:ext cx="8229600" cy="594360"/>
          </a:xfrm>
          <a:prstGeom prst="rect">
            <a:avLst/>
          </a:prstGeom>
          <a:solidFill>
            <a:srgbClr val="172A3A"/>
          </a:solidFill>
          <a:ln w="12700">
            <a:solidFill>
              <a:srgbClr val="F9A825"/>
            </a:solidFill>
            <a:prstDash val="solid"/>
          </a:ln>
        </p:spPr>
      </p:sp>
      <p:sp>
        <p:nvSpPr>
          <p:cNvPr id="13" name="Text 11"/>
          <p:cNvSpPr/>
          <p:nvPr/>
        </p:nvSpPr>
        <p:spPr>
          <a:xfrm>
            <a:off x="548640" y="2267712"/>
            <a:ext cx="457200" cy="457200"/>
          </a:xfrm>
          <a:prstGeom prst="rect">
            <a:avLst/>
          </a:prstGeom>
          <a:noFill/>
          <a:ln/>
        </p:spPr>
        <p:txBody>
          <a:bodyPr wrap="square" lIns="0" tIns="0" rIns="0" bIns="0" rtlCol="0" anchor="ctr"/>
          <a:lstStyle/>
          <a:p>
            <a:pPr algn="ctr" indent="0" marL="0">
              <a:buNone/>
            </a:pPr>
            <a:r>
              <a:rPr lang="en-US" sz="1600" b="1" dirty="0">
                <a:solidFill>
                  <a:srgbClr val="F9A825"/>
                </a:solidFill>
                <a:latin typeface="Arial" pitchFamily="34" charset="0"/>
                <a:ea typeface="Arial" pitchFamily="34" charset="-122"/>
                <a:cs typeface="Arial" pitchFamily="34" charset="-120"/>
              </a:rPr>
              <a:t>02</a:t>
            </a:r>
            <a:endParaRPr lang="en-US" sz="1600" dirty="0"/>
          </a:p>
        </p:txBody>
      </p:sp>
      <p:sp>
        <p:nvSpPr>
          <p:cNvPr id="14" name="Shape 12"/>
          <p:cNvSpPr/>
          <p:nvPr/>
        </p:nvSpPr>
        <p:spPr>
          <a:xfrm>
            <a:off x="1051560" y="2295144"/>
            <a:ext cx="36576" cy="448056"/>
          </a:xfrm>
          <a:prstGeom prst="rect">
            <a:avLst/>
          </a:prstGeom>
          <a:solidFill>
            <a:srgbClr val="F9A825"/>
          </a:solidFill>
          <a:ln/>
        </p:spPr>
      </p:sp>
      <p:sp>
        <p:nvSpPr>
          <p:cNvPr id="15" name="Text 13"/>
          <p:cNvSpPr/>
          <p:nvPr/>
        </p:nvSpPr>
        <p:spPr>
          <a:xfrm>
            <a:off x="1188720" y="2240280"/>
            <a:ext cx="7315200" cy="228600"/>
          </a:xfrm>
          <a:prstGeom prst="rect">
            <a:avLst/>
          </a:prstGeom>
          <a:noFill/>
          <a:ln/>
        </p:spPr>
        <p:txBody>
          <a:bodyPr wrap="square" lIns="0" tIns="0" rIns="0" bIns="0" rtlCol="0" anchor="ctr"/>
          <a:lstStyle/>
          <a:p>
            <a:pPr algn="l" indent="0" marL="0">
              <a:buNone/>
            </a:pPr>
            <a:r>
              <a:rPr lang="en-US" sz="1200" b="1" dirty="0">
                <a:solidFill>
                  <a:srgbClr val="FFFFFF"/>
                </a:solidFill>
                <a:latin typeface="Arial" pitchFamily="34" charset="0"/>
                <a:ea typeface="Arial" pitchFamily="34" charset="-122"/>
                <a:cs typeface="Arial" pitchFamily="34" charset="-120"/>
              </a:rPr>
              <a:t>One Model Doesn't Fit All Accessories</a:t>
            </a:r>
            <a:endParaRPr lang="en-US" sz="1200" dirty="0"/>
          </a:p>
        </p:txBody>
      </p:sp>
      <p:sp>
        <p:nvSpPr>
          <p:cNvPr id="16" name="Text 14"/>
          <p:cNvSpPr/>
          <p:nvPr/>
        </p:nvSpPr>
        <p:spPr>
          <a:xfrm>
            <a:off x="1188720" y="2478024"/>
            <a:ext cx="7315200" cy="274320"/>
          </a:xfrm>
          <a:prstGeom prst="rect">
            <a:avLst/>
          </a:prstGeom>
          <a:noFill/>
          <a:ln/>
        </p:spPr>
        <p:txBody>
          <a:bodyPr wrap="square" lIns="0" tIns="0" rIns="0" bIns="0" rtlCol="0" anchor="t"/>
          <a:lstStyle/>
          <a:p>
            <a:pPr algn="l" indent="0" marL="0">
              <a:buNone/>
            </a:pPr>
            <a:r>
              <a:rPr lang="en-US" sz="900" dirty="0">
                <a:solidFill>
                  <a:srgbClr val="B0B8C0"/>
                </a:solidFill>
                <a:latin typeface="Arial" pitchFamily="34" charset="0"/>
                <a:ea typeface="Arial" pitchFamily="34" charset="-122"/>
                <a:cs typeface="Arial" pitchFamily="34" charset="-120"/>
              </a:rPr>
              <a:t>Different accessories have different demand patterns. Steady parts favor SES. Seasonal parts favor SARIMA. Complex patterns favor BSTS. Running all 3 and auto-selecting ensures best fit every time.</a:t>
            </a:r>
            <a:endParaRPr lang="en-US" sz="900" dirty="0"/>
          </a:p>
        </p:txBody>
      </p:sp>
      <p:sp>
        <p:nvSpPr>
          <p:cNvPr id="17" name="Shape 15"/>
          <p:cNvSpPr/>
          <p:nvPr/>
        </p:nvSpPr>
        <p:spPr>
          <a:xfrm>
            <a:off x="457200" y="2889504"/>
            <a:ext cx="8229600" cy="594360"/>
          </a:xfrm>
          <a:prstGeom prst="rect">
            <a:avLst/>
          </a:prstGeom>
          <a:solidFill>
            <a:srgbClr val="172A3A"/>
          </a:solidFill>
          <a:ln w="12700">
            <a:solidFill>
              <a:srgbClr val="FF9800"/>
            </a:solidFill>
            <a:prstDash val="solid"/>
          </a:ln>
        </p:spPr>
      </p:sp>
      <p:sp>
        <p:nvSpPr>
          <p:cNvPr id="18" name="Text 16"/>
          <p:cNvSpPr/>
          <p:nvPr/>
        </p:nvSpPr>
        <p:spPr>
          <a:xfrm>
            <a:off x="548640" y="2935224"/>
            <a:ext cx="457200" cy="457200"/>
          </a:xfrm>
          <a:prstGeom prst="rect">
            <a:avLst/>
          </a:prstGeom>
          <a:noFill/>
          <a:ln/>
        </p:spPr>
        <p:txBody>
          <a:bodyPr wrap="square" lIns="0" tIns="0" rIns="0" bIns="0" rtlCol="0" anchor="ctr"/>
          <a:lstStyle/>
          <a:p>
            <a:pPr algn="ctr" indent="0" marL="0">
              <a:buNone/>
            </a:pPr>
            <a:r>
              <a:rPr lang="en-US" sz="1600" b="1" dirty="0">
                <a:solidFill>
                  <a:srgbClr val="FF9800"/>
                </a:solidFill>
                <a:latin typeface="Arial" pitchFamily="34" charset="0"/>
                <a:ea typeface="Arial" pitchFamily="34" charset="-122"/>
                <a:cs typeface="Arial" pitchFamily="34" charset="-120"/>
              </a:rPr>
              <a:t>03</a:t>
            </a:r>
            <a:endParaRPr lang="en-US" sz="1600" dirty="0"/>
          </a:p>
        </p:txBody>
      </p:sp>
      <p:sp>
        <p:nvSpPr>
          <p:cNvPr id="19" name="Shape 17"/>
          <p:cNvSpPr/>
          <p:nvPr/>
        </p:nvSpPr>
        <p:spPr>
          <a:xfrm>
            <a:off x="1051560" y="2962656"/>
            <a:ext cx="36576" cy="448056"/>
          </a:xfrm>
          <a:prstGeom prst="rect">
            <a:avLst/>
          </a:prstGeom>
          <a:solidFill>
            <a:srgbClr val="FF9800"/>
          </a:solidFill>
          <a:ln/>
        </p:spPr>
      </p:sp>
      <p:sp>
        <p:nvSpPr>
          <p:cNvPr id="20" name="Text 18"/>
          <p:cNvSpPr/>
          <p:nvPr/>
        </p:nvSpPr>
        <p:spPr>
          <a:xfrm>
            <a:off x="1188720" y="2907792"/>
            <a:ext cx="7315200" cy="228600"/>
          </a:xfrm>
          <a:prstGeom prst="rect">
            <a:avLst/>
          </a:prstGeom>
          <a:noFill/>
          <a:ln/>
        </p:spPr>
        <p:txBody>
          <a:bodyPr wrap="square" lIns="0" tIns="0" rIns="0" bIns="0" rtlCol="0" anchor="ctr"/>
          <a:lstStyle/>
          <a:p>
            <a:pPr algn="l" indent="0" marL="0">
              <a:buNone/>
            </a:pPr>
            <a:r>
              <a:rPr lang="en-US" sz="1200" b="1" dirty="0">
                <a:solidFill>
                  <a:srgbClr val="FFFFFF"/>
                </a:solidFill>
                <a:latin typeface="Arial" pitchFamily="34" charset="0"/>
                <a:ea typeface="Arial" pitchFamily="34" charset="-122"/>
                <a:cs typeface="Arial" pitchFamily="34" charset="-120"/>
              </a:rPr>
              <a:t>Data Quality Is Half the Battle</a:t>
            </a:r>
            <a:endParaRPr lang="en-US" sz="1200" dirty="0"/>
          </a:p>
        </p:txBody>
      </p:sp>
      <p:sp>
        <p:nvSpPr>
          <p:cNvPr id="21" name="Text 19"/>
          <p:cNvSpPr/>
          <p:nvPr/>
        </p:nvSpPr>
        <p:spPr>
          <a:xfrm>
            <a:off x="1188720" y="3145536"/>
            <a:ext cx="7315200" cy="274320"/>
          </a:xfrm>
          <a:prstGeom prst="rect">
            <a:avLst/>
          </a:prstGeom>
          <a:noFill/>
          <a:ln/>
        </p:spPr>
        <p:txBody>
          <a:bodyPr wrap="square" lIns="0" tIns="0" rIns="0" bIns="0" rtlCol="0" anchor="t"/>
          <a:lstStyle/>
          <a:p>
            <a:pPr algn="l" indent="0" marL="0">
              <a:buNone/>
            </a:pPr>
            <a:r>
              <a:rPr lang="en-US" sz="900" dirty="0">
                <a:solidFill>
                  <a:srgbClr val="B0B8C0"/>
                </a:solidFill>
                <a:latin typeface="Arial" pitchFamily="34" charset="0"/>
                <a:ea typeface="Arial" pitchFamily="34" charset="-122"/>
                <a:cs typeface="Arial" pitchFamily="34" charset="-120"/>
              </a:rPr>
              <a:t>Production shutdowns, one-time events, and incomplete months created spikes that fooled the models. Adding outlier detection and data cliff checks via PAL dramatically improved forecast accuracy.</a:t>
            </a:r>
            <a:endParaRPr lang="en-US" sz="900" dirty="0"/>
          </a:p>
        </p:txBody>
      </p:sp>
      <p:sp>
        <p:nvSpPr>
          <p:cNvPr id="22" name="Shape 20"/>
          <p:cNvSpPr/>
          <p:nvPr/>
        </p:nvSpPr>
        <p:spPr>
          <a:xfrm>
            <a:off x="457200" y="3557016"/>
            <a:ext cx="8229600" cy="594360"/>
          </a:xfrm>
          <a:prstGeom prst="rect">
            <a:avLst/>
          </a:prstGeom>
          <a:solidFill>
            <a:srgbClr val="172A3A"/>
          </a:solidFill>
          <a:ln w="12700">
            <a:solidFill>
              <a:srgbClr val="4CAF50"/>
            </a:solidFill>
            <a:prstDash val="solid"/>
          </a:ln>
        </p:spPr>
      </p:sp>
      <p:sp>
        <p:nvSpPr>
          <p:cNvPr id="23" name="Text 21"/>
          <p:cNvSpPr/>
          <p:nvPr/>
        </p:nvSpPr>
        <p:spPr>
          <a:xfrm>
            <a:off x="548640" y="3602736"/>
            <a:ext cx="457200" cy="457200"/>
          </a:xfrm>
          <a:prstGeom prst="rect">
            <a:avLst/>
          </a:prstGeom>
          <a:noFill/>
          <a:ln/>
        </p:spPr>
        <p:txBody>
          <a:bodyPr wrap="square" lIns="0" tIns="0" rIns="0" bIns="0" rtlCol="0" anchor="ctr"/>
          <a:lstStyle/>
          <a:p>
            <a:pPr algn="ctr" indent="0" marL="0">
              <a:buNone/>
            </a:pPr>
            <a:r>
              <a:rPr lang="en-US" sz="1600" b="1" dirty="0">
                <a:solidFill>
                  <a:srgbClr val="4CAF50"/>
                </a:solidFill>
                <a:latin typeface="Arial" pitchFamily="34" charset="0"/>
                <a:ea typeface="Arial" pitchFamily="34" charset="-122"/>
                <a:cs typeface="Arial" pitchFamily="34" charset="-120"/>
              </a:rPr>
              <a:t>04</a:t>
            </a:r>
            <a:endParaRPr lang="en-US" sz="1600" dirty="0"/>
          </a:p>
        </p:txBody>
      </p:sp>
      <p:sp>
        <p:nvSpPr>
          <p:cNvPr id="24" name="Shape 22"/>
          <p:cNvSpPr/>
          <p:nvPr/>
        </p:nvSpPr>
        <p:spPr>
          <a:xfrm>
            <a:off x="1051560" y="3630168"/>
            <a:ext cx="36576" cy="448056"/>
          </a:xfrm>
          <a:prstGeom prst="rect">
            <a:avLst/>
          </a:prstGeom>
          <a:solidFill>
            <a:srgbClr val="4CAF50"/>
          </a:solidFill>
          <a:ln/>
        </p:spPr>
      </p:sp>
      <p:sp>
        <p:nvSpPr>
          <p:cNvPr id="25" name="Text 23"/>
          <p:cNvSpPr/>
          <p:nvPr/>
        </p:nvSpPr>
        <p:spPr>
          <a:xfrm>
            <a:off x="1188720" y="3575304"/>
            <a:ext cx="7315200" cy="228600"/>
          </a:xfrm>
          <a:prstGeom prst="rect">
            <a:avLst/>
          </a:prstGeom>
          <a:noFill/>
          <a:ln/>
        </p:spPr>
        <p:txBody>
          <a:bodyPr wrap="square" lIns="0" tIns="0" rIns="0" bIns="0" rtlCol="0" anchor="ctr"/>
          <a:lstStyle/>
          <a:p>
            <a:pPr algn="l" indent="0" marL="0">
              <a:buNone/>
            </a:pPr>
            <a:r>
              <a:rPr lang="en-US" sz="1200" b="1" dirty="0">
                <a:solidFill>
                  <a:srgbClr val="FFFFFF"/>
                </a:solidFill>
                <a:latin typeface="Arial" pitchFamily="34" charset="0"/>
                <a:ea typeface="Arial" pitchFamily="34" charset="-122"/>
                <a:cs typeface="Arial" pitchFamily="34" charset="-120"/>
              </a:rPr>
              <a:t>Parameters Matter — Make Them Tunable</a:t>
            </a:r>
            <a:endParaRPr lang="en-US" sz="1200" dirty="0"/>
          </a:p>
        </p:txBody>
      </p:sp>
      <p:sp>
        <p:nvSpPr>
          <p:cNvPr id="26" name="Text 24"/>
          <p:cNvSpPr/>
          <p:nvPr/>
        </p:nvSpPr>
        <p:spPr>
          <a:xfrm>
            <a:off x="1188720" y="3813048"/>
            <a:ext cx="7315200" cy="274320"/>
          </a:xfrm>
          <a:prstGeom prst="rect">
            <a:avLst/>
          </a:prstGeom>
          <a:noFill/>
          <a:ln/>
        </p:spPr>
        <p:txBody>
          <a:bodyPr wrap="square" lIns="0" tIns="0" rIns="0" bIns="0" rtlCol="0" anchor="t"/>
          <a:lstStyle/>
          <a:p>
            <a:pPr algn="l" indent="0" marL="0">
              <a:buNone/>
            </a:pPr>
            <a:r>
              <a:rPr lang="en-US" sz="900" dirty="0">
                <a:solidFill>
                  <a:srgbClr val="B0B8C0"/>
                </a:solidFill>
                <a:latin typeface="Arial" pitchFamily="34" charset="0"/>
                <a:ea typeface="Arial" pitchFamily="34" charset="-122"/>
                <a:cs typeface="Arial" pitchFamily="34" charset="-120"/>
              </a:rPr>
              <a:t>BSTS niter, SARIMA METHOD, SES ALPHA — small parameter changes produced significant accuracy gains. Exposing them via REST API enables on-demand fine-tuning without redeploying.</a:t>
            </a:r>
            <a:endParaRPr lang="en-US" sz="900" dirty="0"/>
          </a:p>
        </p:txBody>
      </p:sp>
      <p:sp>
        <p:nvSpPr>
          <p:cNvPr id="27" name="Shape 25"/>
          <p:cNvSpPr/>
          <p:nvPr/>
        </p:nvSpPr>
        <p:spPr>
          <a:xfrm>
            <a:off x="457200" y="4224528"/>
            <a:ext cx="8229600" cy="594360"/>
          </a:xfrm>
          <a:prstGeom prst="rect">
            <a:avLst/>
          </a:prstGeom>
          <a:solidFill>
            <a:srgbClr val="172A3A"/>
          </a:solidFill>
          <a:ln w="12700">
            <a:solidFill>
              <a:srgbClr val="2196F3"/>
            </a:solidFill>
            <a:prstDash val="solid"/>
          </a:ln>
        </p:spPr>
      </p:sp>
      <p:sp>
        <p:nvSpPr>
          <p:cNvPr id="28" name="Text 26"/>
          <p:cNvSpPr/>
          <p:nvPr/>
        </p:nvSpPr>
        <p:spPr>
          <a:xfrm>
            <a:off x="548640" y="4270248"/>
            <a:ext cx="457200" cy="457200"/>
          </a:xfrm>
          <a:prstGeom prst="rect">
            <a:avLst/>
          </a:prstGeom>
          <a:noFill/>
          <a:ln/>
        </p:spPr>
        <p:txBody>
          <a:bodyPr wrap="square" lIns="0" tIns="0" rIns="0" bIns="0" rtlCol="0" anchor="ctr"/>
          <a:lstStyle/>
          <a:p>
            <a:pPr algn="ctr" indent="0" marL="0">
              <a:buNone/>
            </a:pPr>
            <a:r>
              <a:rPr lang="en-US" sz="1600" b="1" dirty="0">
                <a:solidFill>
                  <a:srgbClr val="2196F3"/>
                </a:solidFill>
                <a:latin typeface="Arial" pitchFamily="34" charset="0"/>
                <a:ea typeface="Arial" pitchFamily="34" charset="-122"/>
                <a:cs typeface="Arial" pitchFamily="34" charset="-120"/>
              </a:rPr>
              <a:t>05</a:t>
            </a:r>
            <a:endParaRPr lang="en-US" sz="1600" dirty="0"/>
          </a:p>
        </p:txBody>
      </p:sp>
      <p:sp>
        <p:nvSpPr>
          <p:cNvPr id="29" name="Shape 27"/>
          <p:cNvSpPr/>
          <p:nvPr/>
        </p:nvSpPr>
        <p:spPr>
          <a:xfrm>
            <a:off x="1051560" y="4297680"/>
            <a:ext cx="36576" cy="448056"/>
          </a:xfrm>
          <a:prstGeom prst="rect">
            <a:avLst/>
          </a:prstGeom>
          <a:solidFill>
            <a:srgbClr val="2196F3"/>
          </a:solidFill>
          <a:ln/>
        </p:spPr>
      </p:sp>
      <p:sp>
        <p:nvSpPr>
          <p:cNvPr id="30" name="Text 28"/>
          <p:cNvSpPr/>
          <p:nvPr/>
        </p:nvSpPr>
        <p:spPr>
          <a:xfrm>
            <a:off x="1188720" y="4242816"/>
            <a:ext cx="7315200" cy="228600"/>
          </a:xfrm>
          <a:prstGeom prst="rect">
            <a:avLst/>
          </a:prstGeom>
          <a:noFill/>
          <a:ln/>
        </p:spPr>
        <p:txBody>
          <a:bodyPr wrap="square" lIns="0" tIns="0" rIns="0" bIns="0" rtlCol="0" anchor="ctr"/>
          <a:lstStyle/>
          <a:p>
            <a:pPr algn="l" indent="0" marL="0">
              <a:buNone/>
            </a:pPr>
            <a:r>
              <a:rPr lang="en-US" sz="1200" b="1" dirty="0">
                <a:solidFill>
                  <a:srgbClr val="FFFFFF"/>
                </a:solidFill>
                <a:latin typeface="Arial" pitchFamily="34" charset="0"/>
                <a:ea typeface="Arial" pitchFamily="34" charset="-122"/>
                <a:cs typeface="Arial" pitchFamily="34" charset="-120"/>
              </a:rPr>
              <a:t>Everything Runs Inside HANA Cloud</a:t>
            </a:r>
            <a:endParaRPr lang="en-US" sz="1200" dirty="0"/>
          </a:p>
        </p:txBody>
      </p:sp>
      <p:sp>
        <p:nvSpPr>
          <p:cNvPr id="31" name="Text 29"/>
          <p:cNvSpPr/>
          <p:nvPr/>
        </p:nvSpPr>
        <p:spPr>
          <a:xfrm>
            <a:off x="1188720" y="4480560"/>
            <a:ext cx="7315200" cy="274320"/>
          </a:xfrm>
          <a:prstGeom prst="rect">
            <a:avLst/>
          </a:prstGeom>
          <a:noFill/>
          <a:ln/>
        </p:spPr>
        <p:txBody>
          <a:bodyPr wrap="square" lIns="0" tIns="0" rIns="0" bIns="0" rtlCol="0" anchor="t"/>
          <a:lstStyle/>
          <a:p>
            <a:pPr algn="l" indent="0" marL="0">
              <a:buNone/>
            </a:pPr>
            <a:r>
              <a:rPr lang="en-US" sz="900" dirty="0">
                <a:solidFill>
                  <a:srgbClr val="B0B8C0"/>
                </a:solidFill>
                <a:latin typeface="Arial" pitchFamily="34" charset="0"/>
                <a:ea typeface="Arial" pitchFamily="34" charset="-122"/>
                <a:cs typeface="Arial" pitchFamily="34" charset="-120"/>
              </a:rPr>
              <a:t>All ML computation happens inside SAP HANA via PAL. Python just orchestrates — no data leaves the database. This means enterprise security, speed, and scalability from day one.</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Accessory Optimizer - SAP PAL Journey</dc:title>
  <dc:subject>PptxGenJS Presentation</dc:subject>
  <dc:creator>MBUSA Vehicle Logistics</dc:creator>
  <cp:lastModifiedBy>MBUSA Vehicle Logistics</cp:lastModifiedBy>
  <cp:revision>1</cp:revision>
  <dcterms:created xsi:type="dcterms:W3CDTF">2026-03-19T23:09:51Z</dcterms:created>
  <dcterms:modified xsi:type="dcterms:W3CDTF">2026-03-19T23:09:51Z</dcterms:modified>
</cp:coreProperties>
</file>