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17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7CDBA-CDDC-4CC2-BBBC-FCCC1D6A7E7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B84C63-5E4F-484D-86ED-E9E1FE22C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628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7D723A-FE7C-4579-933A-C383D6A68F8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390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FDBA9-5467-638F-802D-24F32DBE25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0F2212-4D03-D128-346D-6D1936D6F4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965DB-1484-023A-789B-D79F35798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15E28-8E61-4152-A977-7E2FE01E7FC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2BEE8-BBAE-40AD-02A6-40B532FFD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37258-3BD7-28E0-CCBF-70C9976CB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D385B-3286-4E2C-9C2D-0E9B5743C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958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5F333-02E1-8F91-E263-33C299256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0D921-1FC5-A215-CEE3-E31D25289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441F5-6059-6F79-0341-14F3A3591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15E28-8E61-4152-A977-7E2FE01E7FC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1BE86-A2E8-4B8C-BD9A-771F3CAFF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94684-9E90-36C0-FFAA-A00900D67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D385B-3286-4E2C-9C2D-0E9B5743C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780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8A102-9681-BE90-5DB1-5CB84BB11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B1C619-0EAA-47E3-1FA3-A279A32B4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31A05-2556-BAAF-B930-33B3EC198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15E28-8E61-4152-A977-7E2FE01E7FC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01844-6504-C39D-7F78-5D90FFD5E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F5A21-2B89-EA45-D96C-8E2231565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D385B-3286-4E2C-9C2D-0E9B5743C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513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E3617-50DD-F8A0-552F-8728407AD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5219B-6AF1-8B30-773A-C0D9D89F1F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DA525A-F94E-0853-C30E-1F63547DC7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980E7-B0DE-BEA4-1599-DD18134BE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15E28-8E61-4152-A977-7E2FE01E7FC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8B44D-B1C2-5A50-C1B0-B79FE3BCC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205824-D549-A20C-3CCA-5FAC0B0DC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D385B-3286-4E2C-9C2D-0E9B5743C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603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3BC25-B42F-6666-7707-D45E70A28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A6AD5-7223-672B-61E0-C42A38F8B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D877CB-F78F-757B-784D-D1B8C2F1E4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8EF3AF-3500-E13B-D9F6-4AD1AC6C13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3A9830-19FC-4998-AE08-3EC3073338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8AAD30-316B-CD67-BA0B-CF455886E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15E28-8E61-4152-A977-7E2FE01E7FC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B8D427-40AE-85C1-2A50-1F08763BB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354216-E35E-52DC-6609-7BE52D830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D385B-3286-4E2C-9C2D-0E9B5743C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296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EB9FD-4E53-CBAC-F06B-C881409D1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3EE4E0-68B5-5A0F-26F6-C16405D22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15E28-8E61-4152-A977-7E2FE01E7FC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27CEA6-E7E1-DF09-0B7F-2030A8714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82D518-891B-63A6-3FB5-14FCDCD18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D385B-3286-4E2C-9C2D-0E9B5743C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72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9703A4-88C4-C93A-AF0B-1255E662B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15E28-8E61-4152-A977-7E2FE01E7FC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7F1305-6542-F794-CAA9-9D9E15CD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B801C-FC00-6D03-D7B9-7CFA08B3B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D385B-3286-4E2C-9C2D-0E9B5743C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650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71111-E19F-90A1-AD55-A0D3E1D75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9089F-99EE-D482-6ED5-B104F3B75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0A0623-76ED-AAAA-1DAA-59AC05A17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61C48F-FF15-D4A6-C41C-8606655C8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15E28-8E61-4152-A977-7E2FE01E7FC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D0CF16-34AF-04B7-DCF2-EA7533162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AE5150-9ABD-7D07-BD7D-C86F2E87A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D385B-3286-4E2C-9C2D-0E9B5743C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483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75AFB-7A63-CA0C-DC51-9FB13EF88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400ED2-EE34-EDEB-2FFD-ABE1B7C9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396813-ABBC-D4FC-6E5A-E51399013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26EB7A-9016-4404-F41A-27A80D353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15E28-8E61-4152-A977-7E2FE01E7FC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F43FD-C225-22D2-B1B4-E35959DD1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BCADB-505F-DACF-A57F-4155A59E1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D385B-3286-4E2C-9C2D-0E9B5743C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877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24F96-313B-5B2F-4D15-AF9B6969C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F244C3-A741-6440-1E48-FBC079CF7E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38BD5-A3D6-F822-69FC-E640BDCF9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15E28-8E61-4152-A977-7E2FE01E7FC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3ACFE-127F-43A5-F01C-1DCD5B23D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1FBD4-D24E-4433-12AB-2DFD767E0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D385B-3286-4E2C-9C2D-0E9B5743C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053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37DB89-574C-27AA-A3FF-EA602FC375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595A0-8AC0-724A-02EB-E3E67F4BA5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7ED54-28A9-DBDF-D70A-7EB31A2E0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15E28-8E61-4152-A977-7E2FE01E7FC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9BA72-7DF9-B9F8-6404-0317A7C4D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77F4B-4C9C-602D-9182-1923F1BBC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D385B-3286-4E2C-9C2D-0E9B5743C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9746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ext/ Inhalt/ Ü 2 Zei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noProof="0" dirty="0"/>
              <a:t>Headline in CorpoS (Textkörper) 35 pt.</a:t>
            </a:r>
            <a:br>
              <a:rPr lang="de-DE" noProof="0" dirty="0"/>
            </a:br>
            <a:r>
              <a:rPr lang="de-DE" noProof="0" dirty="0"/>
              <a:t>über zwei Zeilen</a:t>
            </a:r>
            <a:endParaRPr lang="de-DE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629909" y="1504602"/>
            <a:ext cx="10930594" cy="4983236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de-DE" dirty="0"/>
              <a:t>Text oder Inhalt einfügen in </a:t>
            </a:r>
            <a:r>
              <a:rPr lang="de-DE" noProof="0" dirty="0"/>
              <a:t>CorpoS (Body) 24 pt. (Hervorhebungen in fett) </a:t>
            </a:r>
            <a:r>
              <a:rPr lang="de-DE" dirty="0"/>
              <a:t>// für Zusammenfassung oder kurzes Highlight: Start // Absatz // Listenebene erhöhen</a:t>
            </a:r>
          </a:p>
          <a:p>
            <a:pPr lvl="1"/>
            <a:r>
              <a:rPr lang="de-DE" dirty="0"/>
              <a:t>Zweite Ebene (Zusammenfassung oder kurzes Highlight)</a:t>
            </a:r>
          </a:p>
          <a:p>
            <a:pPr lvl="2"/>
            <a:r>
              <a:rPr lang="de-DE" dirty="0"/>
              <a:t>Dritte Ebene </a:t>
            </a:r>
          </a:p>
          <a:p>
            <a:pPr lvl="3"/>
            <a:r>
              <a:rPr lang="de-DE" dirty="0"/>
              <a:t>Vierte Ebene </a:t>
            </a:r>
          </a:p>
          <a:p>
            <a:pPr lvl="4"/>
            <a:r>
              <a:rPr lang="de-DE" dirty="0"/>
              <a:t>Fünfte Ebene </a:t>
            </a:r>
          </a:p>
          <a:p>
            <a:pPr lvl="5"/>
            <a:r>
              <a:rPr lang="de-DE" dirty="0"/>
              <a:t>Sechste Ebene </a:t>
            </a:r>
          </a:p>
          <a:p>
            <a:pPr lvl="6"/>
            <a:r>
              <a:rPr lang="de-DE" dirty="0"/>
              <a:t>Siebte Ebene </a:t>
            </a:r>
          </a:p>
          <a:p>
            <a:pPr lvl="7"/>
            <a:r>
              <a:rPr lang="de-DE" dirty="0"/>
              <a:t>Achte Ebene </a:t>
            </a:r>
          </a:p>
          <a:p>
            <a:pPr lvl="8"/>
            <a:r>
              <a:rPr lang="de-DE" dirty="0"/>
              <a:t>Neunte Ebene 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Project-Lifecycle Template V.2    Project ID / Department / Date /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de-DE" dirty="0"/>
              <a:t>Page</a:t>
            </a:r>
            <a:fld id="{52531704-8F80-415D-BD2B-6B9991AE822F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66219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2">
          <p15:clr>
            <a:srgbClr val="FBAE40"/>
          </p15:clr>
        </p15:guide>
        <p15:guide id="2" orient="horz" pos="4020">
          <p15:clr>
            <a:srgbClr val="FBAE40"/>
          </p15:clr>
        </p15:guide>
        <p15:guide id="3" orient="horz" pos="95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3C6F35-4BE6-7F8C-1CA5-F92104D29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EBD35-DED9-F735-E7CC-8CFAB0CE9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50BB7-3BB3-C770-92B5-AA8C63ED8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215E28-8E61-4152-A977-7E2FE01E7FC8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7CE8-5019-E3C4-D56D-4E8127324B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03A39-76AE-61D2-675D-25F95BDF6A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6D385B-3286-4E2C-9C2D-0E9B5743C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320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13" Type="http://schemas.openxmlformats.org/officeDocument/2006/relationships/image" Target="../media/image9.sv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svg"/><Relationship Id="rId12" Type="http://schemas.openxmlformats.org/officeDocument/2006/relationships/image" Target="../media/image8.svg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2.png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11" Type="http://schemas.openxmlformats.org/officeDocument/2006/relationships/image" Target="../media/image7.svg"/><Relationship Id="rId5" Type="http://schemas.openxmlformats.org/officeDocument/2006/relationships/image" Target="../media/image1.emf"/><Relationship Id="rId15" Type="http://schemas.openxmlformats.org/officeDocument/2006/relationships/image" Target="../media/image11.svg"/><Relationship Id="rId10" Type="http://schemas.openxmlformats.org/officeDocument/2006/relationships/image" Target="../media/image6.svg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svg"/><Relationship Id="rId1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EAC6B-AAFD-49AF-973A-A8C59F6B46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88F68B-981A-45C2-2CDF-9B34552E16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06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D409C-14FE-8FCF-2931-1B126F1FA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161F26A-1F63-E0D4-D39C-9B771D972DA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161F26A-1F63-E0D4-D39C-9B771D972D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itle 40">
            <a:extLst>
              <a:ext uri="{FF2B5EF4-FFF2-40B4-BE49-F238E27FC236}">
                <a16:creationId xmlns:a16="http://schemas.microsoft.com/office/drawing/2014/main" id="{D228AAD7-EA95-7459-22C0-E15722AC4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10" y="286891"/>
            <a:ext cx="10932454" cy="1151400"/>
          </a:xfrm>
        </p:spPr>
        <p:txBody>
          <a:bodyPr vert="horz"/>
          <a:lstStyle/>
          <a:p>
            <a:r>
              <a:rPr lang="de-DE" spc="-40" dirty="0">
                <a:latin typeface="MB Corpo A Title Office" panose="02020506080000000003"/>
              </a:rPr>
              <a:t>Solution Architecture Diagramm</a:t>
            </a:r>
            <a:br>
              <a:rPr lang="de-DE" spc="-40" dirty="0">
                <a:latin typeface="MB Corpo A Title Office" panose="02020506080000000003"/>
              </a:rPr>
            </a:br>
            <a:endParaRPr lang="de-DE" sz="2400" spc="-40" dirty="0">
              <a:latin typeface="MB Corpo A Title Office" panose="02020506080000000003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908CBA0-ABF1-1A71-4362-B90D8CD90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6456" y="77176"/>
            <a:ext cx="1197864" cy="1202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ounded Rectangle 2">
            <a:extLst>
              <a:ext uri="{FF2B5EF4-FFF2-40B4-BE49-F238E27FC236}">
                <a16:creationId xmlns:a16="http://schemas.microsoft.com/office/drawing/2014/main" id="{3E5592B1-F428-1152-DFB3-7E3C697D3E0F}"/>
              </a:ext>
            </a:extLst>
          </p:cNvPr>
          <p:cNvSpPr/>
          <p:nvPr/>
        </p:nvSpPr>
        <p:spPr>
          <a:xfrm>
            <a:off x="8054544" y="1381257"/>
            <a:ext cx="3578798" cy="5272343"/>
          </a:xfrm>
          <a:prstGeom prst="roundRect">
            <a:avLst>
              <a:gd name="adj" fmla="val 10339"/>
            </a:avLst>
          </a:prstGeom>
          <a:solidFill>
            <a:schemeClr val="bg1"/>
          </a:solidFill>
          <a:ln w="19050">
            <a:solidFill>
              <a:srgbClr val="0070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DE" sz="1100" dirty="0">
              <a:solidFill>
                <a:srgbClr val="FFFFFF"/>
              </a:solidFill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865CE957-61A6-D1CA-6732-4E90E520149C}"/>
              </a:ext>
            </a:extLst>
          </p:cNvPr>
          <p:cNvSpPr/>
          <p:nvPr/>
        </p:nvSpPr>
        <p:spPr>
          <a:xfrm>
            <a:off x="8760908" y="1538960"/>
            <a:ext cx="1274184" cy="23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00"/>
              </a:lnSpc>
            </a:pPr>
            <a:r>
              <a:rPr lang="en-US" sz="1100" dirty="0">
                <a:solidFill>
                  <a:srgbClr val="1D2D3E"/>
                </a:solidFill>
                <a:latin typeface="72 Bold" pitchFamily="34" charset="0"/>
                <a:ea typeface="72 Bold" pitchFamily="34" charset="-122"/>
                <a:cs typeface="72 Bold" pitchFamily="34" charset="-120"/>
              </a:rPr>
              <a:t>SAP On-Premise</a:t>
            </a:r>
          </a:p>
          <a:p>
            <a:pPr>
              <a:lnSpc>
                <a:spcPts val="1100"/>
              </a:lnSpc>
            </a:pPr>
            <a:r>
              <a:rPr lang="en-US" sz="1100" dirty="0">
                <a:solidFill>
                  <a:srgbClr val="1D2D3E"/>
                </a:solidFill>
                <a:latin typeface="72 Bold" pitchFamily="34" charset="0"/>
                <a:cs typeface="72 Bold" pitchFamily="34" charset="-120"/>
              </a:rPr>
              <a:t>Solutions</a:t>
            </a:r>
            <a:endParaRPr lang="en-US" sz="1100" dirty="0">
              <a:solidFill>
                <a:srgbClr val="1D2D3E"/>
              </a:solidFill>
            </a:endParaRPr>
          </a:p>
        </p:txBody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751B5AC3-A3A7-FC19-3D5A-4E26C8C08932}"/>
              </a:ext>
            </a:extLst>
          </p:cNvPr>
          <p:cNvSpPr/>
          <p:nvPr/>
        </p:nvSpPr>
        <p:spPr>
          <a:xfrm>
            <a:off x="8760908" y="1846643"/>
            <a:ext cx="1274184" cy="23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00"/>
              </a:lnSpc>
            </a:pPr>
            <a:r>
              <a:rPr lang="en-US" sz="900" dirty="0">
                <a:solidFill>
                  <a:srgbClr val="1D2D3E"/>
                </a:solidFill>
                <a:latin typeface="72 Bold" pitchFamily="34" charset="0"/>
                <a:ea typeface="72 Bold" pitchFamily="34" charset="-122"/>
                <a:cs typeface="72 Bold" pitchFamily="34" charset="-120"/>
              </a:rPr>
              <a:t>SAP S/4HANA</a:t>
            </a:r>
            <a:endParaRPr lang="en-US" sz="900" dirty="0">
              <a:solidFill>
                <a:srgbClr val="1D2D3E"/>
              </a:solidFill>
            </a:endParaRP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3B9C1099-12F7-2559-CCB9-E225AC5277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 flipV="1">
            <a:off x="8348031" y="1563310"/>
            <a:ext cx="286038" cy="286038"/>
          </a:xfrm>
          <a:prstGeom prst="rect">
            <a:avLst/>
          </a:prstGeom>
        </p:spPr>
      </p:pic>
      <p:sp>
        <p:nvSpPr>
          <p:cNvPr id="40" name="Text 29">
            <a:extLst>
              <a:ext uri="{FF2B5EF4-FFF2-40B4-BE49-F238E27FC236}">
                <a16:creationId xmlns:a16="http://schemas.microsoft.com/office/drawing/2014/main" id="{67022CD0-9C26-2510-B0A5-AAE4E8A60DBA}"/>
              </a:ext>
            </a:extLst>
          </p:cNvPr>
          <p:cNvSpPr/>
          <p:nvPr/>
        </p:nvSpPr>
        <p:spPr>
          <a:xfrm>
            <a:off x="5689651" y="2933299"/>
            <a:ext cx="695525" cy="184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b="1" dirty="0">
                <a:solidFill>
                  <a:srgbClr val="1D2D3E"/>
                </a:solidFill>
                <a:latin typeface="72 Semibold" pitchFamily="34" charset="0"/>
                <a:ea typeface="72 Semibold" pitchFamily="34" charset="-122"/>
                <a:cs typeface="72 Semibold" pitchFamily="34" charset="-120"/>
              </a:rPr>
              <a:t>Cloud Connector</a:t>
            </a:r>
            <a:endParaRPr lang="en-US" sz="800" b="1" dirty="0">
              <a:solidFill>
                <a:srgbClr val="1D2D3E"/>
              </a:solidFill>
            </a:endParaRPr>
          </a:p>
        </p:txBody>
      </p:sp>
      <p:sp>
        <p:nvSpPr>
          <p:cNvPr id="3" name="Rounded Rectangle 64">
            <a:extLst>
              <a:ext uri="{FF2B5EF4-FFF2-40B4-BE49-F238E27FC236}">
                <a16:creationId xmlns:a16="http://schemas.microsoft.com/office/drawing/2014/main" id="{6A49D838-A99C-ADFD-435F-B6D379A4A9F4}"/>
              </a:ext>
            </a:extLst>
          </p:cNvPr>
          <p:cNvSpPr/>
          <p:nvPr/>
        </p:nvSpPr>
        <p:spPr>
          <a:xfrm>
            <a:off x="8588628" y="2249847"/>
            <a:ext cx="2051153" cy="1760293"/>
          </a:xfrm>
          <a:prstGeom prst="roundRect">
            <a:avLst>
              <a:gd name="adj" fmla="val 7872"/>
            </a:avLst>
          </a:prstGeom>
          <a:solidFill>
            <a:srgbClr val="EBF8FF"/>
          </a:solidFill>
          <a:ln w="19050">
            <a:solidFill>
              <a:srgbClr val="0070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799" dirty="0"/>
          </a:p>
        </p:txBody>
      </p:sp>
      <p:sp>
        <p:nvSpPr>
          <p:cNvPr id="5" name="Rounded Rectangle 65">
            <a:extLst>
              <a:ext uri="{FF2B5EF4-FFF2-40B4-BE49-F238E27FC236}">
                <a16:creationId xmlns:a16="http://schemas.microsoft.com/office/drawing/2014/main" id="{D6181E49-EACD-1098-BB35-FE706C52FE91}"/>
              </a:ext>
            </a:extLst>
          </p:cNvPr>
          <p:cNvSpPr/>
          <p:nvPr/>
        </p:nvSpPr>
        <p:spPr>
          <a:xfrm>
            <a:off x="8625791" y="4486012"/>
            <a:ext cx="2013990" cy="2085097"/>
          </a:xfrm>
          <a:prstGeom prst="roundRect">
            <a:avLst>
              <a:gd name="adj" fmla="val 7872"/>
            </a:avLst>
          </a:prstGeom>
          <a:solidFill>
            <a:schemeClr val="bg1"/>
          </a:solidFill>
          <a:ln w="19050">
            <a:solidFill>
              <a:srgbClr val="0070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799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6021CB-25E5-EECE-9CE2-9EFE54B6133A}"/>
              </a:ext>
            </a:extLst>
          </p:cNvPr>
          <p:cNvSpPr txBox="1"/>
          <p:nvPr/>
        </p:nvSpPr>
        <p:spPr bwMode="auto">
          <a:xfrm>
            <a:off x="9339125" y="4650367"/>
            <a:ext cx="427467" cy="256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 anchor="t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cs typeface="Daimler CS"/>
              </a:rPr>
              <a:t>SWT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78262D2-F098-9B79-0018-9F2764216E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79306" y="4542519"/>
            <a:ext cx="417491" cy="417491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50D9D1A-B0CA-2808-CEE3-564949D52816}"/>
              </a:ext>
            </a:extLst>
          </p:cNvPr>
          <p:cNvCxnSpPr>
            <a:cxnSpLocks/>
          </p:cNvCxnSpPr>
          <p:nvPr/>
        </p:nvCxnSpPr>
        <p:spPr>
          <a:xfrm>
            <a:off x="9568900" y="4010140"/>
            <a:ext cx="0" cy="475872"/>
          </a:xfrm>
          <a:prstGeom prst="straightConnector1">
            <a:avLst/>
          </a:prstGeom>
          <a:ln w="19050">
            <a:solidFill>
              <a:srgbClr val="475E75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D3D4FBC-31E1-5269-193C-F704DE6C6110}"/>
              </a:ext>
            </a:extLst>
          </p:cNvPr>
          <p:cNvSpPr txBox="1"/>
          <p:nvPr/>
        </p:nvSpPr>
        <p:spPr bwMode="auto">
          <a:xfrm>
            <a:off x="9112568" y="2289710"/>
            <a:ext cx="62162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 anchor="t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 err="1">
                <a:cs typeface="Daimler CS"/>
              </a:rPr>
              <a:t>VOISv</a:t>
            </a:r>
            <a:endParaRPr lang="en-US" sz="1600" b="1" dirty="0">
              <a:cs typeface="Daimler CS"/>
            </a:endParaRPr>
          </a:p>
        </p:txBody>
      </p:sp>
      <p:sp>
        <p:nvSpPr>
          <p:cNvPr id="48" name="Rounded Rectangle 20">
            <a:extLst>
              <a:ext uri="{FF2B5EF4-FFF2-40B4-BE49-F238E27FC236}">
                <a16:creationId xmlns:a16="http://schemas.microsoft.com/office/drawing/2014/main" id="{CEAC2E3D-BF11-AEB2-C941-479F06816DB7}"/>
              </a:ext>
            </a:extLst>
          </p:cNvPr>
          <p:cNvSpPr/>
          <p:nvPr/>
        </p:nvSpPr>
        <p:spPr>
          <a:xfrm>
            <a:off x="8743001" y="4978326"/>
            <a:ext cx="1710646" cy="1461215"/>
          </a:xfrm>
          <a:prstGeom prst="roundRect">
            <a:avLst>
              <a:gd name="adj" fmla="val 7872"/>
            </a:avLst>
          </a:prstGeom>
          <a:solidFill>
            <a:schemeClr val="bg1"/>
          </a:solidFill>
          <a:ln w="12700">
            <a:solidFill>
              <a:srgbClr val="0070F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Vehicle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MSRP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Dealer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PFD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SWT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Monroney Label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Wholesale Date</a:t>
            </a:r>
            <a:endParaRPr lang="en-DE" sz="1100" dirty="0">
              <a:solidFill>
                <a:schemeClr val="tx1"/>
              </a:solidFill>
            </a:endParaRPr>
          </a:p>
        </p:txBody>
      </p:sp>
      <p:sp>
        <p:nvSpPr>
          <p:cNvPr id="52" name="Rounded Rectangle 19">
            <a:extLst>
              <a:ext uri="{FF2B5EF4-FFF2-40B4-BE49-F238E27FC236}">
                <a16:creationId xmlns:a16="http://schemas.microsoft.com/office/drawing/2014/main" id="{26DDA8D8-51B7-10FA-3350-ADA5ECBC5D5F}"/>
              </a:ext>
            </a:extLst>
          </p:cNvPr>
          <p:cNvSpPr/>
          <p:nvPr/>
        </p:nvSpPr>
        <p:spPr>
          <a:xfrm>
            <a:off x="8840443" y="2669863"/>
            <a:ext cx="1517722" cy="1263072"/>
          </a:xfrm>
          <a:prstGeom prst="roundRect">
            <a:avLst>
              <a:gd name="adj" fmla="val 7872"/>
            </a:avLst>
          </a:prstGeom>
          <a:solidFill>
            <a:srgbClr val="EBF8FF"/>
          </a:solidFill>
          <a:ln w="12700">
            <a:solidFill>
              <a:srgbClr val="0070F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Vehicle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MSRP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Ship to Dealer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Dealer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User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Parking Location</a:t>
            </a:r>
            <a:endParaRPr lang="en-DE" sz="1100" dirty="0">
              <a:solidFill>
                <a:schemeClr val="tx1"/>
              </a:solidFill>
            </a:endParaRPr>
          </a:p>
        </p:txBody>
      </p:sp>
      <p:pic>
        <p:nvPicPr>
          <p:cNvPr id="55" name="Graphic 54">
            <a:extLst>
              <a:ext uri="{FF2B5EF4-FFF2-40B4-BE49-F238E27FC236}">
                <a16:creationId xmlns:a16="http://schemas.microsoft.com/office/drawing/2014/main" id="{C02063C2-72F5-8B00-7434-DF80614B63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54627" y="2249848"/>
            <a:ext cx="417491" cy="417491"/>
          </a:xfrm>
          <a:prstGeom prst="rect">
            <a:avLst/>
          </a:prstGeom>
        </p:spPr>
      </p:pic>
      <p:sp>
        <p:nvSpPr>
          <p:cNvPr id="57" name="Rounded Rectangle 3">
            <a:extLst>
              <a:ext uri="{FF2B5EF4-FFF2-40B4-BE49-F238E27FC236}">
                <a16:creationId xmlns:a16="http://schemas.microsoft.com/office/drawing/2014/main" id="{0C3B4271-77E4-16A9-C63F-E42659132E81}"/>
              </a:ext>
            </a:extLst>
          </p:cNvPr>
          <p:cNvSpPr/>
          <p:nvPr/>
        </p:nvSpPr>
        <p:spPr>
          <a:xfrm>
            <a:off x="2050429" y="1762364"/>
            <a:ext cx="4718068" cy="3950147"/>
          </a:xfrm>
          <a:prstGeom prst="roundRect">
            <a:avLst>
              <a:gd name="adj" fmla="val 3112"/>
            </a:avLst>
          </a:prstGeom>
          <a:solidFill>
            <a:srgbClr val="EBF8FF"/>
          </a:solidFill>
          <a:ln w="19050">
            <a:solidFill>
              <a:srgbClr val="0070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400"/>
          </a:p>
        </p:txBody>
      </p:sp>
      <p:sp>
        <p:nvSpPr>
          <p:cNvPr id="58" name="Rounded Rectangle 5">
            <a:extLst>
              <a:ext uri="{FF2B5EF4-FFF2-40B4-BE49-F238E27FC236}">
                <a16:creationId xmlns:a16="http://schemas.microsoft.com/office/drawing/2014/main" id="{B7454DD1-A464-683B-D9C8-F92B2DF8F441}"/>
              </a:ext>
            </a:extLst>
          </p:cNvPr>
          <p:cNvSpPr/>
          <p:nvPr/>
        </p:nvSpPr>
        <p:spPr>
          <a:xfrm>
            <a:off x="2210368" y="2244363"/>
            <a:ext cx="4353326" cy="1998881"/>
          </a:xfrm>
          <a:prstGeom prst="roundRect">
            <a:avLst>
              <a:gd name="adj" fmla="val 3984"/>
            </a:avLst>
          </a:prstGeom>
          <a:solidFill>
            <a:schemeClr val="bg1"/>
          </a:solidFill>
          <a:ln w="19050">
            <a:solidFill>
              <a:srgbClr val="0070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DE" sz="1100" dirty="0">
              <a:solidFill>
                <a:srgbClr val="FFFFFF"/>
              </a:solidFill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59" name="Text 26">
            <a:extLst>
              <a:ext uri="{FF2B5EF4-FFF2-40B4-BE49-F238E27FC236}">
                <a16:creationId xmlns:a16="http://schemas.microsoft.com/office/drawing/2014/main" id="{4AD02808-07F4-E06E-5217-A53D0F7A6B0C}"/>
              </a:ext>
            </a:extLst>
          </p:cNvPr>
          <p:cNvSpPr/>
          <p:nvPr/>
        </p:nvSpPr>
        <p:spPr>
          <a:xfrm>
            <a:off x="2341461" y="2380933"/>
            <a:ext cx="928327" cy="128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00"/>
              </a:lnSpc>
            </a:pPr>
            <a:r>
              <a:rPr lang="en-US" sz="900" dirty="0">
                <a:solidFill>
                  <a:srgbClr val="354A5F"/>
                </a:solidFill>
                <a:latin typeface="72 Bold" pitchFamily="34" charset="0"/>
                <a:ea typeface="72 Bold" pitchFamily="34" charset="-122"/>
                <a:cs typeface="72 Bold" pitchFamily="34" charset="-120"/>
              </a:rPr>
              <a:t>Subaccount</a:t>
            </a:r>
            <a:endParaRPr lang="en-US" sz="900" dirty="0">
              <a:solidFill>
                <a:srgbClr val="354A5F"/>
              </a:solidFill>
            </a:endParaRPr>
          </a:p>
        </p:txBody>
      </p:sp>
      <p:pic>
        <p:nvPicPr>
          <p:cNvPr id="60" name="Graphic 59">
            <a:extLst>
              <a:ext uri="{FF2B5EF4-FFF2-40B4-BE49-F238E27FC236}">
                <a16:creationId xmlns:a16="http://schemas.microsoft.com/office/drawing/2014/main" id="{7BED070D-2A7B-0CC0-1A61-5ECC3CEE5E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42152" y="2473585"/>
            <a:ext cx="417491" cy="417491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69588FFF-F55D-944F-DFF9-E19B36AFB5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73214" y="3209419"/>
            <a:ext cx="417491" cy="417491"/>
          </a:xfrm>
          <a:prstGeom prst="rect">
            <a:avLst/>
          </a:prstGeom>
        </p:spPr>
      </p:pic>
      <p:sp>
        <p:nvSpPr>
          <p:cNvPr id="62" name="Text 26">
            <a:extLst>
              <a:ext uri="{FF2B5EF4-FFF2-40B4-BE49-F238E27FC236}">
                <a16:creationId xmlns:a16="http://schemas.microsoft.com/office/drawing/2014/main" id="{BFC0A280-FB3B-1093-09F3-AAE21E5CCE33}"/>
              </a:ext>
            </a:extLst>
          </p:cNvPr>
          <p:cNvSpPr/>
          <p:nvPr/>
        </p:nvSpPr>
        <p:spPr>
          <a:xfrm>
            <a:off x="4315278" y="3699743"/>
            <a:ext cx="1274184" cy="23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00"/>
              </a:lnSpc>
            </a:pPr>
            <a:r>
              <a:rPr lang="en-US" sz="900" dirty="0">
                <a:solidFill>
                  <a:srgbClr val="1D2D3E"/>
                </a:solidFill>
                <a:latin typeface="72 Bold" pitchFamily="34" charset="0"/>
                <a:ea typeface="72 Bold" pitchFamily="34" charset="-122"/>
                <a:cs typeface="72 Bold" pitchFamily="34" charset="-120"/>
              </a:rPr>
              <a:t>Destination</a:t>
            </a:r>
            <a:endParaRPr lang="en-US" sz="900" dirty="0">
              <a:solidFill>
                <a:srgbClr val="1D2D3E"/>
              </a:solidFill>
            </a:endParaRPr>
          </a:p>
        </p:txBody>
      </p:sp>
      <p:cxnSp>
        <p:nvCxnSpPr>
          <p:cNvPr id="1026" name="Elbow Connector 19">
            <a:extLst>
              <a:ext uri="{FF2B5EF4-FFF2-40B4-BE49-F238E27FC236}">
                <a16:creationId xmlns:a16="http://schemas.microsoft.com/office/drawing/2014/main" id="{D033857A-2D58-9E7E-2F05-79A4BDA8485B}"/>
              </a:ext>
            </a:extLst>
          </p:cNvPr>
          <p:cNvCxnSpPr>
            <a:cxnSpLocks/>
            <a:stCxn id="61" idx="0"/>
            <a:endCxn id="60" idx="1"/>
          </p:cNvCxnSpPr>
          <p:nvPr/>
        </p:nvCxnSpPr>
        <p:spPr>
          <a:xfrm rot="5400000" flipH="1" flipV="1">
            <a:off x="5098513" y="2565779"/>
            <a:ext cx="527088" cy="760192"/>
          </a:xfrm>
          <a:prstGeom prst="bentConnector2">
            <a:avLst/>
          </a:prstGeom>
          <a:ln w="19050" cap="rnd">
            <a:solidFill>
              <a:srgbClr val="354A5F"/>
            </a:solidFill>
            <a:miter lim="800000"/>
            <a:headEnd w="sm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7" name="Rounded Rectangle 20">
            <a:extLst>
              <a:ext uri="{FF2B5EF4-FFF2-40B4-BE49-F238E27FC236}">
                <a16:creationId xmlns:a16="http://schemas.microsoft.com/office/drawing/2014/main" id="{FEC44E91-B228-9D46-5A7F-04D730D5DB13}"/>
              </a:ext>
            </a:extLst>
          </p:cNvPr>
          <p:cNvSpPr/>
          <p:nvPr/>
        </p:nvSpPr>
        <p:spPr>
          <a:xfrm>
            <a:off x="3749938" y="4573690"/>
            <a:ext cx="1274185" cy="969537"/>
          </a:xfrm>
          <a:prstGeom prst="roundRect">
            <a:avLst>
              <a:gd name="adj" fmla="val 6525"/>
            </a:avLst>
          </a:prstGeom>
          <a:solidFill>
            <a:schemeClr val="bg1"/>
          </a:solidFill>
          <a:ln w="19050">
            <a:solidFill>
              <a:srgbClr val="0070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DE" sz="1100" dirty="0">
              <a:solidFill>
                <a:srgbClr val="FFFFFF"/>
              </a:solidFill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pic>
        <p:nvPicPr>
          <p:cNvPr id="1030" name="Graphic 1029">
            <a:extLst>
              <a:ext uri="{FF2B5EF4-FFF2-40B4-BE49-F238E27FC236}">
                <a16:creationId xmlns:a16="http://schemas.microsoft.com/office/drawing/2014/main" id="{CBC2C7C0-E474-F44C-74E2-3F9D059751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0800000" flipV="1">
            <a:off x="1036439" y="4978349"/>
            <a:ext cx="417491" cy="417491"/>
          </a:xfrm>
          <a:prstGeom prst="rect">
            <a:avLst/>
          </a:prstGeom>
        </p:spPr>
      </p:pic>
      <p:sp>
        <p:nvSpPr>
          <p:cNvPr id="1031" name="Text 32">
            <a:extLst>
              <a:ext uri="{FF2B5EF4-FFF2-40B4-BE49-F238E27FC236}">
                <a16:creationId xmlns:a16="http://schemas.microsoft.com/office/drawing/2014/main" id="{7FCAB44A-8ECD-4514-CD39-AF20283F337C}"/>
              </a:ext>
            </a:extLst>
          </p:cNvPr>
          <p:cNvSpPr/>
          <p:nvPr/>
        </p:nvSpPr>
        <p:spPr>
          <a:xfrm>
            <a:off x="511960" y="5483561"/>
            <a:ext cx="1370900" cy="220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00" dirty="0">
                <a:solidFill>
                  <a:srgbClr val="5B738B">
                    <a:alpha val="100000"/>
                  </a:srgbClr>
                </a:solidFill>
                <a:latin typeface="72 Semibold" pitchFamily="34" charset="0"/>
                <a:ea typeface="72 Semibold" pitchFamily="34" charset="-122"/>
                <a:cs typeface="72 Semibold" pitchFamily="34" charset="-120"/>
              </a:rPr>
              <a:t>3rd party identity provider /</a:t>
            </a:r>
          </a:p>
          <a:p>
            <a:pPr algn="ctr"/>
            <a:r>
              <a:rPr lang="en-US" sz="700" dirty="0">
                <a:solidFill>
                  <a:srgbClr val="5B738B">
                    <a:alpha val="100000"/>
                  </a:srgbClr>
                </a:solidFill>
                <a:latin typeface="72 Semibold" pitchFamily="34" charset="0"/>
                <a:ea typeface="72 Semibold" pitchFamily="34" charset="-122"/>
                <a:cs typeface="72 Semibold" pitchFamily="34" charset="-120"/>
              </a:rPr>
              <a:t>Identity management</a:t>
            </a:r>
          </a:p>
          <a:p>
            <a:pPr algn="ctr"/>
            <a:endParaRPr lang="en-US" sz="700" dirty="0"/>
          </a:p>
        </p:txBody>
      </p:sp>
      <p:sp>
        <p:nvSpPr>
          <p:cNvPr id="1032" name="Text 26">
            <a:extLst>
              <a:ext uri="{FF2B5EF4-FFF2-40B4-BE49-F238E27FC236}">
                <a16:creationId xmlns:a16="http://schemas.microsoft.com/office/drawing/2014/main" id="{33D711D8-F80E-9799-CEE0-4751DC04BF49}"/>
              </a:ext>
            </a:extLst>
          </p:cNvPr>
          <p:cNvSpPr/>
          <p:nvPr/>
        </p:nvSpPr>
        <p:spPr>
          <a:xfrm>
            <a:off x="562751" y="3671654"/>
            <a:ext cx="1370900" cy="217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00"/>
              </a:lnSpc>
            </a:pPr>
            <a:r>
              <a:rPr lang="en-US" sz="1100" dirty="0">
                <a:solidFill>
                  <a:srgbClr val="1D2D3E"/>
                </a:solidFill>
                <a:latin typeface="72 Bold" pitchFamily="34" charset="0"/>
                <a:cs typeface="72 Bold" pitchFamily="34" charset="-120"/>
              </a:rPr>
              <a:t>Application Client Fiori</a:t>
            </a:r>
            <a:endParaRPr lang="en-US" sz="1100" dirty="0">
              <a:solidFill>
                <a:srgbClr val="1D2D3E"/>
              </a:solidFill>
            </a:endParaRPr>
          </a:p>
        </p:txBody>
      </p:sp>
      <p:cxnSp>
        <p:nvCxnSpPr>
          <p:cNvPr id="1033" name="Straight Arrow Connector 1032">
            <a:extLst>
              <a:ext uri="{FF2B5EF4-FFF2-40B4-BE49-F238E27FC236}">
                <a16:creationId xmlns:a16="http://schemas.microsoft.com/office/drawing/2014/main" id="{CA6A0F04-EB82-7651-4FDF-74FB9CFBF975}"/>
              </a:ext>
            </a:extLst>
          </p:cNvPr>
          <p:cNvCxnSpPr>
            <a:cxnSpLocks/>
          </p:cNvCxnSpPr>
          <p:nvPr/>
        </p:nvCxnSpPr>
        <p:spPr>
          <a:xfrm flipV="1">
            <a:off x="1547718" y="5148882"/>
            <a:ext cx="2191768" cy="11008"/>
          </a:xfrm>
          <a:prstGeom prst="straightConnector1">
            <a:avLst/>
          </a:prstGeom>
          <a:ln w="19050">
            <a:solidFill>
              <a:srgbClr val="354A5F"/>
            </a:solidFill>
            <a:prstDash val="dash"/>
            <a:headEnd w="sm" len="sm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5" name="Graphic 1034">
            <a:extLst>
              <a:ext uri="{FF2B5EF4-FFF2-40B4-BE49-F238E27FC236}">
                <a16:creationId xmlns:a16="http://schemas.microsoft.com/office/drawing/2014/main" id="{1EE8A14F-890F-78C8-94CD-925A77F055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19796" y="1933664"/>
            <a:ext cx="551653" cy="153237"/>
          </a:xfrm>
          <a:prstGeom prst="rect">
            <a:avLst/>
          </a:prstGeom>
        </p:spPr>
      </p:pic>
      <p:cxnSp>
        <p:nvCxnSpPr>
          <p:cNvPr id="1037" name="Straight Arrow Connector 1036">
            <a:extLst>
              <a:ext uri="{FF2B5EF4-FFF2-40B4-BE49-F238E27FC236}">
                <a16:creationId xmlns:a16="http://schemas.microsoft.com/office/drawing/2014/main" id="{533C283F-AA77-D8CC-A3C9-AAA7C3A4FDF3}"/>
              </a:ext>
            </a:extLst>
          </p:cNvPr>
          <p:cNvCxnSpPr>
            <a:cxnSpLocks/>
            <a:stCxn id="1039" idx="3"/>
          </p:cNvCxnSpPr>
          <p:nvPr/>
        </p:nvCxnSpPr>
        <p:spPr>
          <a:xfrm flipV="1">
            <a:off x="1456946" y="3420690"/>
            <a:ext cx="1151109" cy="12737"/>
          </a:xfrm>
          <a:prstGeom prst="straightConnector1">
            <a:avLst/>
          </a:prstGeom>
          <a:ln w="19050">
            <a:solidFill>
              <a:srgbClr val="354A5F"/>
            </a:solidFill>
            <a:headEnd w="sm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Straight Arrow Connector 1037">
            <a:extLst>
              <a:ext uri="{FF2B5EF4-FFF2-40B4-BE49-F238E27FC236}">
                <a16:creationId xmlns:a16="http://schemas.microsoft.com/office/drawing/2014/main" id="{818B376F-F515-2EB8-8A0A-F28C6514E026}"/>
              </a:ext>
            </a:extLst>
          </p:cNvPr>
          <p:cNvCxnSpPr>
            <a:cxnSpLocks/>
            <a:endCxn id="1039" idx="0"/>
          </p:cNvCxnSpPr>
          <p:nvPr/>
        </p:nvCxnSpPr>
        <p:spPr>
          <a:xfrm>
            <a:off x="1248200" y="2745292"/>
            <a:ext cx="0" cy="479389"/>
          </a:xfrm>
          <a:prstGeom prst="straightConnector1">
            <a:avLst/>
          </a:prstGeom>
          <a:ln w="19050">
            <a:solidFill>
              <a:srgbClr val="354A5F"/>
            </a:solidFill>
            <a:headEnd w="sm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9" name="Graphic 1038">
            <a:extLst>
              <a:ext uri="{FF2B5EF4-FFF2-40B4-BE49-F238E27FC236}">
                <a16:creationId xmlns:a16="http://schemas.microsoft.com/office/drawing/2014/main" id="{AB5C299E-3D78-0E38-64D9-F683586C18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9454" y="3224681"/>
            <a:ext cx="417491" cy="417491"/>
          </a:xfrm>
          <a:prstGeom prst="rect">
            <a:avLst/>
          </a:prstGeom>
        </p:spPr>
      </p:pic>
      <p:pic>
        <p:nvPicPr>
          <p:cNvPr id="1040" name="Graphic 1039">
            <a:extLst>
              <a:ext uri="{FF2B5EF4-FFF2-40B4-BE49-F238E27FC236}">
                <a16:creationId xmlns:a16="http://schemas.microsoft.com/office/drawing/2014/main" id="{9CF9357B-F5CC-D64A-AECB-886B98557F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44341" y="2118659"/>
            <a:ext cx="417491" cy="417491"/>
          </a:xfrm>
          <a:prstGeom prst="rect">
            <a:avLst/>
          </a:prstGeom>
        </p:spPr>
      </p:pic>
      <p:cxnSp>
        <p:nvCxnSpPr>
          <p:cNvPr id="1041" name="Elbow Connector 123">
            <a:extLst>
              <a:ext uri="{FF2B5EF4-FFF2-40B4-BE49-F238E27FC236}">
                <a16:creationId xmlns:a16="http://schemas.microsoft.com/office/drawing/2014/main" id="{59FB0F3E-9015-0AF6-2CCF-3C943F035F83}"/>
              </a:ext>
            </a:extLst>
          </p:cNvPr>
          <p:cNvCxnSpPr>
            <a:cxnSpLocks/>
          </p:cNvCxnSpPr>
          <p:nvPr/>
        </p:nvCxnSpPr>
        <p:spPr>
          <a:xfrm>
            <a:off x="1197365" y="3899803"/>
            <a:ext cx="2433752" cy="1000669"/>
          </a:xfrm>
          <a:prstGeom prst="bentConnector3">
            <a:avLst>
              <a:gd name="adj1" fmla="val -543"/>
            </a:avLst>
          </a:prstGeom>
          <a:ln w="19050" cap="rnd">
            <a:solidFill>
              <a:srgbClr val="188918"/>
            </a:solidFill>
            <a:round/>
            <a:headEnd w="sm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" name="Text 26">
            <a:extLst>
              <a:ext uri="{FF2B5EF4-FFF2-40B4-BE49-F238E27FC236}">
                <a16:creationId xmlns:a16="http://schemas.microsoft.com/office/drawing/2014/main" id="{002C343B-8A6D-2112-4B29-2DE603E82F4C}"/>
              </a:ext>
            </a:extLst>
          </p:cNvPr>
          <p:cNvSpPr/>
          <p:nvPr/>
        </p:nvSpPr>
        <p:spPr>
          <a:xfrm>
            <a:off x="810850" y="2603476"/>
            <a:ext cx="835528" cy="141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00"/>
              </a:lnSpc>
            </a:pPr>
            <a:r>
              <a:rPr lang="en-US" sz="1000" dirty="0">
                <a:solidFill>
                  <a:srgbClr val="1D2D3E"/>
                </a:solidFill>
                <a:latin typeface="72 Bold" pitchFamily="34" charset="0"/>
                <a:ea typeface="72 Bold" pitchFamily="34" charset="-122"/>
                <a:cs typeface="72 Bold" pitchFamily="34" charset="-120"/>
              </a:rPr>
              <a:t>End User</a:t>
            </a:r>
            <a:endParaRPr lang="en-US" sz="1000" dirty="0">
              <a:solidFill>
                <a:srgbClr val="1D2D3E"/>
              </a:solidFill>
            </a:endParaRPr>
          </a:p>
        </p:txBody>
      </p:sp>
      <p:pic>
        <p:nvPicPr>
          <p:cNvPr id="1045" name="Graphic 1044">
            <a:extLst>
              <a:ext uri="{FF2B5EF4-FFF2-40B4-BE49-F238E27FC236}">
                <a16:creationId xmlns:a16="http://schemas.microsoft.com/office/drawing/2014/main" id="{DE5131A2-DF22-9745-16B1-F6564130AA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195258" y="4641957"/>
            <a:ext cx="417491" cy="417491"/>
          </a:xfrm>
          <a:prstGeom prst="rect">
            <a:avLst/>
          </a:prstGeom>
        </p:spPr>
      </p:pic>
      <p:sp>
        <p:nvSpPr>
          <p:cNvPr id="1046" name="Text 26">
            <a:extLst>
              <a:ext uri="{FF2B5EF4-FFF2-40B4-BE49-F238E27FC236}">
                <a16:creationId xmlns:a16="http://schemas.microsoft.com/office/drawing/2014/main" id="{DBF86AC1-8006-0305-0D7F-9C919C74F78F}"/>
              </a:ext>
            </a:extLst>
          </p:cNvPr>
          <p:cNvSpPr/>
          <p:nvPr/>
        </p:nvSpPr>
        <p:spPr>
          <a:xfrm>
            <a:off x="3762879" y="5128329"/>
            <a:ext cx="1274184" cy="23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00"/>
              </a:lnSpc>
            </a:pPr>
            <a:r>
              <a:rPr lang="en-US" sz="900" dirty="0">
                <a:solidFill>
                  <a:srgbClr val="1D2D3E"/>
                </a:solidFill>
                <a:latin typeface="72 Bold" pitchFamily="34" charset="0"/>
                <a:ea typeface="72 Bold" pitchFamily="34" charset="-122"/>
                <a:cs typeface="72 Bold" pitchFamily="34" charset="-120"/>
              </a:rPr>
              <a:t>SAP Cloud Identity Service</a:t>
            </a:r>
            <a:endParaRPr lang="en-US" sz="900" dirty="0">
              <a:solidFill>
                <a:srgbClr val="1D2D3E"/>
              </a:solidFill>
            </a:endParaRPr>
          </a:p>
        </p:txBody>
      </p:sp>
      <p:cxnSp>
        <p:nvCxnSpPr>
          <p:cNvPr id="1052" name="Straight Arrow Connector 1051">
            <a:extLst>
              <a:ext uri="{FF2B5EF4-FFF2-40B4-BE49-F238E27FC236}">
                <a16:creationId xmlns:a16="http://schemas.microsoft.com/office/drawing/2014/main" id="{0ABF24DB-B462-A0AE-0F1E-294AF8EE7E80}"/>
              </a:ext>
            </a:extLst>
          </p:cNvPr>
          <p:cNvCxnSpPr>
            <a:cxnSpLocks/>
            <a:stCxn id="1053" idx="3"/>
          </p:cNvCxnSpPr>
          <p:nvPr/>
        </p:nvCxnSpPr>
        <p:spPr>
          <a:xfrm>
            <a:off x="7499651" y="2681292"/>
            <a:ext cx="518346" cy="0"/>
          </a:xfrm>
          <a:prstGeom prst="straightConnector1">
            <a:avLst/>
          </a:prstGeom>
          <a:ln w="19050">
            <a:solidFill>
              <a:srgbClr val="354A5F"/>
            </a:solidFill>
            <a:headEnd w="sm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3" name="Rounded Rectangle 162">
            <a:extLst>
              <a:ext uri="{FF2B5EF4-FFF2-40B4-BE49-F238E27FC236}">
                <a16:creationId xmlns:a16="http://schemas.microsoft.com/office/drawing/2014/main" id="{82B3350C-DCEE-A846-7133-D1D5EAD50B17}"/>
              </a:ext>
            </a:extLst>
          </p:cNvPr>
          <p:cNvSpPr/>
          <p:nvPr/>
        </p:nvSpPr>
        <p:spPr>
          <a:xfrm>
            <a:off x="6936066" y="2617689"/>
            <a:ext cx="563585" cy="127206"/>
          </a:xfrm>
          <a:prstGeom prst="roundRect">
            <a:avLst>
              <a:gd name="adj" fmla="val 50000"/>
            </a:avLst>
          </a:prstGeom>
          <a:solidFill>
            <a:srgbClr val="354A5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b="1" dirty="0">
                <a:solidFill>
                  <a:schemeClr val="bg1"/>
                </a:solidFill>
                <a:latin typeface="72" panose="020B0503030000000003" pitchFamily="34" charset="0"/>
                <a:cs typeface="72" panose="020B0503030000000003" pitchFamily="34" charset="0"/>
              </a:rPr>
              <a:t>Task Data</a:t>
            </a:r>
            <a:endParaRPr lang="en-DE" sz="1200" dirty="0"/>
          </a:p>
        </p:txBody>
      </p:sp>
      <p:cxnSp>
        <p:nvCxnSpPr>
          <p:cNvPr id="1054" name="Straight Arrow Connector 1053">
            <a:extLst>
              <a:ext uri="{FF2B5EF4-FFF2-40B4-BE49-F238E27FC236}">
                <a16:creationId xmlns:a16="http://schemas.microsoft.com/office/drawing/2014/main" id="{44973F43-CE69-7FF1-3E6E-650FF473379E}"/>
              </a:ext>
            </a:extLst>
          </p:cNvPr>
          <p:cNvCxnSpPr>
            <a:cxnSpLocks/>
            <a:endCxn id="1053" idx="1"/>
          </p:cNvCxnSpPr>
          <p:nvPr/>
        </p:nvCxnSpPr>
        <p:spPr>
          <a:xfrm>
            <a:off x="6138556" y="2681292"/>
            <a:ext cx="797510" cy="0"/>
          </a:xfrm>
          <a:prstGeom prst="straightConnector1">
            <a:avLst/>
          </a:prstGeom>
          <a:ln w="19050">
            <a:solidFill>
              <a:srgbClr val="354A5F"/>
            </a:solidFill>
            <a:headEnd w="sm" len="sm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9" name="Graphic 1058">
            <a:extLst>
              <a:ext uri="{FF2B5EF4-FFF2-40B4-BE49-F238E27FC236}">
                <a16:creationId xmlns:a16="http://schemas.microsoft.com/office/drawing/2014/main" id="{8557D153-AE29-A901-CCE4-2A68026CCF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805566" y="3092428"/>
            <a:ext cx="417491" cy="417492"/>
          </a:xfrm>
          <a:prstGeom prst="rect">
            <a:avLst/>
          </a:prstGeom>
        </p:spPr>
      </p:pic>
      <p:sp>
        <p:nvSpPr>
          <p:cNvPr id="1060" name="Text 26">
            <a:extLst>
              <a:ext uri="{FF2B5EF4-FFF2-40B4-BE49-F238E27FC236}">
                <a16:creationId xmlns:a16="http://schemas.microsoft.com/office/drawing/2014/main" id="{83234474-09E3-C5DB-CAF7-E1370290E2A0}"/>
              </a:ext>
            </a:extLst>
          </p:cNvPr>
          <p:cNvSpPr/>
          <p:nvPr/>
        </p:nvSpPr>
        <p:spPr>
          <a:xfrm>
            <a:off x="2585177" y="3628814"/>
            <a:ext cx="856622" cy="23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00"/>
              </a:lnSpc>
            </a:pPr>
            <a:r>
              <a:rPr lang="en-US" sz="900" dirty="0">
                <a:solidFill>
                  <a:srgbClr val="1D2D3E"/>
                </a:solidFill>
                <a:latin typeface="72 Bold" pitchFamily="34" charset="0"/>
                <a:ea typeface="72 Bold" pitchFamily="34" charset="-122"/>
                <a:cs typeface="72 Bold" pitchFamily="34" charset="-120"/>
              </a:rPr>
              <a:t>Joule</a:t>
            </a:r>
          </a:p>
          <a:p>
            <a:pPr algn="ctr">
              <a:lnSpc>
                <a:spcPts val="1100"/>
              </a:lnSpc>
            </a:pPr>
            <a:r>
              <a:rPr lang="en-US" sz="900" dirty="0">
                <a:solidFill>
                  <a:srgbClr val="1D2D3E"/>
                </a:solidFill>
                <a:latin typeface="72 Bold" pitchFamily="34" charset="0"/>
                <a:cs typeface="72 Bold" pitchFamily="34" charset="-120"/>
              </a:rPr>
              <a:t>Assistant</a:t>
            </a:r>
            <a:endParaRPr lang="en-US" sz="900" dirty="0">
              <a:solidFill>
                <a:srgbClr val="1D2D3E"/>
              </a:solidFill>
            </a:endParaRPr>
          </a:p>
        </p:txBody>
      </p:sp>
      <p:cxnSp>
        <p:nvCxnSpPr>
          <p:cNvPr id="1061" name="Straight Arrow Connector 1060">
            <a:extLst>
              <a:ext uri="{FF2B5EF4-FFF2-40B4-BE49-F238E27FC236}">
                <a16:creationId xmlns:a16="http://schemas.microsoft.com/office/drawing/2014/main" id="{2334B12A-BFD7-4DAD-A2D5-6CA3046F8AD7}"/>
              </a:ext>
            </a:extLst>
          </p:cNvPr>
          <p:cNvCxnSpPr>
            <a:cxnSpLocks/>
          </p:cNvCxnSpPr>
          <p:nvPr/>
        </p:nvCxnSpPr>
        <p:spPr>
          <a:xfrm flipV="1">
            <a:off x="3461640" y="3420689"/>
            <a:ext cx="1151109" cy="12737"/>
          </a:xfrm>
          <a:prstGeom prst="straightConnector1">
            <a:avLst/>
          </a:prstGeom>
          <a:ln w="19050">
            <a:solidFill>
              <a:srgbClr val="354A5F"/>
            </a:solidFill>
            <a:headEnd w="sm" len="sm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63" name="Picture 1062">
            <a:extLst>
              <a:ext uri="{FF2B5EF4-FFF2-40B4-BE49-F238E27FC236}">
                <a16:creationId xmlns:a16="http://schemas.microsoft.com/office/drawing/2014/main" id="{9127CBC8-72A0-FF74-E36A-1128CC3B7C9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90882" y="2935762"/>
            <a:ext cx="1274174" cy="390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52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</Words>
  <Application>Microsoft Office PowerPoint</Application>
  <PresentationFormat>Widescreen</PresentationFormat>
  <Paragraphs>33</Paragraphs>
  <Slides>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72</vt:lpstr>
      <vt:lpstr>72 Bold</vt:lpstr>
      <vt:lpstr>72 Semibold</vt:lpstr>
      <vt:lpstr>Aptos</vt:lpstr>
      <vt:lpstr>Aptos Display</vt:lpstr>
      <vt:lpstr>Arial</vt:lpstr>
      <vt:lpstr>Daimler CS</vt:lpstr>
      <vt:lpstr>MB Corpo A Title Office</vt:lpstr>
      <vt:lpstr>Office Theme</vt:lpstr>
      <vt:lpstr>think-cell Slide</vt:lpstr>
      <vt:lpstr>PowerPoint Presentation</vt:lpstr>
      <vt:lpstr>Solution Architecture Diagramm </vt:lpstr>
    </vt:vector>
  </TitlesOfParts>
  <Company>Daimler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Pochampally, Kavitha (171-Extern-Beeline)</dc:creator>
  <cp:lastModifiedBy>Pochampally, Kavitha (171-Extern-Beeline)</cp:lastModifiedBy>
  <cp:revision>1</cp:revision>
  <dcterms:created xsi:type="dcterms:W3CDTF">2026-05-15T17:46:25Z</dcterms:created>
  <dcterms:modified xsi:type="dcterms:W3CDTF">2026-05-15T17:47:03Z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4dbb1d-991d-4bbd-aad5-33bac1d8ffaf_Enabled">
    <vt:lpwstr>true</vt:lpwstr>
  </property>
  <property fmtid="{D5CDD505-2E9C-101B-9397-08002B2CF9AE}" pid="3" name="MSIP_Label_924dbb1d-991d-4bbd-aad5-33bac1d8ffaf_SetDate">
    <vt:lpwstr>2026-05-15T17:46:45Z</vt:lpwstr>
  </property>
  <property fmtid="{D5CDD505-2E9C-101B-9397-08002B2CF9AE}" pid="4" name="MSIP_Label_924dbb1d-991d-4bbd-aad5-33bac1d8ffaf_Method">
    <vt:lpwstr>Standard</vt:lpwstr>
  </property>
  <property fmtid="{D5CDD505-2E9C-101B-9397-08002B2CF9AE}" pid="5" name="MSIP_Label_924dbb1d-991d-4bbd-aad5-33bac1d8ffaf_Name">
    <vt:lpwstr>924dbb1d-991d-4bbd-aad5-33bac1d8ffaf</vt:lpwstr>
  </property>
  <property fmtid="{D5CDD505-2E9C-101B-9397-08002B2CF9AE}" pid="6" name="MSIP_Label_924dbb1d-991d-4bbd-aad5-33bac1d8ffaf_SiteId">
    <vt:lpwstr>9652d7c2-1ccf-4940-8151-4a92bd474ed0</vt:lpwstr>
  </property>
  <property fmtid="{D5CDD505-2E9C-101B-9397-08002B2CF9AE}" pid="7" name="MSIP_Label_924dbb1d-991d-4bbd-aad5-33bac1d8ffaf_ActionId">
    <vt:lpwstr>5746768d-5fb2-4ca3-af07-fe9dbf0106b0</vt:lpwstr>
  </property>
  <property fmtid="{D5CDD505-2E9C-101B-9397-08002B2CF9AE}" pid="8" name="MSIP_Label_924dbb1d-991d-4bbd-aad5-33bac1d8ffaf_ContentBits">
    <vt:lpwstr>0</vt:lpwstr>
  </property>
  <property fmtid="{D5CDD505-2E9C-101B-9397-08002B2CF9AE}" pid="9" name="MSIP_Label_924dbb1d-991d-4bbd-aad5-33bac1d8ffaf_Tag">
    <vt:lpwstr>10, 3, 0, 1</vt:lpwstr>
  </property>
</Properties>
</file>