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through 4 rounds of improvement to build this.
Iteration 1 — We started with SES, a simple "weighted average" method. It proved we can predict accessory demand.
Iteration 2 — We added SARIMA, which catches seasonal patterns — like if something always dips in December. We also started cleaning bad data.
Iteration 3 — We used SAP's AutoML, which tests many algorithms automatically. It recommended BSTS — the most advanced model. BSTS breaks demand into trend, season, and noise.
Iteration 4 — Production. All three models run for every accessory, and the most accurate one wins automatically.
Everything runs inside SAP HANA Cloud using PAL. No data ever leaves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 three different ways to predict demand.
SES — A weighted average. Recent months count more. Best for steady demand.
SARIMA — Catches seasonal patterns. If something always dips in December, SARIMA sees that.
BSTS — The most advanced. Separates demand into trend, season, and noise, then runs thousands of simulations.
All three run for every accessory. The system picks the winner — whichever had the lowest error. That score is called MAPE — "how far off were the predictions." Lower is better.
Everything runs inside SAP HANA Cloud through 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a "before and after" — what we changed and why.
Forecast Horizon — Went from 6 to 12 months because the business needed full-year planning.
Test Holdout — We hold back real data to check accuracy. 3 months worked better than 5.
Models — Started with one, ended with three competing.
BSTS Iterations — More simulations gave better results. 2,000 was the sweet spot.
Data Quality — Shutdowns and bulk orders created bad spikes. Outlier detection fixed that.
Negative Clamping — SARIMA sometimes predicted negative demand. We set any negative to zero.
We made all these settings adjustable through an API — no redeployment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from raw data to forecasts.
1. Raw Data — 33,000 records, 29 months of history, all in HANA Cloud.
2. Data Quality — Remove spikes from shutdowns and one-time events.
3. SAP PAL Training — All three models train inside HANA. Python sends instructions, HANA does the math.
4. Model Competition — Test each model against real held-back data. Lowest error wins.
5. Predictions — Winner forecasts the next 12 months for all 594 accessory-vehicle-location combinations.
Everything stays inside HANA Cloud. No data leaves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example — accessory code D49.
Left side: All three models ran. MAPE is our accuracy score — "on average, how far off were the predictions?" Lower is better. SARIMA won for D49 with only 8.9% error. The system picked it automatically.
Right side: Across ALL accessories, BSTS wins almost half the time. SARIMA wins about a third. SES handles the rest. No single model is best for everything — that's why we run all three.
Note: these numbers are from one training run and may change with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lessons from this project:
1. AutoML told us BSTS was best. But its own prediction function had a bug. So we took the recommendation and built BSTS ourselves. Best of both worlds.
2. No single model fits all accessories. Steady demand — SES wins. Seasonal patterns — SARIMA wins. Complex patterns — BSTS wins. Running all three means every accessory gets its best fit.
3. Clean data matters more than fancy models. Factory shutdowns and bulk orders created spikes that confused everything. Outlier detection made a huge difference.
4. Small parameter changes give big accuracy gains. We made them all adjustable through an API — no redeployment needed.
5. Everything runs inside SAP HANA Cloud using PAL. No data leaves the database. Enterprise security and speed built in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OUR SAP PAL JOURNEY</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From Guesswork to AI Intelligence</a:t>
            </a:r>
            <a:endParaRPr lang="en-US" sz="36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4 iterations, 13 experimental scripts, and deep SAP PAL exploration to build a production forecasting engine</a:t>
            </a:r>
            <a:endParaRPr lang="en-US" sz="1300" dirty="0"/>
          </a:p>
        </p:txBody>
      </p:sp>
      <p:sp>
        <p:nvSpPr>
          <p:cNvPr id="7" name="Shape 5"/>
          <p:cNvSpPr/>
          <p:nvPr/>
        </p:nvSpPr>
        <p:spPr>
          <a:xfrm>
            <a:off x="731520" y="1965960"/>
            <a:ext cx="7680960" cy="0"/>
          </a:xfrm>
          <a:prstGeom prst="line">
            <a:avLst/>
          </a:prstGeom>
          <a:noFill/>
          <a:ln w="31750">
            <a:solidFill>
              <a:srgbClr val="00BCD4"/>
            </a:solidFill>
            <a:prstDash val="solid"/>
          </a:ln>
        </p:spPr>
      </p:sp>
      <p:sp>
        <p:nvSpPr>
          <p:cNvPr id="8" name="Shape 6"/>
          <p:cNvSpPr/>
          <p:nvPr/>
        </p:nvSpPr>
        <p:spPr>
          <a:xfrm>
            <a:off x="1097280" y="1737360"/>
            <a:ext cx="457200" cy="457200"/>
          </a:xfrm>
          <a:prstGeom prst="ellipse">
            <a:avLst/>
          </a:prstGeom>
          <a:solidFill>
            <a:srgbClr val="00BCD4"/>
          </a:solidFill>
          <a:ln w="38100">
            <a:solidFill>
              <a:srgbClr val="0F1923"/>
            </a:solidFill>
            <a:prstDash val="solid"/>
          </a:ln>
        </p:spPr>
      </p:sp>
      <p:sp>
        <p:nvSpPr>
          <p:cNvPr id="9" name="Text 7"/>
          <p:cNvSpPr/>
          <p:nvPr/>
        </p:nvSpPr>
        <p:spPr>
          <a:xfrm>
            <a:off x="109728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01</a:t>
            </a:r>
            <a:endParaRPr lang="en-US" sz="1200" dirty="0"/>
          </a:p>
        </p:txBody>
      </p:sp>
      <p:sp>
        <p:nvSpPr>
          <p:cNvPr id="10" name="Shape 8"/>
          <p:cNvSpPr/>
          <p:nvPr/>
        </p:nvSpPr>
        <p:spPr>
          <a:xfrm>
            <a:off x="457200" y="2377440"/>
            <a:ext cx="1920240" cy="2148840"/>
          </a:xfrm>
          <a:prstGeom prst="rect">
            <a:avLst/>
          </a:prstGeom>
          <a:solidFill>
            <a:srgbClr val="172A3A"/>
          </a:solidFill>
          <a:ln w="19050">
            <a:solidFill>
              <a:srgbClr val="00BCD4"/>
            </a:solidFill>
            <a:prstDash val="solid"/>
          </a:ln>
        </p:spPr>
      </p:sp>
      <p:sp>
        <p:nvSpPr>
          <p:cNvPr id="11" name="Text 9"/>
          <p:cNvSpPr/>
          <p:nvPr/>
        </p:nvSpPr>
        <p:spPr>
          <a:xfrm>
            <a:off x="548640" y="2450592"/>
            <a:ext cx="1737360" cy="228600"/>
          </a:xfrm>
          <a:prstGeom prst="rect">
            <a:avLst/>
          </a:prstGeom>
          <a:noFill/>
          <a:ln/>
        </p:spPr>
        <p:txBody>
          <a:bodyPr wrap="square" lIns="0" tIns="0" rIns="0" bIns="0" rtlCol="0" anchor="ctr"/>
          <a:lstStyle/>
          <a:p>
            <a:pPr algn="l" indent="0" marL="0">
              <a:buNone/>
            </a:pPr>
            <a:r>
              <a:rPr lang="en-US" sz="800" b="1" dirty="0">
                <a:solidFill>
                  <a:srgbClr val="00BCD4"/>
                </a:solidFill>
                <a:latin typeface="Arial" pitchFamily="34" charset="0"/>
                <a:ea typeface="Arial" pitchFamily="34" charset="-122"/>
                <a:cs typeface="Arial" pitchFamily="34" charset="-120"/>
              </a:rPr>
              <a:t>ITERATION 1</a:t>
            </a:r>
            <a:endParaRPr lang="en-US" sz="800" dirty="0"/>
          </a:p>
        </p:txBody>
      </p:sp>
      <p:sp>
        <p:nvSpPr>
          <p:cNvPr id="12" name="Text 10"/>
          <p:cNvSpPr/>
          <p:nvPr/>
        </p:nvSpPr>
        <p:spPr>
          <a:xfrm>
            <a:off x="54864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SES Baseline</a:t>
            </a:r>
            <a:endParaRPr lang="en-US" sz="1400" dirty="0"/>
          </a:p>
        </p:txBody>
      </p:sp>
      <p:sp>
        <p:nvSpPr>
          <p:cNvPr id="13" name="Text 11"/>
          <p:cNvSpPr/>
          <p:nvPr/>
        </p:nvSpPr>
        <p:spPr>
          <a:xfrm>
            <a:off x="54864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PAL_BROWN_EXPSMOOTH</a:t>
            </a:r>
            <a:endParaRPr lang="en-US" sz="1000" dirty="0"/>
          </a:p>
        </p:txBody>
      </p:sp>
      <p:sp>
        <p:nvSpPr>
          <p:cNvPr id="14" name="Text 12"/>
          <p:cNvSpPr/>
          <p:nvPr/>
        </p:nvSpPr>
        <p:spPr>
          <a:xfrm>
            <a:off x="54864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6-month forecast horizon</a:t>
            </a:r>
            <a:endParaRPr lang="en-US" sz="950" dirty="0"/>
          </a:p>
        </p:txBody>
      </p:sp>
      <p:sp>
        <p:nvSpPr>
          <p:cNvPr id="15" name="Text 13"/>
          <p:cNvSpPr/>
          <p:nvPr/>
        </p:nvSpPr>
        <p:spPr>
          <a:xfrm>
            <a:off x="54864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Single param: FORECAST_NUM</a:t>
            </a:r>
            <a:endParaRPr lang="en-US" sz="950" dirty="0"/>
          </a:p>
        </p:txBody>
      </p:sp>
      <p:sp>
        <p:nvSpPr>
          <p:cNvPr id="16" name="Text 14"/>
          <p:cNvSpPr/>
          <p:nvPr/>
        </p:nvSpPr>
        <p:spPr>
          <a:xfrm>
            <a:off x="54864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Proved the concept works</a:t>
            </a:r>
            <a:endParaRPr lang="en-US" sz="950" dirty="0"/>
          </a:p>
        </p:txBody>
      </p:sp>
      <p:sp>
        <p:nvSpPr>
          <p:cNvPr id="17" name="Shape 15"/>
          <p:cNvSpPr/>
          <p:nvPr/>
        </p:nvSpPr>
        <p:spPr>
          <a:xfrm>
            <a:off x="3246120" y="1737360"/>
            <a:ext cx="457200" cy="457200"/>
          </a:xfrm>
          <a:prstGeom prst="ellipse">
            <a:avLst/>
          </a:prstGeom>
          <a:solidFill>
            <a:srgbClr val="F9A825"/>
          </a:solidFill>
          <a:ln w="38100">
            <a:solidFill>
              <a:srgbClr val="0F1923"/>
            </a:solidFill>
            <a:prstDash val="solid"/>
          </a:ln>
        </p:spPr>
      </p:sp>
      <p:sp>
        <p:nvSpPr>
          <p:cNvPr id="18" name="Text 16"/>
          <p:cNvSpPr/>
          <p:nvPr/>
        </p:nvSpPr>
        <p:spPr>
          <a:xfrm>
            <a:off x="324612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02</a:t>
            </a:r>
            <a:endParaRPr lang="en-US" sz="1200" dirty="0"/>
          </a:p>
        </p:txBody>
      </p:sp>
      <p:sp>
        <p:nvSpPr>
          <p:cNvPr id="19" name="Shape 17"/>
          <p:cNvSpPr/>
          <p:nvPr/>
        </p:nvSpPr>
        <p:spPr>
          <a:xfrm>
            <a:off x="2606040" y="2377440"/>
            <a:ext cx="1920240" cy="2148840"/>
          </a:xfrm>
          <a:prstGeom prst="rect">
            <a:avLst/>
          </a:prstGeom>
          <a:solidFill>
            <a:srgbClr val="172A3A"/>
          </a:solidFill>
          <a:ln w="19050">
            <a:solidFill>
              <a:srgbClr val="F9A825"/>
            </a:solidFill>
            <a:prstDash val="solid"/>
          </a:ln>
        </p:spPr>
      </p:sp>
      <p:sp>
        <p:nvSpPr>
          <p:cNvPr id="20" name="Text 18"/>
          <p:cNvSpPr/>
          <p:nvPr/>
        </p:nvSpPr>
        <p:spPr>
          <a:xfrm>
            <a:off x="2697480" y="2450592"/>
            <a:ext cx="1737360" cy="228600"/>
          </a:xfrm>
          <a:prstGeom prst="rect">
            <a:avLst/>
          </a:prstGeom>
          <a:noFill/>
          <a:ln/>
        </p:spPr>
        <p:txBody>
          <a:bodyPr wrap="square" lIns="0" tIns="0" rIns="0" bIns="0" rtlCol="0" anchor="ctr"/>
          <a:lstStyle/>
          <a:p>
            <a:pPr algn="l" indent="0" marL="0">
              <a:buNone/>
            </a:pPr>
            <a:r>
              <a:rPr lang="en-US" sz="800" b="1" dirty="0">
                <a:solidFill>
                  <a:srgbClr val="F9A825"/>
                </a:solidFill>
                <a:latin typeface="Arial" pitchFamily="34" charset="0"/>
                <a:ea typeface="Arial" pitchFamily="34" charset="-122"/>
                <a:cs typeface="Arial" pitchFamily="34" charset="-120"/>
              </a:rPr>
              <a:t>ITERATION 2</a:t>
            </a:r>
            <a:endParaRPr lang="en-US" sz="800" dirty="0"/>
          </a:p>
        </p:txBody>
      </p:sp>
      <p:sp>
        <p:nvSpPr>
          <p:cNvPr id="21" name="Text 19"/>
          <p:cNvSpPr/>
          <p:nvPr/>
        </p:nvSpPr>
        <p:spPr>
          <a:xfrm>
            <a:off x="269748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SARIMA + Quality</a:t>
            </a:r>
            <a:endParaRPr lang="en-US" sz="1400" dirty="0"/>
          </a:p>
        </p:txBody>
      </p:sp>
      <p:sp>
        <p:nvSpPr>
          <p:cNvPr id="22" name="Text 20"/>
          <p:cNvSpPr/>
          <p:nvPr/>
        </p:nvSpPr>
        <p:spPr>
          <a:xfrm>
            <a:off x="269748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PAL_AUTOARIMA added</a:t>
            </a:r>
            <a:endParaRPr lang="en-US" sz="1000" dirty="0"/>
          </a:p>
        </p:txBody>
      </p:sp>
      <p:sp>
        <p:nvSpPr>
          <p:cNvPr id="23" name="Text 21"/>
          <p:cNvSpPr/>
          <p:nvPr/>
        </p:nvSpPr>
        <p:spPr>
          <a:xfrm>
            <a:off x="269748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Outlier detection via PAL</a:t>
            </a:r>
            <a:endParaRPr lang="en-US" sz="950" dirty="0"/>
          </a:p>
        </p:txBody>
      </p:sp>
      <p:sp>
        <p:nvSpPr>
          <p:cNvPr id="24" name="Text 22"/>
          <p:cNvSpPr/>
          <p:nvPr/>
        </p:nvSpPr>
        <p:spPr>
          <a:xfrm>
            <a:off x="269748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Data cliff checks added</a:t>
            </a:r>
            <a:endParaRPr lang="en-US" sz="950" dirty="0"/>
          </a:p>
        </p:txBody>
      </p:sp>
      <p:sp>
        <p:nvSpPr>
          <p:cNvPr id="25" name="Text 23"/>
          <p:cNvSpPr/>
          <p:nvPr/>
        </p:nvSpPr>
        <p:spPr>
          <a:xfrm>
            <a:off x="269748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Seasonal Naive baseline</a:t>
            </a:r>
            <a:endParaRPr lang="en-US" sz="950" dirty="0"/>
          </a:p>
        </p:txBody>
      </p:sp>
      <p:sp>
        <p:nvSpPr>
          <p:cNvPr id="26" name="Shape 24"/>
          <p:cNvSpPr/>
          <p:nvPr/>
        </p:nvSpPr>
        <p:spPr>
          <a:xfrm>
            <a:off x="5394960" y="1737360"/>
            <a:ext cx="457200" cy="457200"/>
          </a:xfrm>
          <a:prstGeom prst="ellipse">
            <a:avLst/>
          </a:prstGeom>
          <a:solidFill>
            <a:srgbClr val="FF9800"/>
          </a:solidFill>
          <a:ln w="38100">
            <a:solidFill>
              <a:srgbClr val="0F1923"/>
            </a:solidFill>
            <a:prstDash val="solid"/>
          </a:ln>
        </p:spPr>
      </p:sp>
      <p:sp>
        <p:nvSpPr>
          <p:cNvPr id="27" name="Text 25"/>
          <p:cNvSpPr/>
          <p:nvPr/>
        </p:nvSpPr>
        <p:spPr>
          <a:xfrm>
            <a:off x="539496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03</a:t>
            </a:r>
            <a:endParaRPr lang="en-US" sz="1200" dirty="0"/>
          </a:p>
        </p:txBody>
      </p:sp>
      <p:sp>
        <p:nvSpPr>
          <p:cNvPr id="28" name="Shape 26"/>
          <p:cNvSpPr/>
          <p:nvPr/>
        </p:nvSpPr>
        <p:spPr>
          <a:xfrm>
            <a:off x="4754880" y="2377440"/>
            <a:ext cx="1920240" cy="2148840"/>
          </a:xfrm>
          <a:prstGeom prst="rect">
            <a:avLst/>
          </a:prstGeom>
          <a:solidFill>
            <a:srgbClr val="172A3A"/>
          </a:solidFill>
          <a:ln w="19050">
            <a:solidFill>
              <a:srgbClr val="FF9800"/>
            </a:solidFill>
            <a:prstDash val="solid"/>
          </a:ln>
        </p:spPr>
      </p:sp>
      <p:sp>
        <p:nvSpPr>
          <p:cNvPr id="29" name="Text 27"/>
          <p:cNvSpPr/>
          <p:nvPr/>
        </p:nvSpPr>
        <p:spPr>
          <a:xfrm>
            <a:off x="4846320" y="2450592"/>
            <a:ext cx="1737360" cy="228600"/>
          </a:xfrm>
          <a:prstGeom prst="rect">
            <a:avLst/>
          </a:prstGeom>
          <a:noFill/>
          <a:ln/>
        </p:spPr>
        <p:txBody>
          <a:bodyPr wrap="square" lIns="0" tIns="0" rIns="0" bIns="0" rtlCol="0" anchor="ctr"/>
          <a:lstStyle/>
          <a:p>
            <a:pPr algn="l" indent="0" marL="0">
              <a:buNone/>
            </a:pPr>
            <a:r>
              <a:rPr lang="en-US" sz="800" b="1" dirty="0">
                <a:solidFill>
                  <a:srgbClr val="FF9800"/>
                </a:solidFill>
                <a:latin typeface="Arial" pitchFamily="34" charset="0"/>
                <a:ea typeface="Arial" pitchFamily="34" charset="-122"/>
                <a:cs typeface="Arial" pitchFamily="34" charset="-120"/>
              </a:rPr>
              <a:t>ITERATION 3</a:t>
            </a:r>
            <a:endParaRPr lang="en-US" sz="800" dirty="0"/>
          </a:p>
        </p:txBody>
      </p:sp>
      <p:sp>
        <p:nvSpPr>
          <p:cNvPr id="30" name="Text 28"/>
          <p:cNvSpPr/>
          <p:nvPr/>
        </p:nvSpPr>
        <p:spPr>
          <a:xfrm>
            <a:off x="484632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AutoML → BSTS</a:t>
            </a:r>
            <a:endParaRPr lang="en-US" sz="1400" dirty="0"/>
          </a:p>
        </p:txBody>
      </p:sp>
      <p:sp>
        <p:nvSpPr>
          <p:cNvPr id="31" name="Text 29"/>
          <p:cNvSpPr/>
          <p:nvPr/>
        </p:nvSpPr>
        <p:spPr>
          <a:xfrm>
            <a:off x="484632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PAL_AUTOML_FIT tested</a:t>
            </a:r>
            <a:endParaRPr lang="en-US" sz="1000" dirty="0"/>
          </a:p>
        </p:txBody>
      </p:sp>
      <p:sp>
        <p:nvSpPr>
          <p:cNvPr id="32" name="Text 30"/>
          <p:cNvSpPr/>
          <p:nvPr/>
        </p:nvSpPr>
        <p:spPr>
          <a:xfrm>
            <a:off x="484632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9 scripts, 4 BSTS iterations</a:t>
            </a:r>
            <a:endParaRPr lang="en-US" sz="950" dirty="0"/>
          </a:p>
        </p:txBody>
      </p:sp>
      <p:sp>
        <p:nvSpPr>
          <p:cNvPr id="33" name="Text 31"/>
          <p:cNvSpPr/>
          <p:nvPr/>
        </p:nvSpPr>
        <p:spPr>
          <a:xfrm>
            <a:off x="484632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AutoML recommended BSTS</a:t>
            </a:r>
            <a:endParaRPr lang="en-US" sz="950" dirty="0"/>
          </a:p>
        </p:txBody>
      </p:sp>
      <p:sp>
        <p:nvSpPr>
          <p:cNvPr id="34" name="Text 32"/>
          <p:cNvSpPr/>
          <p:nvPr/>
        </p:nvSpPr>
        <p:spPr>
          <a:xfrm>
            <a:off x="484632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hana_ml BSTS implemented</a:t>
            </a:r>
            <a:endParaRPr lang="en-US" sz="950" dirty="0"/>
          </a:p>
        </p:txBody>
      </p:sp>
      <p:sp>
        <p:nvSpPr>
          <p:cNvPr id="35" name="Shape 33"/>
          <p:cNvSpPr/>
          <p:nvPr/>
        </p:nvSpPr>
        <p:spPr>
          <a:xfrm>
            <a:off x="7543800" y="1737360"/>
            <a:ext cx="457200" cy="457200"/>
          </a:xfrm>
          <a:prstGeom prst="ellipse">
            <a:avLst/>
          </a:prstGeom>
          <a:solidFill>
            <a:srgbClr val="4CAF50"/>
          </a:solidFill>
          <a:ln w="38100">
            <a:solidFill>
              <a:srgbClr val="0F1923"/>
            </a:solidFill>
            <a:prstDash val="solid"/>
          </a:ln>
        </p:spPr>
      </p:sp>
      <p:sp>
        <p:nvSpPr>
          <p:cNvPr id="36" name="Text 34"/>
          <p:cNvSpPr/>
          <p:nvPr/>
        </p:nvSpPr>
        <p:spPr>
          <a:xfrm>
            <a:off x="7543800" y="1737360"/>
            <a:ext cx="457200" cy="457200"/>
          </a:xfrm>
          <a:prstGeom prst="rect">
            <a:avLst/>
          </a:prstGeom>
          <a:noFill/>
          <a:ln/>
        </p:spPr>
        <p:txBody>
          <a:bodyPr wrap="square" lIns="0" tIns="0" rIns="0" bIns="0" rtlCol="0" anchor="ctr"/>
          <a:lstStyle/>
          <a:p>
            <a:pPr algn="ctr" indent="0" marL="0">
              <a:buNone/>
            </a:pPr>
            <a:r>
              <a:rPr lang="en-US" sz="1200" b="1" dirty="0">
                <a:solidFill>
                  <a:srgbClr val="0F1923"/>
                </a:solidFill>
                <a:latin typeface="Arial" pitchFamily="34" charset="0"/>
                <a:ea typeface="Arial" pitchFamily="34" charset="-122"/>
                <a:cs typeface="Arial" pitchFamily="34" charset="-120"/>
              </a:rPr>
              <a:t>04</a:t>
            </a:r>
            <a:endParaRPr lang="en-US" sz="1200" dirty="0"/>
          </a:p>
        </p:txBody>
      </p:sp>
      <p:sp>
        <p:nvSpPr>
          <p:cNvPr id="37" name="Shape 35"/>
          <p:cNvSpPr/>
          <p:nvPr/>
        </p:nvSpPr>
        <p:spPr>
          <a:xfrm>
            <a:off x="6903720" y="2377440"/>
            <a:ext cx="1920240" cy="2148840"/>
          </a:xfrm>
          <a:prstGeom prst="rect">
            <a:avLst/>
          </a:prstGeom>
          <a:solidFill>
            <a:srgbClr val="172A3A"/>
          </a:solidFill>
          <a:ln w="19050">
            <a:solidFill>
              <a:srgbClr val="4CAF50"/>
            </a:solidFill>
            <a:prstDash val="solid"/>
          </a:ln>
        </p:spPr>
      </p:sp>
      <p:sp>
        <p:nvSpPr>
          <p:cNvPr id="38" name="Text 36"/>
          <p:cNvSpPr/>
          <p:nvPr/>
        </p:nvSpPr>
        <p:spPr>
          <a:xfrm>
            <a:off x="6995160" y="2450592"/>
            <a:ext cx="1737360" cy="228600"/>
          </a:xfrm>
          <a:prstGeom prst="rect">
            <a:avLst/>
          </a:prstGeom>
          <a:noFill/>
          <a:ln/>
        </p:spPr>
        <p:txBody>
          <a:bodyPr wrap="square" lIns="0" tIns="0" rIns="0" bIns="0" rtlCol="0" anchor="ctr"/>
          <a:lstStyle/>
          <a:p>
            <a:pPr algn="l" indent="0" marL="0">
              <a:buNone/>
            </a:pPr>
            <a:r>
              <a:rPr lang="en-US" sz="800" b="1" dirty="0">
                <a:solidFill>
                  <a:srgbClr val="4CAF50"/>
                </a:solidFill>
                <a:latin typeface="Arial" pitchFamily="34" charset="0"/>
                <a:ea typeface="Arial" pitchFamily="34" charset="-122"/>
                <a:cs typeface="Arial" pitchFamily="34" charset="-120"/>
              </a:rPr>
              <a:t>ITERATION 4</a:t>
            </a:r>
            <a:endParaRPr lang="en-US" sz="800" dirty="0"/>
          </a:p>
        </p:txBody>
      </p:sp>
      <p:sp>
        <p:nvSpPr>
          <p:cNvPr id="39" name="Text 37"/>
          <p:cNvSpPr/>
          <p:nvPr/>
        </p:nvSpPr>
        <p:spPr>
          <a:xfrm>
            <a:off x="6995160" y="2679192"/>
            <a:ext cx="173736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Production + API</a:t>
            </a:r>
            <a:endParaRPr lang="en-US" sz="1400" dirty="0"/>
          </a:p>
        </p:txBody>
      </p:sp>
      <p:sp>
        <p:nvSpPr>
          <p:cNvPr id="40" name="Text 38"/>
          <p:cNvSpPr/>
          <p:nvPr/>
        </p:nvSpPr>
        <p:spPr>
          <a:xfrm>
            <a:off x="6995160" y="3063240"/>
            <a:ext cx="173736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SES + SARIMA + BSTS</a:t>
            </a:r>
            <a:endParaRPr lang="en-US" sz="1000" dirty="0"/>
          </a:p>
        </p:txBody>
      </p:sp>
      <p:sp>
        <p:nvSpPr>
          <p:cNvPr id="41" name="Text 39"/>
          <p:cNvSpPr/>
          <p:nvPr/>
        </p:nvSpPr>
        <p:spPr>
          <a:xfrm>
            <a:off x="6995160" y="338328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12-month forecast horizon</a:t>
            </a:r>
            <a:endParaRPr lang="en-US" sz="950" dirty="0"/>
          </a:p>
        </p:txBody>
      </p:sp>
      <p:sp>
        <p:nvSpPr>
          <p:cNvPr id="42" name="Text 40"/>
          <p:cNvSpPr/>
          <p:nvPr/>
        </p:nvSpPr>
        <p:spPr>
          <a:xfrm>
            <a:off x="6995160" y="370332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5 tunable params via API</a:t>
            </a:r>
            <a:endParaRPr lang="en-US" sz="950" dirty="0"/>
          </a:p>
        </p:txBody>
      </p:sp>
      <p:sp>
        <p:nvSpPr>
          <p:cNvPr id="43" name="Text 41"/>
          <p:cNvSpPr/>
          <p:nvPr/>
        </p:nvSpPr>
        <p:spPr>
          <a:xfrm>
            <a:off x="6995160" y="4023360"/>
            <a:ext cx="1737360" cy="292608"/>
          </a:xfrm>
          <a:prstGeom prst="rect">
            <a:avLst/>
          </a:prstGeom>
          <a:noFill/>
          <a:ln/>
        </p:spPr>
        <p:txBody>
          <a:bodyPr wrap="square" lIns="0" tIns="0" rIns="0" bIns="0" rtlCol="0" anchor="ctr"/>
          <a:lstStyle/>
          <a:p>
            <a:pPr algn="l" indent="0" marL="0">
              <a:buNone/>
            </a:pPr>
            <a:r>
              <a:rPr lang="en-US" sz="950" dirty="0">
                <a:solidFill>
                  <a:srgbClr val="B0B8C0"/>
                </a:solidFill>
                <a:latin typeface="Arial" pitchFamily="34" charset="0"/>
                <a:ea typeface="Arial" pitchFamily="34" charset="-122"/>
                <a:cs typeface="Arial" pitchFamily="34" charset="-120"/>
              </a:rPr>
              <a:t>Composite key forecasting</a:t>
            </a:r>
            <a:endParaRPr lang="en-US" sz="950" dirty="0"/>
          </a:p>
        </p:txBody>
      </p:sp>
      <p:sp>
        <p:nvSpPr>
          <p:cNvPr id="44" name="Text 4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13 experimental scripts  ·  All models run via SAP PAL inside HANA Cloud  ·  Zero data leaves the database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194560" cy="365760"/>
          </a:xfrm>
          <a:prstGeom prst="rect">
            <a:avLst/>
          </a:prstGeom>
          <a:solidFill>
            <a:srgbClr val="F9A825"/>
          </a:solidFill>
          <a:ln/>
        </p:spPr>
      </p:sp>
      <p:sp>
        <p:nvSpPr>
          <p:cNvPr id="4" name="Text 2"/>
          <p:cNvSpPr/>
          <p:nvPr/>
        </p:nvSpPr>
        <p:spPr>
          <a:xfrm>
            <a:off x="457200" y="228600"/>
            <a:ext cx="219456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SAP PAL MODELS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Three SAP PAL Models Compete Per Accessory</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indent="0" marL="0">
              <a:buNone/>
            </a:pPr>
            <a:r>
              <a:rPr lang="en-US" sz="1200" dirty="0">
                <a:solidFill>
                  <a:srgbClr val="B0B8C0"/>
                </a:solidFill>
                <a:latin typeface="Arial" pitchFamily="34" charset="0"/>
                <a:ea typeface="Arial" pitchFamily="34" charset="-122"/>
                <a:cs typeface="Arial" pitchFamily="34" charset="-120"/>
              </a:rPr>
              <a:t>Each model runs inside SAP HANA Cloud via PAL — the best one is automatically selected by lowest MAPE</a:t>
            </a:r>
            <a:endParaRPr lang="en-US" sz="1200" dirty="0"/>
          </a:p>
        </p:txBody>
      </p:sp>
      <p:sp>
        <p:nvSpPr>
          <p:cNvPr id="7" name="Shape 5"/>
          <p:cNvSpPr/>
          <p:nvPr/>
        </p:nvSpPr>
        <p:spPr>
          <a:xfrm>
            <a:off x="457200" y="1554480"/>
            <a:ext cx="8229600" cy="1005840"/>
          </a:xfrm>
          <a:prstGeom prst="rect">
            <a:avLst/>
          </a:prstGeom>
          <a:solidFill>
            <a:srgbClr val="172A3A"/>
          </a:solidFill>
          <a:ln w="19050">
            <a:solidFill>
              <a:srgbClr val="E53935"/>
            </a:solidFill>
            <a:prstDash val="solid"/>
          </a:ln>
        </p:spPr>
      </p:sp>
      <p:sp>
        <p:nvSpPr>
          <p:cNvPr id="8" name="Shape 6"/>
          <p:cNvSpPr/>
          <p:nvPr/>
        </p:nvSpPr>
        <p:spPr>
          <a:xfrm>
            <a:off x="457200" y="1554480"/>
            <a:ext cx="64008" cy="1005840"/>
          </a:xfrm>
          <a:prstGeom prst="rect">
            <a:avLst/>
          </a:prstGeom>
          <a:solidFill>
            <a:srgbClr val="E53935"/>
          </a:solidFill>
          <a:ln/>
        </p:spPr>
      </p:sp>
      <p:sp>
        <p:nvSpPr>
          <p:cNvPr id="9" name="Text 7"/>
          <p:cNvSpPr/>
          <p:nvPr/>
        </p:nvSpPr>
        <p:spPr>
          <a:xfrm>
            <a:off x="685800" y="1600200"/>
            <a:ext cx="1371600" cy="320040"/>
          </a:xfrm>
          <a:prstGeom prst="rect">
            <a:avLst/>
          </a:prstGeom>
          <a:noFill/>
          <a:ln/>
        </p:spPr>
        <p:txBody>
          <a:bodyPr wrap="square" lIns="0" tIns="0" rIns="0" bIns="0" rtlCol="0" anchor="ctr"/>
          <a:lstStyle/>
          <a:p>
            <a:pPr algn="l" indent="0" marL="0">
              <a:buNone/>
            </a:pPr>
            <a:r>
              <a:rPr lang="en-US" sz="1800" b="1" dirty="0">
                <a:solidFill>
                  <a:srgbClr val="E53935"/>
                </a:solidFill>
                <a:latin typeface="Arial" pitchFamily="34" charset="0"/>
                <a:ea typeface="Arial" pitchFamily="34" charset="-122"/>
                <a:cs typeface="Arial" pitchFamily="34" charset="-120"/>
              </a:rPr>
              <a:t>SES</a:t>
            </a:r>
            <a:endParaRPr lang="en-US" sz="1800" dirty="0"/>
          </a:p>
        </p:txBody>
      </p:sp>
      <p:sp>
        <p:nvSpPr>
          <p:cNvPr id="10" name="Text 8"/>
          <p:cNvSpPr/>
          <p:nvPr/>
        </p:nvSpPr>
        <p:spPr>
          <a:xfrm>
            <a:off x="2011680" y="1600200"/>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Simple Exponential Smoothing</a:t>
            </a:r>
            <a:endParaRPr lang="en-US" sz="1000" dirty="0"/>
          </a:p>
        </p:txBody>
      </p:sp>
      <p:sp>
        <p:nvSpPr>
          <p:cNvPr id="11" name="Shape 9"/>
          <p:cNvSpPr/>
          <p:nvPr/>
        </p:nvSpPr>
        <p:spPr>
          <a:xfrm>
            <a:off x="4114800" y="1645920"/>
            <a:ext cx="4389120" cy="256032"/>
          </a:xfrm>
          <a:prstGeom prst="rect">
            <a:avLst/>
          </a:prstGeom>
          <a:solidFill>
            <a:srgbClr val="0D1520"/>
          </a:solidFill>
          <a:ln/>
        </p:spPr>
      </p:sp>
      <p:sp>
        <p:nvSpPr>
          <p:cNvPr id="12" name="Text 10"/>
          <p:cNvSpPr/>
          <p:nvPr/>
        </p:nvSpPr>
        <p:spPr>
          <a:xfrm>
            <a:off x="4160520" y="1645920"/>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PAL_BROWN_EXPSMOOTH</a:t>
            </a:r>
            <a:endParaRPr lang="en-US" sz="900" dirty="0"/>
          </a:p>
        </p:txBody>
      </p:sp>
      <p:sp>
        <p:nvSpPr>
          <p:cNvPr id="13" name="Text 11"/>
          <p:cNvSpPr/>
          <p:nvPr/>
        </p:nvSpPr>
        <p:spPr>
          <a:xfrm>
            <a:off x="685800" y="1938528"/>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Weighted average of recent months. Smoothing constant (alpha) auto-optimized by PAL.</a:t>
            </a:r>
            <a:endParaRPr lang="en-US" sz="950" dirty="0"/>
          </a:p>
        </p:txBody>
      </p:sp>
      <p:sp>
        <p:nvSpPr>
          <p:cNvPr id="14" name="Text 12"/>
          <p:cNvSpPr/>
          <p:nvPr/>
        </p:nvSpPr>
        <p:spPr>
          <a:xfrm>
            <a:off x="685800" y="2121408"/>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Steady demand with no strong seasonal pattern</a:t>
            </a:r>
            <a:endParaRPr lang="en-US" sz="950" dirty="0"/>
          </a:p>
        </p:txBody>
      </p:sp>
      <p:sp>
        <p:nvSpPr>
          <p:cNvPr id="15" name="Text 13"/>
          <p:cNvSpPr/>
          <p:nvPr/>
        </p:nvSpPr>
        <p:spPr>
          <a:xfrm>
            <a:off x="685800" y="2304288"/>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ALPHA (0–1.0) — user-tunable via API</a:t>
            </a:r>
            <a:endParaRPr lang="en-US" sz="950" dirty="0"/>
          </a:p>
        </p:txBody>
      </p:sp>
      <p:sp>
        <p:nvSpPr>
          <p:cNvPr id="16" name="Shape 14"/>
          <p:cNvSpPr/>
          <p:nvPr/>
        </p:nvSpPr>
        <p:spPr>
          <a:xfrm>
            <a:off x="457200" y="2633472"/>
            <a:ext cx="8229600" cy="1005840"/>
          </a:xfrm>
          <a:prstGeom prst="rect">
            <a:avLst/>
          </a:prstGeom>
          <a:solidFill>
            <a:srgbClr val="172A3A"/>
          </a:solidFill>
          <a:ln w="19050">
            <a:solidFill>
              <a:srgbClr val="F9A825"/>
            </a:solidFill>
            <a:prstDash val="solid"/>
          </a:ln>
        </p:spPr>
      </p:sp>
      <p:sp>
        <p:nvSpPr>
          <p:cNvPr id="17" name="Shape 15"/>
          <p:cNvSpPr/>
          <p:nvPr/>
        </p:nvSpPr>
        <p:spPr>
          <a:xfrm>
            <a:off x="457200" y="2633472"/>
            <a:ext cx="64008" cy="1005840"/>
          </a:xfrm>
          <a:prstGeom prst="rect">
            <a:avLst/>
          </a:prstGeom>
          <a:solidFill>
            <a:srgbClr val="F9A825"/>
          </a:solidFill>
          <a:ln/>
        </p:spPr>
      </p:sp>
      <p:sp>
        <p:nvSpPr>
          <p:cNvPr id="18" name="Text 16"/>
          <p:cNvSpPr/>
          <p:nvPr/>
        </p:nvSpPr>
        <p:spPr>
          <a:xfrm>
            <a:off x="685800" y="2679192"/>
            <a:ext cx="1371600" cy="320040"/>
          </a:xfrm>
          <a:prstGeom prst="rect">
            <a:avLst/>
          </a:prstGeom>
          <a:noFill/>
          <a:ln/>
        </p:spPr>
        <p:txBody>
          <a:bodyPr wrap="square" lIns="0" tIns="0" rIns="0" bIns="0" rtlCol="0" anchor="ctr"/>
          <a:lstStyle/>
          <a:p>
            <a:pPr algn="l" indent="0" marL="0">
              <a:buNone/>
            </a:pPr>
            <a:r>
              <a:rPr lang="en-US" sz="1800" b="1" dirty="0">
                <a:solidFill>
                  <a:srgbClr val="F9A825"/>
                </a:solidFill>
                <a:latin typeface="Arial" pitchFamily="34" charset="0"/>
                <a:ea typeface="Arial" pitchFamily="34" charset="-122"/>
                <a:cs typeface="Arial" pitchFamily="34" charset="-120"/>
              </a:rPr>
              <a:t>SARIMA</a:t>
            </a:r>
            <a:endParaRPr lang="en-US" sz="1800" dirty="0"/>
          </a:p>
        </p:txBody>
      </p:sp>
      <p:sp>
        <p:nvSpPr>
          <p:cNvPr id="19" name="Text 17"/>
          <p:cNvSpPr/>
          <p:nvPr/>
        </p:nvSpPr>
        <p:spPr>
          <a:xfrm>
            <a:off x="2011680" y="2679192"/>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Seasonal Auto-ARIMA</a:t>
            </a:r>
            <a:endParaRPr lang="en-US" sz="1000" dirty="0"/>
          </a:p>
        </p:txBody>
      </p:sp>
      <p:sp>
        <p:nvSpPr>
          <p:cNvPr id="20" name="Shape 18"/>
          <p:cNvSpPr/>
          <p:nvPr/>
        </p:nvSpPr>
        <p:spPr>
          <a:xfrm>
            <a:off x="4114800" y="2724912"/>
            <a:ext cx="4389120" cy="256032"/>
          </a:xfrm>
          <a:prstGeom prst="rect">
            <a:avLst/>
          </a:prstGeom>
          <a:solidFill>
            <a:srgbClr val="0D1520"/>
          </a:solidFill>
          <a:ln/>
        </p:spPr>
      </p:sp>
      <p:sp>
        <p:nvSpPr>
          <p:cNvPr id="21" name="Text 19"/>
          <p:cNvSpPr/>
          <p:nvPr/>
        </p:nvSpPr>
        <p:spPr>
          <a:xfrm>
            <a:off x="4160520" y="2724912"/>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PAL_AUTOARIMA + PAL_ARIMA_FORECAST</a:t>
            </a:r>
            <a:endParaRPr lang="en-US" sz="900" dirty="0"/>
          </a:p>
        </p:txBody>
      </p:sp>
      <p:sp>
        <p:nvSpPr>
          <p:cNvPr id="22" name="Text 20"/>
          <p:cNvSpPr/>
          <p:nvPr/>
        </p:nvSpPr>
        <p:spPr>
          <a:xfrm>
            <a:off x="685800" y="3017520"/>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Auto-selects best (p,d,q)(P,D,Q) seasonal order. Two-step: fit model, then forecast.</a:t>
            </a:r>
            <a:endParaRPr lang="en-US" sz="950" dirty="0"/>
          </a:p>
        </p:txBody>
      </p:sp>
      <p:sp>
        <p:nvSpPr>
          <p:cNvPr id="23" name="Text 21"/>
          <p:cNvSpPr/>
          <p:nvPr/>
        </p:nvSpPr>
        <p:spPr>
          <a:xfrm>
            <a:off x="685800" y="3200400"/>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Clear repeating yearly cycle (e.g. December always dips)</a:t>
            </a:r>
            <a:endParaRPr lang="en-US" sz="950" dirty="0"/>
          </a:p>
        </p:txBody>
      </p:sp>
      <p:sp>
        <p:nvSpPr>
          <p:cNvPr id="24" name="Text 22"/>
          <p:cNvSpPr/>
          <p:nvPr/>
        </p:nvSpPr>
        <p:spPr>
          <a:xfrm>
            <a:off x="685800" y="3383280"/>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METHOD (AIC/AICc/BIC), MAX_P, MAX_Q — all tunable</a:t>
            </a:r>
            <a:endParaRPr lang="en-US" sz="950" dirty="0"/>
          </a:p>
        </p:txBody>
      </p:sp>
      <p:sp>
        <p:nvSpPr>
          <p:cNvPr id="25" name="Shape 23"/>
          <p:cNvSpPr/>
          <p:nvPr/>
        </p:nvSpPr>
        <p:spPr>
          <a:xfrm>
            <a:off x="457200" y="3712464"/>
            <a:ext cx="8229600" cy="1005840"/>
          </a:xfrm>
          <a:prstGeom prst="rect">
            <a:avLst/>
          </a:prstGeom>
          <a:solidFill>
            <a:srgbClr val="172A3A"/>
          </a:solidFill>
          <a:ln w="19050">
            <a:solidFill>
              <a:srgbClr val="00BCD4"/>
            </a:solidFill>
            <a:prstDash val="solid"/>
          </a:ln>
        </p:spPr>
      </p:sp>
      <p:sp>
        <p:nvSpPr>
          <p:cNvPr id="26" name="Shape 24"/>
          <p:cNvSpPr/>
          <p:nvPr/>
        </p:nvSpPr>
        <p:spPr>
          <a:xfrm>
            <a:off x="457200" y="3712464"/>
            <a:ext cx="64008" cy="1005840"/>
          </a:xfrm>
          <a:prstGeom prst="rect">
            <a:avLst/>
          </a:prstGeom>
          <a:solidFill>
            <a:srgbClr val="00BCD4"/>
          </a:solidFill>
          <a:ln/>
        </p:spPr>
      </p:sp>
      <p:sp>
        <p:nvSpPr>
          <p:cNvPr id="27" name="Text 25"/>
          <p:cNvSpPr/>
          <p:nvPr/>
        </p:nvSpPr>
        <p:spPr>
          <a:xfrm>
            <a:off x="685800" y="3758184"/>
            <a:ext cx="1371600" cy="320040"/>
          </a:xfrm>
          <a:prstGeom prst="rect">
            <a:avLst/>
          </a:prstGeom>
          <a:noFill/>
          <a:ln/>
        </p:spPr>
        <p:txBody>
          <a:bodyPr wrap="square" lIns="0" tIns="0" rIns="0" bIns="0" rtlCol="0" anchor="ctr"/>
          <a:lstStyle/>
          <a:p>
            <a:pPr algn="l" indent="0" marL="0">
              <a:buNone/>
            </a:pPr>
            <a:r>
              <a:rPr lang="en-US" sz="1800" b="1" dirty="0">
                <a:solidFill>
                  <a:srgbClr val="00BCD4"/>
                </a:solidFill>
                <a:latin typeface="Arial" pitchFamily="34" charset="0"/>
                <a:ea typeface="Arial" pitchFamily="34" charset="-122"/>
                <a:cs typeface="Arial" pitchFamily="34" charset="-120"/>
              </a:rPr>
              <a:t>BSTS</a:t>
            </a:r>
            <a:endParaRPr lang="en-US" sz="1800" dirty="0"/>
          </a:p>
        </p:txBody>
      </p:sp>
      <p:sp>
        <p:nvSpPr>
          <p:cNvPr id="28" name="Text 26"/>
          <p:cNvSpPr/>
          <p:nvPr/>
        </p:nvSpPr>
        <p:spPr>
          <a:xfrm>
            <a:off x="2011680" y="3758184"/>
            <a:ext cx="1920240" cy="320040"/>
          </a:xfrm>
          <a:prstGeom prst="rect">
            <a:avLst/>
          </a:prstGeom>
          <a:noFill/>
          <a:ln/>
        </p:spPr>
        <p:txBody>
          <a:bodyPr wrap="square" lIns="0" tIns="0" rIns="0" bIns="0" rtlCol="0" anchor="ctr"/>
          <a:lstStyle/>
          <a:p>
            <a:pPr algn="l" indent="0" marL="0">
              <a:buNone/>
            </a:pPr>
            <a:r>
              <a:rPr lang="en-US" sz="1000" dirty="0">
                <a:solidFill>
                  <a:srgbClr val="B0B8C0"/>
                </a:solidFill>
                <a:latin typeface="Arial" pitchFamily="34" charset="0"/>
                <a:ea typeface="Arial" pitchFamily="34" charset="-122"/>
                <a:cs typeface="Arial" pitchFamily="34" charset="-120"/>
              </a:rPr>
              <a:t>Bayesian Structural Time Series</a:t>
            </a:r>
            <a:endParaRPr lang="en-US" sz="1000" dirty="0"/>
          </a:p>
        </p:txBody>
      </p:sp>
      <p:sp>
        <p:nvSpPr>
          <p:cNvPr id="29" name="Shape 27"/>
          <p:cNvSpPr/>
          <p:nvPr/>
        </p:nvSpPr>
        <p:spPr>
          <a:xfrm>
            <a:off x="4114800" y="3803904"/>
            <a:ext cx="4389120" cy="256032"/>
          </a:xfrm>
          <a:prstGeom prst="rect">
            <a:avLst/>
          </a:prstGeom>
          <a:solidFill>
            <a:srgbClr val="0D1520"/>
          </a:solidFill>
          <a:ln/>
        </p:spPr>
      </p:sp>
      <p:sp>
        <p:nvSpPr>
          <p:cNvPr id="30" name="Text 28"/>
          <p:cNvSpPr/>
          <p:nvPr/>
        </p:nvSpPr>
        <p:spPr>
          <a:xfrm>
            <a:off x="4160520" y="3803904"/>
            <a:ext cx="4297680" cy="256032"/>
          </a:xfrm>
          <a:prstGeom prst="rect">
            <a:avLst/>
          </a:prstGeom>
          <a:noFill/>
          <a:ln/>
        </p:spPr>
        <p:txBody>
          <a:bodyPr wrap="square" lIns="0" tIns="0" rIns="0" bIns="0" rtlCol="0" anchor="ctr"/>
          <a:lstStyle/>
          <a:p>
            <a:pPr algn="l" indent="0" marL="0">
              <a:buNone/>
            </a:pPr>
            <a:r>
              <a:rPr lang="en-US" sz="900" dirty="0">
                <a:solidFill>
                  <a:srgbClr val="00BCD4"/>
                </a:solidFill>
                <a:latin typeface="Consolas" pitchFamily="34" charset="0"/>
                <a:ea typeface="Consolas" pitchFamily="34" charset="-122"/>
                <a:cs typeface="Consolas" pitchFamily="34" charset="-120"/>
              </a:rPr>
              <a:t>hana_ml BSTS → PAL Script Server</a:t>
            </a:r>
            <a:endParaRPr lang="en-US" sz="900" dirty="0"/>
          </a:p>
        </p:txBody>
      </p:sp>
      <p:sp>
        <p:nvSpPr>
          <p:cNvPr id="31" name="Text 29"/>
          <p:cNvSpPr/>
          <p:nvPr/>
        </p:nvSpPr>
        <p:spPr>
          <a:xfrm>
            <a:off x="685800" y="4096512"/>
            <a:ext cx="77724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How: </a:t>
            </a:r>
            <a:pPr algn="l" indent="0" marL="0">
              <a:buNone/>
            </a:pPr>
            <a:r>
              <a:rPr lang="en-US" sz="950" dirty="0">
                <a:solidFill>
                  <a:srgbClr val="B0B8C0"/>
                </a:solidFill>
                <a:latin typeface="Arial" pitchFamily="34" charset="0"/>
                <a:ea typeface="Arial" pitchFamily="34" charset="-122"/>
                <a:cs typeface="Arial" pitchFamily="34" charset="-120"/>
              </a:rPr>
              <a:t>Decomposes into trend + seasonal + noise via MCMC Bayesian inference. 2000 iterations default.</a:t>
            </a:r>
            <a:endParaRPr lang="en-US" sz="950" dirty="0"/>
          </a:p>
        </p:txBody>
      </p:sp>
      <p:sp>
        <p:nvSpPr>
          <p:cNvPr id="32" name="Text 30"/>
          <p:cNvSpPr/>
          <p:nvPr/>
        </p:nvSpPr>
        <p:spPr>
          <a:xfrm>
            <a:off x="685800" y="4279392"/>
            <a:ext cx="502920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Best when: </a:t>
            </a:r>
            <a:pPr algn="l" indent="0" marL="0">
              <a:buNone/>
            </a:pPr>
            <a:r>
              <a:rPr lang="en-US" sz="950" dirty="0">
                <a:solidFill>
                  <a:srgbClr val="B0B8C0"/>
                </a:solidFill>
                <a:latin typeface="Arial" pitchFamily="34" charset="0"/>
                <a:ea typeface="Arial" pitchFamily="34" charset="-122"/>
                <a:cs typeface="Arial" pitchFamily="34" charset="-120"/>
              </a:rPr>
              <a:t>Complex patterns with both changing trend AND seasonality</a:t>
            </a:r>
            <a:endParaRPr lang="en-US" sz="950" dirty="0"/>
          </a:p>
        </p:txBody>
      </p:sp>
      <p:sp>
        <p:nvSpPr>
          <p:cNvPr id="33" name="Text 31"/>
          <p:cNvSpPr/>
          <p:nvPr/>
        </p:nvSpPr>
        <p:spPr>
          <a:xfrm>
            <a:off x="685800" y="4462272"/>
            <a:ext cx="7772400" cy="228600"/>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Tunable: </a:t>
            </a:r>
            <a:pPr algn="l" indent="0" marL="0">
              <a:buNone/>
            </a:pPr>
            <a:r>
              <a:rPr lang="en-US" sz="950" dirty="0">
                <a:solidFill>
                  <a:srgbClr val="B0B8C0"/>
                </a:solidFill>
                <a:latin typeface="Arial" pitchFamily="34" charset="0"/>
                <a:ea typeface="Arial" pitchFamily="34" charset="-122"/>
                <a:cs typeface="Arial" pitchFamily="34" charset="-120"/>
              </a:rPr>
              <a:t>niter, burn, local_linear_trend, damped, seed — all tunable</a:t>
            </a:r>
            <a:endParaRPr lang="en-US" sz="950" dirty="0"/>
          </a:p>
        </p:txBody>
      </p:sp>
      <p:sp>
        <p:nvSpPr>
          <p:cNvPr id="34" name="Text 3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All computation runs inside SAP HANA Cloud  ·  Python sends instructions via hana_ml SDK  ·  Results stored in HANA tables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377440" cy="365760"/>
          </a:xfrm>
          <a:prstGeom prst="rect">
            <a:avLst/>
          </a:prstGeom>
          <a:solidFill>
            <a:srgbClr val="F9A825"/>
          </a:solidFill>
          <a:ln/>
        </p:spPr>
      </p:sp>
      <p:sp>
        <p:nvSpPr>
          <p:cNvPr id="4" name="Text 2"/>
          <p:cNvSpPr/>
          <p:nvPr/>
        </p:nvSpPr>
        <p:spPr>
          <a:xfrm>
            <a:off x="457200" y="228600"/>
            <a:ext cx="237744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PARAMETER TUNING</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How We Fine-Tuned Our Way to Accuracy</a:t>
            </a:r>
            <a:endParaRPr lang="en-US" sz="2800" dirty="0"/>
          </a:p>
        </p:txBody>
      </p:sp>
      <p:sp>
        <p:nvSpPr>
          <p:cNvPr id="6" name="Text 4"/>
          <p:cNvSpPr/>
          <p:nvPr/>
        </p:nvSpPr>
        <p:spPr>
          <a:xfrm>
            <a:off x="457200" y="109728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Each iteration taught us something new — we adjusted parameters, removed outliers, and let SAP PAL guide our choices</a:t>
            </a:r>
            <a:endParaRPr lang="en-US" sz="1300" dirty="0"/>
          </a:p>
        </p:txBody>
      </p:sp>
      <p:sp>
        <p:nvSpPr>
          <p:cNvPr id="7" name="Shape 5"/>
          <p:cNvSpPr/>
          <p:nvPr/>
        </p:nvSpPr>
        <p:spPr>
          <a:xfrm>
            <a:off x="457200" y="1554480"/>
            <a:ext cx="3977640" cy="594360"/>
          </a:xfrm>
          <a:prstGeom prst="rect">
            <a:avLst/>
          </a:prstGeom>
          <a:solidFill>
            <a:srgbClr val="172A3A"/>
          </a:solidFill>
          <a:ln w="12700">
            <a:solidFill>
              <a:srgbClr val="00BCD4"/>
            </a:solidFill>
            <a:prstDash val="solid"/>
          </a:ln>
        </p:spPr>
      </p:sp>
      <p:sp>
        <p:nvSpPr>
          <p:cNvPr id="8" name="Shape 6"/>
          <p:cNvSpPr/>
          <p:nvPr/>
        </p:nvSpPr>
        <p:spPr>
          <a:xfrm>
            <a:off x="457200" y="1554480"/>
            <a:ext cx="54864" cy="594360"/>
          </a:xfrm>
          <a:prstGeom prst="rect">
            <a:avLst/>
          </a:prstGeom>
          <a:solidFill>
            <a:srgbClr val="00BCD4"/>
          </a:solidFill>
          <a:ln/>
        </p:spPr>
      </p:sp>
      <p:sp>
        <p:nvSpPr>
          <p:cNvPr id="9" name="Text 7"/>
          <p:cNvSpPr/>
          <p:nvPr/>
        </p:nvSpPr>
        <p:spPr>
          <a:xfrm>
            <a:off x="594360" y="1572768"/>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Forecast Horizon</a:t>
            </a:r>
            <a:endParaRPr lang="en-US" sz="1100" dirty="0"/>
          </a:p>
        </p:txBody>
      </p:sp>
      <p:sp>
        <p:nvSpPr>
          <p:cNvPr id="10" name="Text 8"/>
          <p:cNvSpPr/>
          <p:nvPr/>
        </p:nvSpPr>
        <p:spPr>
          <a:xfrm>
            <a:off x="2011680" y="1572768"/>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6 months</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12 months</a:t>
            </a:r>
            <a:endParaRPr lang="en-US" sz="1000" dirty="0"/>
          </a:p>
        </p:txBody>
      </p:sp>
      <p:sp>
        <p:nvSpPr>
          <p:cNvPr id="11" name="Text 9"/>
          <p:cNvSpPr/>
          <p:nvPr/>
        </p:nvSpPr>
        <p:spPr>
          <a:xfrm>
            <a:off x="594360" y="1865376"/>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Business needed full-year planning visibility</a:t>
            </a:r>
            <a:endParaRPr lang="en-US" sz="900" dirty="0"/>
          </a:p>
        </p:txBody>
      </p:sp>
      <p:sp>
        <p:nvSpPr>
          <p:cNvPr id="12" name="Shape 10"/>
          <p:cNvSpPr/>
          <p:nvPr/>
        </p:nvSpPr>
        <p:spPr>
          <a:xfrm>
            <a:off x="4709160" y="1554480"/>
            <a:ext cx="3977640" cy="594360"/>
          </a:xfrm>
          <a:prstGeom prst="rect">
            <a:avLst/>
          </a:prstGeom>
          <a:solidFill>
            <a:srgbClr val="172A3A"/>
          </a:solidFill>
          <a:ln w="12700">
            <a:solidFill>
              <a:srgbClr val="2196F3"/>
            </a:solidFill>
            <a:prstDash val="solid"/>
          </a:ln>
        </p:spPr>
      </p:sp>
      <p:sp>
        <p:nvSpPr>
          <p:cNvPr id="13" name="Shape 11"/>
          <p:cNvSpPr/>
          <p:nvPr/>
        </p:nvSpPr>
        <p:spPr>
          <a:xfrm>
            <a:off x="4709160" y="1554480"/>
            <a:ext cx="54864" cy="594360"/>
          </a:xfrm>
          <a:prstGeom prst="rect">
            <a:avLst/>
          </a:prstGeom>
          <a:solidFill>
            <a:srgbClr val="2196F3"/>
          </a:solidFill>
          <a:ln/>
        </p:spPr>
      </p:sp>
      <p:sp>
        <p:nvSpPr>
          <p:cNvPr id="14" name="Text 12"/>
          <p:cNvSpPr/>
          <p:nvPr/>
        </p:nvSpPr>
        <p:spPr>
          <a:xfrm>
            <a:off x="4846320" y="1572768"/>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Test Holdout</a:t>
            </a:r>
            <a:endParaRPr lang="en-US" sz="1100" dirty="0"/>
          </a:p>
        </p:txBody>
      </p:sp>
      <p:sp>
        <p:nvSpPr>
          <p:cNvPr id="15" name="Text 13"/>
          <p:cNvSpPr/>
          <p:nvPr/>
        </p:nvSpPr>
        <p:spPr>
          <a:xfrm>
            <a:off x="6263640" y="1572768"/>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5 months</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3 months</a:t>
            </a:r>
            <a:endParaRPr lang="en-US" sz="1000" dirty="0"/>
          </a:p>
        </p:txBody>
      </p:sp>
      <p:sp>
        <p:nvSpPr>
          <p:cNvPr id="16" name="Text 14"/>
          <p:cNvSpPr/>
          <p:nvPr/>
        </p:nvSpPr>
        <p:spPr>
          <a:xfrm>
            <a:off x="4846320" y="1865376"/>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More training data improved BSTS convergence</a:t>
            </a:r>
            <a:endParaRPr lang="en-US" sz="900" dirty="0"/>
          </a:p>
        </p:txBody>
      </p:sp>
      <p:sp>
        <p:nvSpPr>
          <p:cNvPr id="17" name="Shape 15"/>
          <p:cNvSpPr/>
          <p:nvPr/>
        </p:nvSpPr>
        <p:spPr>
          <a:xfrm>
            <a:off x="457200" y="2221992"/>
            <a:ext cx="3977640" cy="594360"/>
          </a:xfrm>
          <a:prstGeom prst="rect">
            <a:avLst/>
          </a:prstGeom>
          <a:solidFill>
            <a:srgbClr val="172A3A"/>
          </a:solidFill>
          <a:ln w="12700">
            <a:solidFill>
              <a:srgbClr val="F9A825"/>
            </a:solidFill>
            <a:prstDash val="solid"/>
          </a:ln>
        </p:spPr>
      </p:sp>
      <p:sp>
        <p:nvSpPr>
          <p:cNvPr id="18" name="Shape 16"/>
          <p:cNvSpPr/>
          <p:nvPr/>
        </p:nvSpPr>
        <p:spPr>
          <a:xfrm>
            <a:off x="457200" y="2221992"/>
            <a:ext cx="54864" cy="594360"/>
          </a:xfrm>
          <a:prstGeom prst="rect">
            <a:avLst/>
          </a:prstGeom>
          <a:solidFill>
            <a:srgbClr val="F9A825"/>
          </a:solidFill>
          <a:ln/>
        </p:spPr>
      </p:sp>
      <p:sp>
        <p:nvSpPr>
          <p:cNvPr id="19" name="Text 17"/>
          <p:cNvSpPr/>
          <p:nvPr/>
        </p:nvSpPr>
        <p:spPr>
          <a:xfrm>
            <a:off x="594360" y="2240280"/>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Models Used</a:t>
            </a:r>
            <a:endParaRPr lang="en-US" sz="1100" dirty="0"/>
          </a:p>
        </p:txBody>
      </p:sp>
      <p:sp>
        <p:nvSpPr>
          <p:cNvPr id="20" name="Text 18"/>
          <p:cNvSpPr/>
          <p:nvPr/>
        </p:nvSpPr>
        <p:spPr>
          <a:xfrm>
            <a:off x="2011680" y="2240280"/>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SES only</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SES + SARIMA + BSTS</a:t>
            </a:r>
            <a:endParaRPr lang="en-US" sz="1000" dirty="0"/>
          </a:p>
        </p:txBody>
      </p:sp>
      <p:sp>
        <p:nvSpPr>
          <p:cNvPr id="21" name="Text 19"/>
          <p:cNvSpPr/>
          <p:nvPr/>
        </p:nvSpPr>
        <p:spPr>
          <a:xfrm>
            <a:off x="594360" y="2532888"/>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AutoML (PAL_AUTOML_FIT) recommended BSTS as best model</a:t>
            </a:r>
            <a:endParaRPr lang="en-US" sz="900" dirty="0"/>
          </a:p>
        </p:txBody>
      </p:sp>
      <p:sp>
        <p:nvSpPr>
          <p:cNvPr id="22" name="Shape 20"/>
          <p:cNvSpPr/>
          <p:nvPr/>
        </p:nvSpPr>
        <p:spPr>
          <a:xfrm>
            <a:off x="4709160" y="2221992"/>
            <a:ext cx="3977640" cy="594360"/>
          </a:xfrm>
          <a:prstGeom prst="rect">
            <a:avLst/>
          </a:prstGeom>
          <a:solidFill>
            <a:srgbClr val="172A3A"/>
          </a:solidFill>
          <a:ln w="12700">
            <a:solidFill>
              <a:srgbClr val="FF9800"/>
            </a:solidFill>
            <a:prstDash val="solid"/>
          </a:ln>
        </p:spPr>
      </p:sp>
      <p:sp>
        <p:nvSpPr>
          <p:cNvPr id="23" name="Shape 21"/>
          <p:cNvSpPr/>
          <p:nvPr/>
        </p:nvSpPr>
        <p:spPr>
          <a:xfrm>
            <a:off x="4709160" y="2221992"/>
            <a:ext cx="54864" cy="594360"/>
          </a:xfrm>
          <a:prstGeom prst="rect">
            <a:avLst/>
          </a:prstGeom>
          <a:solidFill>
            <a:srgbClr val="FF9800"/>
          </a:solidFill>
          <a:ln/>
        </p:spPr>
      </p:sp>
      <p:sp>
        <p:nvSpPr>
          <p:cNvPr id="24" name="Text 22"/>
          <p:cNvSpPr/>
          <p:nvPr/>
        </p:nvSpPr>
        <p:spPr>
          <a:xfrm>
            <a:off x="4846320" y="2240280"/>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BSTS Iterations</a:t>
            </a:r>
            <a:endParaRPr lang="en-US" sz="1100" dirty="0"/>
          </a:p>
        </p:txBody>
      </p:sp>
      <p:sp>
        <p:nvSpPr>
          <p:cNvPr id="25" name="Text 23"/>
          <p:cNvSpPr/>
          <p:nvPr/>
        </p:nvSpPr>
        <p:spPr>
          <a:xfrm>
            <a:off x="6263640" y="2240280"/>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1000 (test)</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2000 (production)</a:t>
            </a:r>
            <a:endParaRPr lang="en-US" sz="1000" dirty="0"/>
          </a:p>
        </p:txBody>
      </p:sp>
      <p:sp>
        <p:nvSpPr>
          <p:cNvPr id="26" name="Text 24"/>
          <p:cNvSpPr/>
          <p:nvPr/>
        </p:nvSpPr>
        <p:spPr>
          <a:xfrm>
            <a:off x="4846320" y="2532888"/>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1000 MCMC iterations insufficient for convergence</a:t>
            </a:r>
            <a:endParaRPr lang="en-US" sz="900" dirty="0"/>
          </a:p>
        </p:txBody>
      </p:sp>
      <p:sp>
        <p:nvSpPr>
          <p:cNvPr id="27" name="Shape 25"/>
          <p:cNvSpPr/>
          <p:nvPr/>
        </p:nvSpPr>
        <p:spPr>
          <a:xfrm>
            <a:off x="457200" y="2889504"/>
            <a:ext cx="3977640" cy="594360"/>
          </a:xfrm>
          <a:prstGeom prst="rect">
            <a:avLst/>
          </a:prstGeom>
          <a:solidFill>
            <a:srgbClr val="172A3A"/>
          </a:solidFill>
          <a:ln w="12700">
            <a:solidFill>
              <a:srgbClr val="4CAF50"/>
            </a:solidFill>
            <a:prstDash val="solid"/>
          </a:ln>
        </p:spPr>
      </p:sp>
      <p:sp>
        <p:nvSpPr>
          <p:cNvPr id="28" name="Shape 26"/>
          <p:cNvSpPr/>
          <p:nvPr/>
        </p:nvSpPr>
        <p:spPr>
          <a:xfrm>
            <a:off x="457200" y="2889504"/>
            <a:ext cx="54864" cy="594360"/>
          </a:xfrm>
          <a:prstGeom prst="rect">
            <a:avLst/>
          </a:prstGeom>
          <a:solidFill>
            <a:srgbClr val="4CAF50"/>
          </a:solidFill>
          <a:ln/>
        </p:spPr>
      </p:sp>
      <p:sp>
        <p:nvSpPr>
          <p:cNvPr id="29" name="Text 27"/>
          <p:cNvSpPr/>
          <p:nvPr/>
        </p:nvSpPr>
        <p:spPr>
          <a:xfrm>
            <a:off x="594360" y="2907792"/>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Data Quality</a:t>
            </a:r>
            <a:endParaRPr lang="en-US" sz="1100" dirty="0"/>
          </a:p>
        </p:txBody>
      </p:sp>
      <p:sp>
        <p:nvSpPr>
          <p:cNvPr id="30" name="Text 28"/>
          <p:cNvSpPr/>
          <p:nvPr/>
        </p:nvSpPr>
        <p:spPr>
          <a:xfrm>
            <a:off x="2011680" y="2907792"/>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None</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Outlier + cliff detection</a:t>
            </a:r>
            <a:endParaRPr lang="en-US" sz="1000" dirty="0"/>
          </a:p>
        </p:txBody>
      </p:sp>
      <p:sp>
        <p:nvSpPr>
          <p:cNvPr id="31" name="Text 29"/>
          <p:cNvSpPr/>
          <p:nvPr/>
        </p:nvSpPr>
        <p:spPr>
          <a:xfrm>
            <a:off x="594360" y="3200400"/>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Production shutdowns and one-time events created spikes</a:t>
            </a:r>
            <a:endParaRPr lang="en-US" sz="900" dirty="0"/>
          </a:p>
        </p:txBody>
      </p:sp>
      <p:sp>
        <p:nvSpPr>
          <p:cNvPr id="32" name="Shape 30"/>
          <p:cNvSpPr/>
          <p:nvPr/>
        </p:nvSpPr>
        <p:spPr>
          <a:xfrm>
            <a:off x="4709160" y="2889504"/>
            <a:ext cx="3977640" cy="594360"/>
          </a:xfrm>
          <a:prstGeom prst="rect">
            <a:avLst/>
          </a:prstGeom>
          <a:solidFill>
            <a:srgbClr val="172A3A"/>
          </a:solidFill>
          <a:ln w="12700">
            <a:solidFill>
              <a:srgbClr val="E53935"/>
            </a:solidFill>
            <a:prstDash val="solid"/>
          </a:ln>
        </p:spPr>
      </p:sp>
      <p:sp>
        <p:nvSpPr>
          <p:cNvPr id="33" name="Shape 31"/>
          <p:cNvSpPr/>
          <p:nvPr/>
        </p:nvSpPr>
        <p:spPr>
          <a:xfrm>
            <a:off x="4709160" y="2889504"/>
            <a:ext cx="54864" cy="594360"/>
          </a:xfrm>
          <a:prstGeom prst="rect">
            <a:avLst/>
          </a:prstGeom>
          <a:solidFill>
            <a:srgbClr val="E53935"/>
          </a:solidFill>
          <a:ln/>
        </p:spPr>
      </p:sp>
      <p:sp>
        <p:nvSpPr>
          <p:cNvPr id="34" name="Text 32"/>
          <p:cNvSpPr/>
          <p:nvPr/>
        </p:nvSpPr>
        <p:spPr>
          <a:xfrm>
            <a:off x="4846320" y="2907792"/>
            <a:ext cx="137160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Negative Clamping</a:t>
            </a:r>
            <a:endParaRPr lang="en-US" sz="1100" dirty="0"/>
          </a:p>
        </p:txBody>
      </p:sp>
      <p:sp>
        <p:nvSpPr>
          <p:cNvPr id="35" name="Text 33"/>
          <p:cNvSpPr/>
          <p:nvPr/>
        </p:nvSpPr>
        <p:spPr>
          <a:xfrm>
            <a:off x="6263640" y="2907792"/>
            <a:ext cx="2286000" cy="274320"/>
          </a:xfrm>
          <a:prstGeom prst="rect">
            <a:avLst/>
          </a:prstGeom>
          <a:noFill/>
          <a:ln/>
        </p:spPr>
        <p:txBody>
          <a:bodyPr wrap="square" lIns="0" tIns="0" rIns="0" bIns="0" rtlCol="0" anchor="ctr"/>
          <a:lstStyle/>
          <a:p>
            <a:pPr algn="l" indent="0" marL="0">
              <a:buNone/>
            </a:pPr>
            <a:r>
              <a:rPr lang="en-US" sz="1000" b="1" dirty="0">
                <a:solidFill>
                  <a:srgbClr val="E53935"/>
                </a:solidFill>
                <a:latin typeface="Arial" pitchFamily="34" charset="0"/>
                <a:ea typeface="Arial" pitchFamily="34" charset="-122"/>
                <a:cs typeface="Arial" pitchFamily="34" charset="-120"/>
              </a:rPr>
              <a:t>None</a:t>
            </a:r>
            <a:pPr algn="l" indent="0" marL="0">
              <a:buNone/>
            </a:pPr>
            <a:r>
              <a:rPr lang="en-US" sz="1000" dirty="0">
                <a:solidFill>
                  <a:srgbClr val="B0B8C0"/>
                </a:solidFill>
                <a:latin typeface="Arial" pitchFamily="34" charset="0"/>
                <a:ea typeface="Arial" pitchFamily="34" charset="-122"/>
                <a:cs typeface="Arial" pitchFamily="34" charset="-120"/>
              </a:rPr>
              <a:t>  →  </a:t>
            </a:r>
            <a:pPr algn="l" indent="0" marL="0">
              <a:buNone/>
            </a:pPr>
            <a:r>
              <a:rPr lang="en-US" sz="1000" b="1" dirty="0">
                <a:solidFill>
                  <a:srgbClr val="4CAF50"/>
                </a:solidFill>
                <a:latin typeface="Arial" pitchFamily="34" charset="0"/>
                <a:ea typeface="Arial" pitchFamily="34" charset="-122"/>
                <a:cs typeface="Arial" pitchFamily="34" charset="-120"/>
              </a:rPr>
              <a:t>max(0, forecast)</a:t>
            </a:r>
            <a:endParaRPr lang="en-US" sz="1000" dirty="0"/>
          </a:p>
        </p:txBody>
      </p:sp>
      <p:sp>
        <p:nvSpPr>
          <p:cNvPr id="36" name="Text 34"/>
          <p:cNvSpPr/>
          <p:nvPr/>
        </p:nvSpPr>
        <p:spPr>
          <a:xfrm>
            <a:off x="4846320" y="3200400"/>
            <a:ext cx="3703320" cy="256032"/>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SARIMA can produce negative counts — clamped to zero</a:t>
            </a:r>
            <a:endParaRPr lang="en-US" sz="900" dirty="0"/>
          </a:p>
        </p:txBody>
      </p:sp>
      <p:sp>
        <p:nvSpPr>
          <p:cNvPr id="37" name="Shape 35"/>
          <p:cNvSpPr/>
          <p:nvPr/>
        </p:nvSpPr>
        <p:spPr>
          <a:xfrm>
            <a:off x="457200" y="3703320"/>
            <a:ext cx="8229600" cy="777240"/>
          </a:xfrm>
          <a:prstGeom prst="rect">
            <a:avLst/>
          </a:prstGeom>
          <a:solidFill>
            <a:srgbClr val="172A3A"/>
          </a:solidFill>
          <a:ln w="19050">
            <a:solidFill>
              <a:srgbClr val="00BCD4"/>
            </a:solidFill>
            <a:prstDash val="solid"/>
          </a:ln>
        </p:spPr>
      </p:sp>
      <p:sp>
        <p:nvSpPr>
          <p:cNvPr id="38" name="Text 36"/>
          <p:cNvSpPr/>
          <p:nvPr/>
        </p:nvSpPr>
        <p:spPr>
          <a:xfrm>
            <a:off x="640080" y="3749040"/>
            <a:ext cx="1828800" cy="228600"/>
          </a:xfrm>
          <a:prstGeom prst="rect">
            <a:avLst/>
          </a:prstGeom>
          <a:noFill/>
          <a:ln/>
        </p:spPr>
        <p:txBody>
          <a:bodyPr wrap="square" lIns="0" tIns="0" rIns="0" bIns="0" rtlCol="0" anchor="ctr"/>
          <a:lstStyle/>
          <a:p>
            <a:pPr algn="l" indent="0" marL="0">
              <a:buNone/>
            </a:pPr>
            <a:r>
              <a:rPr lang="en-US" sz="1000" b="1" dirty="0">
                <a:solidFill>
                  <a:srgbClr val="00BCD4"/>
                </a:solidFill>
                <a:latin typeface="Arial" pitchFamily="34" charset="0"/>
                <a:ea typeface="Arial" pitchFamily="34" charset="-122"/>
                <a:cs typeface="Arial" pitchFamily="34" charset="-120"/>
              </a:rPr>
              <a:t>KEY LEARNINGS</a:t>
            </a:r>
            <a:endParaRPr lang="en-US" sz="1000" dirty="0"/>
          </a:p>
        </p:txBody>
      </p:sp>
      <p:sp>
        <p:nvSpPr>
          <p:cNvPr id="39" name="Text 37"/>
          <p:cNvSpPr/>
          <p:nvPr/>
        </p:nvSpPr>
        <p:spPr>
          <a:xfrm>
            <a:off x="640080" y="3977640"/>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AutoML (PAL_AUTOML_FIT) confirmed BSTS as best overall — but keeping all 3 models ensures best fit per accessory</a:t>
            </a:r>
            <a:endParaRPr lang="en-US" sz="950" dirty="0"/>
          </a:p>
        </p:txBody>
      </p:sp>
      <p:sp>
        <p:nvSpPr>
          <p:cNvPr id="40" name="Text 38"/>
          <p:cNvSpPr/>
          <p:nvPr/>
        </p:nvSpPr>
        <p:spPr>
          <a:xfrm>
            <a:off x="640080" y="4133088"/>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More MCMC iterations (niter) = better BSTS accuracy, but diminishing returns above 3000</a:t>
            </a:r>
            <a:endParaRPr lang="en-US" sz="950" dirty="0"/>
          </a:p>
        </p:txBody>
      </p:sp>
      <p:sp>
        <p:nvSpPr>
          <p:cNvPr id="41" name="Text 39"/>
          <p:cNvSpPr/>
          <p:nvPr/>
        </p:nvSpPr>
        <p:spPr>
          <a:xfrm>
            <a:off x="640080" y="4288536"/>
            <a:ext cx="7863840" cy="155448"/>
          </a:xfrm>
          <a:prstGeom prst="rect">
            <a:avLst/>
          </a:prstGeom>
          <a:noFill/>
          <a:ln/>
        </p:spPr>
        <p:txBody>
          <a:bodyPr wrap="square" lIns="0" tIns="0" rIns="0" bIns="0" rtlCol="0" anchor="ctr"/>
          <a:lstStyle/>
          <a:p>
            <a:pPr algn="l" indent="0" marL="0">
              <a:buNone/>
            </a:pPr>
            <a:r>
              <a:rPr lang="en-US" sz="950" dirty="0">
                <a:solidFill>
                  <a:srgbClr val="00BCD4"/>
                </a:solidFill>
                <a:latin typeface="Arial" pitchFamily="34" charset="0"/>
                <a:ea typeface="Arial" pitchFamily="34" charset="-122"/>
                <a:cs typeface="Arial" pitchFamily="34" charset="-120"/>
              </a:rPr>
              <a:t>▸ </a:t>
            </a:r>
            <a:pPr algn="l" indent="0" marL="0">
              <a:buNone/>
            </a:pPr>
            <a:r>
              <a:rPr lang="en-US" sz="950" dirty="0">
                <a:solidFill>
                  <a:srgbClr val="B0B8C0"/>
                </a:solidFill>
                <a:latin typeface="Arial" pitchFamily="34" charset="0"/>
                <a:ea typeface="Arial" pitchFamily="34" charset="-122"/>
                <a:cs typeface="Arial" pitchFamily="34" charset="-120"/>
              </a:rPr>
              <a:t>Exposing parameters via REST API enables on-demand fine-tuning without redeploying the pipeline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1828800" cy="365760"/>
          </a:xfrm>
          <a:prstGeom prst="rect">
            <a:avLst/>
          </a:prstGeom>
          <a:solidFill>
            <a:srgbClr val="F9A825"/>
          </a:solidFill>
          <a:ln/>
        </p:spPr>
      </p:sp>
      <p:sp>
        <p:nvSpPr>
          <p:cNvPr id="4" name="Text 2"/>
          <p:cNvSpPr/>
          <p:nvPr/>
        </p:nvSpPr>
        <p:spPr>
          <a:xfrm>
            <a:off x="457200" y="228600"/>
            <a:ext cx="182880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DATA PIPELINE</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From Raw Data to 12-Month Predictions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How 33,674 production records become actionable intelligence — powered by SAP PAL inside HANA Cloud</a:t>
            </a:r>
            <a:endParaRPr lang="en-US" sz="1300" dirty="0"/>
          </a:p>
        </p:txBody>
      </p:sp>
      <p:sp>
        <p:nvSpPr>
          <p:cNvPr id="7" name="Shape 5"/>
          <p:cNvSpPr/>
          <p:nvPr/>
        </p:nvSpPr>
        <p:spPr>
          <a:xfrm>
            <a:off x="320040" y="1920240"/>
            <a:ext cx="1508760" cy="2743200"/>
          </a:xfrm>
          <a:prstGeom prst="rect">
            <a:avLst/>
          </a:prstGeom>
          <a:solidFill>
            <a:srgbClr val="172A3A"/>
          </a:solidFill>
          <a:ln w="19050">
            <a:solidFill>
              <a:srgbClr val="00BCD4"/>
            </a:solidFill>
            <a:prstDash val="solid"/>
          </a:ln>
        </p:spPr>
      </p:sp>
      <p:sp>
        <p:nvSpPr>
          <p:cNvPr id="8" name="Shape 6"/>
          <p:cNvSpPr/>
          <p:nvPr/>
        </p:nvSpPr>
        <p:spPr>
          <a:xfrm>
            <a:off x="320040" y="1920240"/>
            <a:ext cx="1508760" cy="54864"/>
          </a:xfrm>
          <a:prstGeom prst="rect">
            <a:avLst/>
          </a:prstGeom>
          <a:solidFill>
            <a:srgbClr val="00BCD4"/>
          </a:solidFill>
          <a:ln/>
        </p:spPr>
      </p:sp>
      <p:sp>
        <p:nvSpPr>
          <p:cNvPr id="9" name="Shape 7"/>
          <p:cNvSpPr/>
          <p:nvPr/>
        </p:nvSpPr>
        <p:spPr>
          <a:xfrm>
            <a:off x="822960" y="2103120"/>
            <a:ext cx="502920" cy="502920"/>
          </a:xfrm>
          <a:prstGeom prst="ellipse">
            <a:avLst/>
          </a:prstGeom>
          <a:solidFill>
            <a:srgbClr val="00BCD4"/>
          </a:solidFill>
          <a:ln/>
        </p:spPr>
      </p:sp>
      <p:sp>
        <p:nvSpPr>
          <p:cNvPr id="10" name="Text 8"/>
          <p:cNvSpPr/>
          <p:nvPr/>
        </p:nvSpPr>
        <p:spPr>
          <a:xfrm>
            <a:off x="82296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36576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Raw Data</a:t>
            </a:r>
            <a:endParaRPr lang="en-US" sz="1300" dirty="0"/>
          </a:p>
        </p:txBody>
      </p:sp>
      <p:sp>
        <p:nvSpPr>
          <p:cNvPr id="12" name="Text 10"/>
          <p:cNvSpPr/>
          <p:nvPr/>
        </p:nvSpPr>
        <p:spPr>
          <a:xfrm>
            <a:off x="36576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33,674 records</a:t>
            </a:r>
            <a:endParaRPr lang="en-US" sz="1050" dirty="0"/>
          </a:p>
        </p:txBody>
      </p:sp>
      <p:sp>
        <p:nvSpPr>
          <p:cNvPr id="13" name="Text 11"/>
          <p:cNvSpPr/>
          <p:nvPr/>
        </p:nvSpPr>
        <p:spPr>
          <a:xfrm>
            <a:off x="36576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29 months history</a:t>
            </a:r>
            <a:endParaRPr lang="en-US" sz="1050" dirty="0"/>
          </a:p>
        </p:txBody>
      </p:sp>
      <p:sp>
        <p:nvSpPr>
          <p:cNvPr id="14" name="Text 12"/>
          <p:cNvSpPr/>
          <p:nvPr/>
        </p:nvSpPr>
        <p:spPr>
          <a:xfrm>
            <a:off x="36576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5 data dimensions</a:t>
            </a:r>
            <a:endParaRPr lang="en-US" sz="1050" dirty="0"/>
          </a:p>
        </p:txBody>
      </p:sp>
      <p:sp>
        <p:nvSpPr>
          <p:cNvPr id="15" name="Text 13"/>
          <p:cNvSpPr/>
          <p:nvPr/>
        </p:nvSpPr>
        <p:spPr>
          <a:xfrm>
            <a:off x="184708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2011680" y="1920240"/>
            <a:ext cx="1508760" cy="2743200"/>
          </a:xfrm>
          <a:prstGeom prst="rect">
            <a:avLst/>
          </a:prstGeom>
          <a:solidFill>
            <a:srgbClr val="172A3A"/>
          </a:solidFill>
          <a:ln w="19050">
            <a:solidFill>
              <a:srgbClr val="2196F3"/>
            </a:solidFill>
            <a:prstDash val="solid"/>
          </a:ln>
        </p:spPr>
      </p:sp>
      <p:sp>
        <p:nvSpPr>
          <p:cNvPr id="17" name="Shape 15"/>
          <p:cNvSpPr/>
          <p:nvPr/>
        </p:nvSpPr>
        <p:spPr>
          <a:xfrm>
            <a:off x="2011680" y="1920240"/>
            <a:ext cx="1508760" cy="54864"/>
          </a:xfrm>
          <a:prstGeom prst="rect">
            <a:avLst/>
          </a:prstGeom>
          <a:solidFill>
            <a:srgbClr val="2196F3"/>
          </a:solidFill>
          <a:ln/>
        </p:spPr>
      </p:sp>
      <p:sp>
        <p:nvSpPr>
          <p:cNvPr id="18" name="Shape 16"/>
          <p:cNvSpPr/>
          <p:nvPr/>
        </p:nvSpPr>
        <p:spPr>
          <a:xfrm>
            <a:off x="2514600" y="2103120"/>
            <a:ext cx="502920" cy="502920"/>
          </a:xfrm>
          <a:prstGeom prst="ellipse">
            <a:avLst/>
          </a:prstGeom>
          <a:solidFill>
            <a:srgbClr val="2196F3"/>
          </a:solidFill>
          <a:ln/>
        </p:spPr>
      </p:sp>
      <p:sp>
        <p:nvSpPr>
          <p:cNvPr id="19" name="Text 17"/>
          <p:cNvSpPr/>
          <p:nvPr/>
        </p:nvSpPr>
        <p:spPr>
          <a:xfrm>
            <a:off x="251460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2</a:t>
            </a:r>
            <a:endParaRPr lang="en-US" sz="1800" dirty="0"/>
          </a:p>
        </p:txBody>
      </p:sp>
      <p:sp>
        <p:nvSpPr>
          <p:cNvPr id="20" name="Text 18"/>
          <p:cNvSpPr/>
          <p:nvPr/>
        </p:nvSpPr>
        <p:spPr>
          <a:xfrm>
            <a:off x="205740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Data Quality</a:t>
            </a:r>
            <a:endParaRPr lang="en-US" sz="1300" dirty="0"/>
          </a:p>
        </p:txBody>
      </p:sp>
      <p:sp>
        <p:nvSpPr>
          <p:cNvPr id="21" name="Text 19"/>
          <p:cNvSpPr/>
          <p:nvPr/>
        </p:nvSpPr>
        <p:spPr>
          <a:xfrm>
            <a:off x="205740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Outlier detection</a:t>
            </a:r>
            <a:endParaRPr lang="en-US" sz="1050" dirty="0"/>
          </a:p>
        </p:txBody>
      </p:sp>
      <p:sp>
        <p:nvSpPr>
          <p:cNvPr id="22" name="Text 20"/>
          <p:cNvSpPr/>
          <p:nvPr/>
        </p:nvSpPr>
        <p:spPr>
          <a:xfrm>
            <a:off x="205740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Spike correction</a:t>
            </a:r>
            <a:endParaRPr lang="en-US" sz="1050" dirty="0"/>
          </a:p>
        </p:txBody>
      </p:sp>
      <p:sp>
        <p:nvSpPr>
          <p:cNvPr id="23" name="Text 21"/>
          <p:cNvSpPr/>
          <p:nvPr/>
        </p:nvSpPr>
        <p:spPr>
          <a:xfrm>
            <a:off x="205740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Completeness checks</a:t>
            </a:r>
            <a:endParaRPr lang="en-US" sz="1050" dirty="0"/>
          </a:p>
        </p:txBody>
      </p:sp>
      <p:sp>
        <p:nvSpPr>
          <p:cNvPr id="24" name="Text 22"/>
          <p:cNvSpPr/>
          <p:nvPr/>
        </p:nvSpPr>
        <p:spPr>
          <a:xfrm>
            <a:off x="353872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3703320" y="1920240"/>
            <a:ext cx="1508760" cy="2743200"/>
          </a:xfrm>
          <a:prstGeom prst="rect">
            <a:avLst/>
          </a:prstGeom>
          <a:solidFill>
            <a:srgbClr val="172A3A"/>
          </a:solidFill>
          <a:ln w="19050">
            <a:solidFill>
              <a:srgbClr val="F9A825"/>
            </a:solidFill>
            <a:prstDash val="solid"/>
          </a:ln>
        </p:spPr>
      </p:sp>
      <p:sp>
        <p:nvSpPr>
          <p:cNvPr id="26" name="Shape 24"/>
          <p:cNvSpPr/>
          <p:nvPr/>
        </p:nvSpPr>
        <p:spPr>
          <a:xfrm>
            <a:off x="3703320" y="1920240"/>
            <a:ext cx="1508760" cy="54864"/>
          </a:xfrm>
          <a:prstGeom prst="rect">
            <a:avLst/>
          </a:prstGeom>
          <a:solidFill>
            <a:srgbClr val="F9A825"/>
          </a:solidFill>
          <a:ln/>
        </p:spPr>
      </p:sp>
      <p:sp>
        <p:nvSpPr>
          <p:cNvPr id="27" name="Shape 25"/>
          <p:cNvSpPr/>
          <p:nvPr/>
        </p:nvSpPr>
        <p:spPr>
          <a:xfrm>
            <a:off x="4206240" y="2103120"/>
            <a:ext cx="502920" cy="502920"/>
          </a:xfrm>
          <a:prstGeom prst="ellipse">
            <a:avLst/>
          </a:prstGeom>
          <a:solidFill>
            <a:srgbClr val="F9A825"/>
          </a:solidFill>
          <a:ln/>
        </p:spPr>
      </p:sp>
      <p:sp>
        <p:nvSpPr>
          <p:cNvPr id="28" name="Text 26"/>
          <p:cNvSpPr/>
          <p:nvPr/>
        </p:nvSpPr>
        <p:spPr>
          <a:xfrm>
            <a:off x="420624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3</a:t>
            </a:r>
            <a:endParaRPr lang="en-US" sz="1800" dirty="0"/>
          </a:p>
        </p:txBody>
      </p:sp>
      <p:sp>
        <p:nvSpPr>
          <p:cNvPr id="29" name="Text 27"/>
          <p:cNvSpPr/>
          <p:nvPr/>
        </p:nvSpPr>
        <p:spPr>
          <a:xfrm>
            <a:off x="374904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SAP PAL Training</a:t>
            </a:r>
            <a:endParaRPr lang="en-US" sz="1300" dirty="0"/>
          </a:p>
        </p:txBody>
      </p:sp>
      <p:sp>
        <p:nvSpPr>
          <p:cNvPr id="30" name="Text 28"/>
          <p:cNvSpPr/>
          <p:nvPr/>
        </p:nvSpPr>
        <p:spPr>
          <a:xfrm>
            <a:off x="374904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SES | SARIMA | BSTS</a:t>
            </a:r>
            <a:endParaRPr lang="en-US" sz="1050" dirty="0"/>
          </a:p>
        </p:txBody>
      </p:sp>
      <p:sp>
        <p:nvSpPr>
          <p:cNvPr id="31" name="Text 29"/>
          <p:cNvSpPr/>
          <p:nvPr/>
        </p:nvSpPr>
        <p:spPr>
          <a:xfrm>
            <a:off x="374904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All via SAP PAL</a:t>
            </a:r>
            <a:endParaRPr lang="en-US" sz="1050" dirty="0"/>
          </a:p>
        </p:txBody>
      </p:sp>
      <p:sp>
        <p:nvSpPr>
          <p:cNvPr id="32" name="Text 30"/>
          <p:cNvSpPr/>
          <p:nvPr/>
        </p:nvSpPr>
        <p:spPr>
          <a:xfrm>
            <a:off x="374904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Per accessory code</a:t>
            </a:r>
            <a:endParaRPr lang="en-US" sz="1050" dirty="0"/>
          </a:p>
        </p:txBody>
      </p:sp>
      <p:sp>
        <p:nvSpPr>
          <p:cNvPr id="33" name="Text 31"/>
          <p:cNvSpPr/>
          <p:nvPr/>
        </p:nvSpPr>
        <p:spPr>
          <a:xfrm>
            <a:off x="523036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34" name="Shape 32"/>
          <p:cNvSpPr/>
          <p:nvPr/>
        </p:nvSpPr>
        <p:spPr>
          <a:xfrm>
            <a:off x="5394960" y="1920240"/>
            <a:ext cx="1508760" cy="2743200"/>
          </a:xfrm>
          <a:prstGeom prst="rect">
            <a:avLst/>
          </a:prstGeom>
          <a:solidFill>
            <a:srgbClr val="172A3A"/>
          </a:solidFill>
          <a:ln w="19050">
            <a:solidFill>
              <a:srgbClr val="FF9800"/>
            </a:solidFill>
            <a:prstDash val="solid"/>
          </a:ln>
        </p:spPr>
      </p:sp>
      <p:sp>
        <p:nvSpPr>
          <p:cNvPr id="35" name="Shape 33"/>
          <p:cNvSpPr/>
          <p:nvPr/>
        </p:nvSpPr>
        <p:spPr>
          <a:xfrm>
            <a:off x="5394960" y="1920240"/>
            <a:ext cx="1508760" cy="54864"/>
          </a:xfrm>
          <a:prstGeom prst="rect">
            <a:avLst/>
          </a:prstGeom>
          <a:solidFill>
            <a:srgbClr val="FF9800"/>
          </a:solidFill>
          <a:ln/>
        </p:spPr>
      </p:sp>
      <p:sp>
        <p:nvSpPr>
          <p:cNvPr id="36" name="Shape 34"/>
          <p:cNvSpPr/>
          <p:nvPr/>
        </p:nvSpPr>
        <p:spPr>
          <a:xfrm>
            <a:off x="5897880" y="2103120"/>
            <a:ext cx="502920" cy="502920"/>
          </a:xfrm>
          <a:prstGeom prst="ellipse">
            <a:avLst/>
          </a:prstGeom>
          <a:solidFill>
            <a:srgbClr val="FF9800"/>
          </a:solidFill>
          <a:ln/>
        </p:spPr>
      </p:sp>
      <p:sp>
        <p:nvSpPr>
          <p:cNvPr id="37" name="Text 35"/>
          <p:cNvSpPr/>
          <p:nvPr/>
        </p:nvSpPr>
        <p:spPr>
          <a:xfrm>
            <a:off x="589788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4</a:t>
            </a:r>
            <a:endParaRPr lang="en-US" sz="1800" dirty="0"/>
          </a:p>
        </p:txBody>
      </p:sp>
      <p:sp>
        <p:nvSpPr>
          <p:cNvPr id="38" name="Text 36"/>
          <p:cNvSpPr/>
          <p:nvPr/>
        </p:nvSpPr>
        <p:spPr>
          <a:xfrm>
            <a:off x="544068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Model Competition</a:t>
            </a:r>
            <a:endParaRPr lang="en-US" sz="1300" dirty="0"/>
          </a:p>
        </p:txBody>
      </p:sp>
      <p:sp>
        <p:nvSpPr>
          <p:cNvPr id="39" name="Text 37"/>
          <p:cNvSpPr/>
          <p:nvPr/>
        </p:nvSpPr>
        <p:spPr>
          <a:xfrm>
            <a:off x="544068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3-month holdout test</a:t>
            </a:r>
            <a:endParaRPr lang="en-US" sz="1050" dirty="0"/>
          </a:p>
        </p:txBody>
      </p:sp>
      <p:sp>
        <p:nvSpPr>
          <p:cNvPr id="40" name="Text 38"/>
          <p:cNvSpPr/>
          <p:nvPr/>
        </p:nvSpPr>
        <p:spPr>
          <a:xfrm>
            <a:off x="544068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MAPE / RMSE scoring</a:t>
            </a:r>
            <a:endParaRPr lang="en-US" sz="1050" dirty="0"/>
          </a:p>
        </p:txBody>
      </p:sp>
      <p:sp>
        <p:nvSpPr>
          <p:cNvPr id="41" name="Text 39"/>
          <p:cNvSpPr/>
          <p:nvPr/>
        </p:nvSpPr>
        <p:spPr>
          <a:xfrm>
            <a:off x="544068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Auto-select winner</a:t>
            </a:r>
            <a:endParaRPr lang="en-US" sz="1050" dirty="0"/>
          </a:p>
        </p:txBody>
      </p:sp>
      <p:sp>
        <p:nvSpPr>
          <p:cNvPr id="42" name="Text 40"/>
          <p:cNvSpPr/>
          <p:nvPr/>
        </p:nvSpPr>
        <p:spPr>
          <a:xfrm>
            <a:off x="6922008" y="3017520"/>
            <a:ext cx="146304" cy="457200"/>
          </a:xfrm>
          <a:prstGeom prst="rect">
            <a:avLst/>
          </a:prstGeom>
          <a:noFill/>
          <a:ln/>
        </p:spPr>
        <p:txBody>
          <a:bodyPr wrap="square" lIns="0" tIns="0" rIns="0" bIns="0" rtlCol="0" anchor="ctr"/>
          <a:lstStyle/>
          <a:p>
            <a:pPr algn="ctr" indent="0" marL="0">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7086600" y="1920240"/>
            <a:ext cx="1508760" cy="2743200"/>
          </a:xfrm>
          <a:prstGeom prst="rect">
            <a:avLst/>
          </a:prstGeom>
          <a:solidFill>
            <a:srgbClr val="172A3A"/>
          </a:solidFill>
          <a:ln w="19050">
            <a:solidFill>
              <a:srgbClr val="4CAF50"/>
            </a:solidFill>
            <a:prstDash val="solid"/>
          </a:ln>
        </p:spPr>
      </p:sp>
      <p:sp>
        <p:nvSpPr>
          <p:cNvPr id="44" name="Shape 42"/>
          <p:cNvSpPr/>
          <p:nvPr/>
        </p:nvSpPr>
        <p:spPr>
          <a:xfrm>
            <a:off x="7086600" y="1920240"/>
            <a:ext cx="1508760" cy="54864"/>
          </a:xfrm>
          <a:prstGeom prst="rect">
            <a:avLst/>
          </a:prstGeom>
          <a:solidFill>
            <a:srgbClr val="4CAF50"/>
          </a:solidFill>
          <a:ln/>
        </p:spPr>
      </p:sp>
      <p:sp>
        <p:nvSpPr>
          <p:cNvPr id="45" name="Shape 43"/>
          <p:cNvSpPr/>
          <p:nvPr/>
        </p:nvSpPr>
        <p:spPr>
          <a:xfrm>
            <a:off x="7589520" y="2103120"/>
            <a:ext cx="502920" cy="502920"/>
          </a:xfrm>
          <a:prstGeom prst="ellipse">
            <a:avLst/>
          </a:prstGeom>
          <a:solidFill>
            <a:srgbClr val="4CAF50"/>
          </a:solidFill>
          <a:ln/>
        </p:spPr>
      </p:sp>
      <p:sp>
        <p:nvSpPr>
          <p:cNvPr id="46" name="Text 44"/>
          <p:cNvSpPr/>
          <p:nvPr/>
        </p:nvSpPr>
        <p:spPr>
          <a:xfrm>
            <a:off x="7589520" y="2103120"/>
            <a:ext cx="502920" cy="502920"/>
          </a:xfrm>
          <a:prstGeom prst="rect">
            <a:avLst/>
          </a:prstGeom>
          <a:noFill/>
          <a:ln/>
        </p:spPr>
        <p:txBody>
          <a:bodyPr wrap="square" lIns="0" tIns="0" rIns="0" bIns="0" rtlCol="0" anchor="ctr"/>
          <a:lstStyle/>
          <a:p>
            <a:pPr algn="ctr" indent="0" marL="0">
              <a:buNone/>
            </a:pPr>
            <a:r>
              <a:rPr lang="en-US" sz="1800" b="1" dirty="0">
                <a:solidFill>
                  <a:srgbClr val="0F1923"/>
                </a:solidFill>
                <a:latin typeface="Arial" pitchFamily="34" charset="0"/>
                <a:ea typeface="Arial" pitchFamily="34" charset="-122"/>
                <a:cs typeface="Arial" pitchFamily="34" charset="-120"/>
              </a:rPr>
              <a:t>5</a:t>
            </a:r>
            <a:endParaRPr lang="en-US" sz="1800" dirty="0"/>
          </a:p>
        </p:txBody>
      </p:sp>
      <p:sp>
        <p:nvSpPr>
          <p:cNvPr id="47" name="Text 45"/>
          <p:cNvSpPr/>
          <p:nvPr/>
        </p:nvSpPr>
        <p:spPr>
          <a:xfrm>
            <a:off x="7132320" y="2743200"/>
            <a:ext cx="14173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Predictions</a:t>
            </a:r>
            <a:endParaRPr lang="en-US" sz="1300" dirty="0"/>
          </a:p>
        </p:txBody>
      </p:sp>
      <p:sp>
        <p:nvSpPr>
          <p:cNvPr id="48" name="Text 46"/>
          <p:cNvSpPr/>
          <p:nvPr/>
        </p:nvSpPr>
        <p:spPr>
          <a:xfrm>
            <a:off x="7132320" y="320040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12-month forecast</a:t>
            </a:r>
            <a:endParaRPr lang="en-US" sz="1050" dirty="0"/>
          </a:p>
        </p:txBody>
      </p:sp>
      <p:sp>
        <p:nvSpPr>
          <p:cNvPr id="49" name="Text 47"/>
          <p:cNvSpPr/>
          <p:nvPr/>
        </p:nvSpPr>
        <p:spPr>
          <a:xfrm>
            <a:off x="7132320" y="361188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38 acc codes</a:t>
            </a:r>
            <a:endParaRPr lang="en-US" sz="1050" dirty="0"/>
          </a:p>
        </p:txBody>
      </p:sp>
      <p:sp>
        <p:nvSpPr>
          <p:cNvPr id="50" name="Text 48"/>
          <p:cNvSpPr/>
          <p:nvPr/>
        </p:nvSpPr>
        <p:spPr>
          <a:xfrm>
            <a:off x="7132320" y="4023360"/>
            <a:ext cx="1417320" cy="365760"/>
          </a:xfrm>
          <a:prstGeom prst="rect">
            <a:avLst/>
          </a:prstGeom>
          <a:noFill/>
          <a:ln/>
        </p:spPr>
        <p:txBody>
          <a:bodyPr wrap="square" lIns="0" tIns="0" rIns="0" bIns="0" rtlCol="0" anchor="ctr"/>
          <a:lstStyle/>
          <a:p>
            <a:pPr algn="ctr" indent="0" marL="0">
              <a:buNone/>
            </a:pPr>
            <a:r>
              <a:rPr lang="en-US" sz="1050" dirty="0">
                <a:solidFill>
                  <a:srgbClr val="B0B8C0"/>
                </a:solidFill>
                <a:latin typeface="Arial" pitchFamily="34" charset="0"/>
                <a:ea typeface="Arial" pitchFamily="34" charset="-122"/>
                <a:cs typeface="Arial" pitchFamily="34" charset="-120"/>
              </a:rPr>
              <a:t>594 composite keys</a:t>
            </a:r>
            <a:endParaRPr lang="en-US" sz="1050" dirty="0"/>
          </a:p>
        </p:txBody>
      </p:sp>
      <p:sp>
        <p:nvSpPr>
          <p:cNvPr id="51" name="Shape 49"/>
          <p:cNvSpPr/>
          <p:nvPr/>
        </p:nvSpPr>
        <p:spPr>
          <a:xfrm>
            <a:off x="320040" y="4800600"/>
            <a:ext cx="8503920" cy="274320"/>
          </a:xfrm>
          <a:prstGeom prst="rect">
            <a:avLst/>
          </a:prstGeom>
          <a:solidFill>
            <a:srgbClr val="172A3A"/>
          </a:solidFill>
          <a:ln w="12700">
            <a:solidFill>
              <a:srgbClr val="00BCD4"/>
            </a:solidFill>
            <a:prstDash val="solid"/>
          </a:ln>
        </p:spPr>
      </p:sp>
      <p:sp>
        <p:nvSpPr>
          <p:cNvPr id="52" name="Text 50"/>
          <p:cNvSpPr/>
          <p:nvPr/>
        </p:nvSpPr>
        <p:spPr>
          <a:xfrm>
            <a:off x="320040" y="4800600"/>
            <a:ext cx="8503920" cy="274320"/>
          </a:xfrm>
          <a:prstGeom prst="rect">
            <a:avLst/>
          </a:prstGeom>
          <a:noFill/>
          <a:ln/>
        </p:spPr>
        <p:txBody>
          <a:bodyPr wrap="square" lIns="0" tIns="0" rIns="0" bIns="0" rtlCol="0" anchor="ctr"/>
          <a:lstStyle/>
          <a:p>
            <a:pPr algn="ctr" indent="0" marL="0">
              <a:buNone/>
            </a:pPr>
            <a:r>
              <a:rPr lang="en-US" sz="1000" dirty="0">
                <a:solidFill>
                  <a:srgbClr val="00BCD4"/>
                </a:solidFill>
                <a:latin typeface="Arial" pitchFamily="34" charset="0"/>
                <a:ea typeface="Arial" pitchFamily="34" charset="-122"/>
                <a:cs typeface="Arial" pitchFamily="34" charset="-120"/>
              </a:rPr>
              <a:t>All processing runs inside SAP HANA Cloud  —  Python sends instructions, HANA does the math  —  results stored in HANA tables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MODEL RESULTS</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Three Models Compete, Best One Wins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indent="0" marL="0">
              <a:buNone/>
            </a:pPr>
            <a:r>
              <a:rPr lang="en-US" sz="1300" dirty="0">
                <a:solidFill>
                  <a:srgbClr val="B0B8C0"/>
                </a:solidFill>
                <a:latin typeface="Arial" pitchFamily="34" charset="0"/>
                <a:ea typeface="Arial" pitchFamily="34" charset="-122"/>
                <a:cs typeface="Arial" pitchFamily="34" charset="-120"/>
              </a:rPr>
              <a:t>Trained on historical data, tested on 3-month holdout, best model auto-selected per accessory by lowest MAPE</a:t>
            </a:r>
            <a:endParaRPr lang="en-US" sz="1300" dirty="0"/>
          </a:p>
        </p:txBody>
      </p:sp>
      <p:sp>
        <p:nvSpPr>
          <p:cNvPr id="7" name="Shape 5"/>
          <p:cNvSpPr/>
          <p:nvPr/>
        </p:nvSpPr>
        <p:spPr>
          <a:xfrm>
            <a:off x="457200" y="1783080"/>
            <a:ext cx="4754880" cy="2880360"/>
          </a:xfrm>
          <a:prstGeom prst="rect">
            <a:avLst/>
          </a:prstGeom>
          <a:solidFill>
            <a:srgbClr val="172A3A"/>
          </a:solidFill>
          <a:ln w="19050">
            <a:solidFill>
              <a:srgbClr val="00BCD4"/>
            </a:solidFill>
            <a:prstDash val="solid"/>
          </a:ln>
        </p:spPr>
      </p:sp>
      <p:sp>
        <p:nvSpPr>
          <p:cNvPr id="8" name="Text 6"/>
          <p:cNvSpPr/>
          <p:nvPr/>
        </p:nvSpPr>
        <p:spPr>
          <a:xfrm>
            <a:off x="640080" y="1874520"/>
            <a:ext cx="2743200" cy="274320"/>
          </a:xfrm>
          <a:prstGeom prst="rect">
            <a:avLst/>
          </a:prstGeom>
          <a:noFill/>
          <a:ln/>
        </p:spPr>
        <p:txBody>
          <a:bodyPr wrap="square" lIns="0" tIns="0" rIns="0" bIns="0" rtlCol="0" anchor="ctr"/>
          <a:lstStyle/>
          <a:p>
            <a:pPr algn="l" indent="0" marL="0">
              <a:buNone/>
            </a:pPr>
            <a:r>
              <a:rPr lang="en-US" sz="1000" b="1" dirty="0">
                <a:solidFill>
                  <a:srgbClr val="00BCD4"/>
                </a:solidFill>
                <a:latin typeface="Arial" pitchFamily="34" charset="0"/>
                <a:ea typeface="Arial" pitchFamily="34" charset="-122"/>
                <a:cs typeface="Arial" pitchFamily="34" charset="-120"/>
              </a:rPr>
              <a:t>EXAMPLE: ACCCODE D49</a:t>
            </a:r>
            <a:endParaRPr lang="en-US" sz="1000" dirty="0"/>
          </a:p>
        </p:txBody>
      </p:sp>
      <p:sp>
        <p:nvSpPr>
          <p:cNvPr id="9" name="Text 7"/>
          <p:cNvSpPr/>
          <p:nvPr/>
        </p:nvSpPr>
        <p:spPr>
          <a:xfrm>
            <a:off x="640080" y="2103120"/>
            <a:ext cx="4389120" cy="228600"/>
          </a:xfrm>
          <a:prstGeom prst="rect">
            <a:avLst/>
          </a:prstGeom>
          <a:noFill/>
          <a:ln/>
        </p:spPr>
        <p:txBody>
          <a:bodyPr wrap="square" lIns="0" tIns="0" rIns="0" bIns="0" rtlCol="0" anchor="ctr"/>
          <a:lstStyle/>
          <a:p>
            <a:pPr algn="l" indent="0" marL="0">
              <a:buNone/>
            </a:pPr>
            <a:r>
              <a:rPr lang="en-US" sz="900" dirty="0">
                <a:solidFill>
                  <a:srgbClr val="B0B8C0"/>
                </a:solidFill>
                <a:latin typeface="Arial" pitchFamily="34" charset="0"/>
                <a:ea typeface="Arial" pitchFamily="34" charset="-122"/>
                <a:cs typeface="Arial" pitchFamily="34" charset="-120"/>
              </a:rPr>
              <a:t>Trained on 50 months  ·  Tested on 3 months  ·  Forecasted 12 months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4389120" cy="914400"/>
        </p:xfrm>
        <a:graphic>
          <a:graphicData uri="http://schemas.openxmlformats.org/drawingml/2006/table">
            <a:tbl>
              <a:tblPr/>
              <a:tblGrid>
                <a:gridCol w="1097280"/>
                <a:gridCol w="914400"/>
                <a:gridCol w="1097280"/>
                <a:gridCol w="914400"/>
              </a:tblGrid>
              <a:tr h="274320">
                <a:tc>
                  <a:txBody>
                    <a:bodyPr/>
                    <a:lstStyle/>
                    <a:p>
                      <a:pPr algn="ctr" indent="0" marL="0">
                        <a:buNone/>
                      </a:pPr>
                      <a:r>
                        <a:rPr lang="en-US" sz="900" b="1" dirty="0">
                          <a:solidFill>
                            <a:srgbClr val="B0B8C0"/>
                          </a:solidFill>
                        </a:rPr>
                        <a:t>MODEL</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MAPE</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RMSE</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algn="ctr" indent="0" marL="0">
                        <a:buNone/>
                      </a:pPr>
                      <a:r>
                        <a:rPr lang="en-US" sz="900" b="1" dirty="0">
                          <a:solidFill>
                            <a:srgbClr val="B0B8C0"/>
                          </a:solidFill>
                        </a:rPr>
                        <a:t>SELECTED</a:t>
                      </a:r>
                      <a:endParaRPr lang="en-US" sz="9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r>
              <a:tr h="320040">
                <a:tc>
                  <a:txBody>
                    <a:bodyPr/>
                    <a:lstStyle/>
                    <a:p>
                      <a:pPr algn="ctr" indent="0" marL="0">
                        <a:buNone/>
                      </a:pPr>
                      <a:r>
                        <a:rPr lang="en-US" sz="1000" b="1" dirty="0">
                          <a:solidFill>
                            <a:srgbClr val="F9A825"/>
                          </a:solidFill>
                        </a:rPr>
                        <a:t>SARIMA</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FFFFFF"/>
                          </a:solidFill>
                        </a:rPr>
                        <a:t>8.9%</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FFFFFF"/>
                          </a:solidFill>
                        </a:rPr>
                        <a:t>1,808.6</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b="1" dirty="0">
                          <a:solidFill>
                            <a:srgbClr val="4CAF50"/>
                          </a:solidFill>
                        </a:rPr>
                        <a:t>✓ Best</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r h="320040">
                <a:tc>
                  <a:txBody>
                    <a:bodyPr/>
                    <a:lstStyle/>
                    <a:p>
                      <a:pPr algn="ctr" indent="0" marL="0">
                        <a:buNone/>
                      </a:pPr>
                      <a:r>
                        <a:rPr lang="en-US" sz="1000" b="1" dirty="0">
                          <a:solidFill>
                            <a:srgbClr val="00BCD4"/>
                          </a:solidFill>
                        </a:rPr>
                        <a:t>BSTS</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14.6%</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1,890.2</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r h="320040">
                <a:tc>
                  <a:txBody>
                    <a:bodyPr/>
                    <a:lstStyle/>
                    <a:p>
                      <a:pPr algn="ctr" indent="0" marL="0">
                        <a:buNone/>
                      </a:pPr>
                      <a:r>
                        <a:rPr lang="en-US" sz="1000" b="1" dirty="0">
                          <a:solidFill>
                            <a:srgbClr val="E53935"/>
                          </a:solidFill>
                        </a:rPr>
                        <a:t>SES</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17.2%</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r>
                        <a:rPr lang="en-US" sz="1000" dirty="0">
                          <a:solidFill>
                            <a:srgbClr val="B0B8C0"/>
                          </a:solidFill>
                        </a:rPr>
                        <a:t>1,982.8</a:t>
                      </a: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algn="ctr" indent="0" marL="0">
                        <a:buNone/>
                      </a:pPr>
                      <a:endParaRPr lang="en-US" sz="1000" dirty="0"/>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r>
            </a:tbl>
          </a:graphicData>
        </a:graphic>
      </p:graphicFrame>
      <p:sp>
        <p:nvSpPr>
          <p:cNvPr id="11" name="Text 8"/>
          <p:cNvSpPr/>
          <p:nvPr/>
        </p:nvSpPr>
        <p:spPr>
          <a:xfrm>
            <a:off x="640080" y="3657600"/>
            <a:ext cx="4389120" cy="868680"/>
          </a:xfrm>
          <a:prstGeom prst="rect">
            <a:avLst/>
          </a:prstGeom>
          <a:noFill/>
          <a:ln/>
        </p:spPr>
        <p:txBody>
          <a:bodyPr wrap="square" lIns="0" tIns="0" rIns="0" bIns="0" rtlCol="0" anchor="t"/>
          <a:lstStyle/>
          <a:p>
            <a:pPr algn="l" indent="0" marL="0">
              <a:buNone/>
            </a:pPr>
            <a:r>
              <a:rPr lang="en-US" sz="950" dirty="0">
                <a:solidFill>
                  <a:srgbClr val="B0B8C0"/>
                </a:solidFill>
                <a:latin typeface="Arial" pitchFamily="34" charset="0"/>
                <a:ea typeface="Arial" pitchFamily="34" charset="-122"/>
                <a:cs typeface="Arial" pitchFamily="34" charset="-120"/>
              </a:rPr>
              <a:t>The model with lowest MAPE on the 3-month holdout wins.</a:t>
            </a:r>
            <a:endParaRPr lang="en-US" sz="950" dirty="0"/>
          </a:p>
          <a:p>
            <a:pPr algn="l" indent="0" marL="0">
              <a:buNone/>
            </a:pPr>
            <a:r>
              <a:rPr lang="en-US" sz="950" dirty="0">
                <a:solidFill>
                  <a:srgbClr val="B0B8C0"/>
                </a:solidFill>
                <a:latin typeface="Arial" pitchFamily="34" charset="0"/>
                <a:ea typeface="Arial" pitchFamily="34" charset="-122"/>
                <a:cs typeface="Arial" pitchFamily="34" charset="-120"/>
              </a:rPr>
              <a:t>For D49, SARIMA captured the seasonal pattern best (8.9% error).</a:t>
            </a:r>
            <a:endParaRPr lang="en-US" sz="950" dirty="0"/>
          </a:p>
          <a:p>
            <a:pPr algn="l" indent="0" marL="0">
              <a:buNone/>
            </a:pPr>
            <a:r>
              <a:rPr lang="en-US" sz="950" dirty="0">
                <a:solidFill>
                  <a:srgbClr val="B0B8C0"/>
                </a:solidFill>
                <a:latin typeface="Arial" pitchFamily="34" charset="0"/>
                <a:ea typeface="Arial" pitchFamily="34" charset="-122"/>
                <a:cs typeface="Arial" pitchFamily="34" charset="-120"/>
              </a:rPr>
              <a:t>Different accessories may pick different winners.</a:t>
            </a:r>
            <a:endParaRPr lang="en-US" sz="950" dirty="0"/>
          </a:p>
        </p:txBody>
      </p:sp>
      <p:sp>
        <p:nvSpPr>
          <p:cNvPr id="12" name="Shape 9"/>
          <p:cNvSpPr/>
          <p:nvPr/>
        </p:nvSpPr>
        <p:spPr>
          <a:xfrm>
            <a:off x="5486400" y="1783080"/>
            <a:ext cx="3383280" cy="2880360"/>
          </a:xfrm>
          <a:prstGeom prst="rect">
            <a:avLst/>
          </a:prstGeom>
          <a:solidFill>
            <a:srgbClr val="172A3A"/>
          </a:solidFill>
          <a:ln w="12700">
            <a:solidFill>
              <a:srgbClr val="1A6A73"/>
            </a:solidFill>
            <a:prstDash val="solid"/>
          </a:ln>
        </p:spPr>
      </p:sp>
      <p:sp>
        <p:nvSpPr>
          <p:cNvPr id="13" name="Text 10"/>
          <p:cNvSpPr/>
          <p:nvPr/>
        </p:nvSpPr>
        <p:spPr>
          <a:xfrm>
            <a:off x="5577840" y="1874520"/>
            <a:ext cx="3200400" cy="320040"/>
          </a:xfrm>
          <a:prstGeom prst="rect">
            <a:avLst/>
          </a:prstGeom>
          <a:noFill/>
          <a:ln/>
        </p:spPr>
        <p:txBody>
          <a:bodyPr wrap="square" lIns="0" tIns="0" rIns="0" bIns="0" rtlCol="0" anchor="ctr"/>
          <a:lstStyle/>
          <a:p>
            <a:pPr algn="ctr" indent="0" marL="0">
              <a:buNone/>
            </a:pPr>
            <a:r>
              <a:rPr lang="en-US" sz="1000" b="1" dirty="0">
                <a:solidFill>
                  <a:srgbClr val="00BCD4"/>
                </a:solidFill>
                <a:latin typeface="Arial" pitchFamily="34" charset="0"/>
                <a:ea typeface="Arial" pitchFamily="34" charset="-122"/>
                <a:cs typeface="Arial" pitchFamily="34" charset="-120"/>
              </a:rPr>
              <a:t>WIN RATE ACROSS ALL ACCESSORIES</a:t>
            </a:r>
            <a:endParaRPr lang="en-US" sz="1000" dirty="0"/>
          </a:p>
        </p:txBody>
      </p:sp>
      <p:sp>
        <p:nvSpPr>
          <p:cNvPr id="14" name="Text 11"/>
          <p:cNvSpPr/>
          <p:nvPr/>
        </p:nvSpPr>
        <p:spPr>
          <a:xfrm>
            <a:off x="5577840" y="23317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BSTS</a:t>
            </a:r>
            <a:endParaRPr lang="en-US" sz="1100" dirty="0"/>
          </a:p>
        </p:txBody>
      </p:sp>
      <p:sp>
        <p:nvSpPr>
          <p:cNvPr id="15" name="Shape 12"/>
          <p:cNvSpPr/>
          <p:nvPr/>
        </p:nvSpPr>
        <p:spPr>
          <a:xfrm>
            <a:off x="6492240" y="2395728"/>
            <a:ext cx="2103120" cy="283464"/>
          </a:xfrm>
          <a:prstGeom prst="rect">
            <a:avLst/>
          </a:prstGeom>
          <a:solidFill>
            <a:srgbClr val="0D1520"/>
          </a:solidFill>
          <a:ln/>
        </p:spPr>
      </p:sp>
      <p:sp>
        <p:nvSpPr>
          <p:cNvPr id="16" name="Shape 13"/>
          <p:cNvSpPr/>
          <p:nvPr/>
        </p:nvSpPr>
        <p:spPr>
          <a:xfrm>
            <a:off x="6492240" y="2395728"/>
            <a:ext cx="1997964" cy="283464"/>
          </a:xfrm>
          <a:prstGeom prst="rect">
            <a:avLst/>
          </a:prstGeom>
          <a:solidFill>
            <a:srgbClr val="00BCD4"/>
          </a:solidFill>
          <a:ln/>
        </p:spPr>
      </p:sp>
      <p:sp>
        <p:nvSpPr>
          <p:cNvPr id="17" name="Text 14"/>
          <p:cNvSpPr/>
          <p:nvPr/>
        </p:nvSpPr>
        <p:spPr>
          <a:xfrm>
            <a:off x="8535924" y="2331720"/>
            <a:ext cx="548640" cy="411480"/>
          </a:xfrm>
          <a:prstGeom prst="rect">
            <a:avLst/>
          </a:prstGeom>
          <a:noFill/>
          <a:ln/>
        </p:spPr>
        <p:txBody>
          <a:bodyPr wrap="square" lIns="0" tIns="0" rIns="0" bIns="0" rtlCol="0" anchor="ctr"/>
          <a:lstStyle/>
          <a:p>
            <a:pPr algn="l" indent="0" marL="0">
              <a:buNone/>
            </a:pPr>
            <a:r>
              <a:rPr lang="en-US" sz="1200" b="1" dirty="0">
                <a:solidFill>
                  <a:srgbClr val="00BCD4"/>
                </a:solidFill>
                <a:latin typeface="Arial" pitchFamily="34" charset="0"/>
                <a:ea typeface="Arial" pitchFamily="34" charset="-122"/>
                <a:cs typeface="Arial" pitchFamily="34" charset="-120"/>
              </a:rPr>
              <a:t>47.5%</a:t>
            </a:r>
            <a:endParaRPr lang="en-US" sz="1200" dirty="0"/>
          </a:p>
        </p:txBody>
      </p:sp>
      <p:sp>
        <p:nvSpPr>
          <p:cNvPr id="18" name="Text 15"/>
          <p:cNvSpPr/>
          <p:nvPr/>
        </p:nvSpPr>
        <p:spPr>
          <a:xfrm>
            <a:off x="5577840" y="30175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SARIMA</a:t>
            </a:r>
            <a:endParaRPr lang="en-US" sz="1100" dirty="0"/>
          </a:p>
        </p:txBody>
      </p:sp>
      <p:sp>
        <p:nvSpPr>
          <p:cNvPr id="19" name="Shape 16"/>
          <p:cNvSpPr/>
          <p:nvPr/>
        </p:nvSpPr>
        <p:spPr>
          <a:xfrm>
            <a:off x="6492240" y="3081528"/>
            <a:ext cx="2103120" cy="283464"/>
          </a:xfrm>
          <a:prstGeom prst="rect">
            <a:avLst/>
          </a:prstGeom>
          <a:solidFill>
            <a:srgbClr val="0D1520"/>
          </a:solidFill>
          <a:ln/>
        </p:spPr>
      </p:sp>
      <p:sp>
        <p:nvSpPr>
          <p:cNvPr id="20" name="Shape 17"/>
          <p:cNvSpPr/>
          <p:nvPr/>
        </p:nvSpPr>
        <p:spPr>
          <a:xfrm>
            <a:off x="6492240" y="3081528"/>
            <a:ext cx="1367028" cy="283464"/>
          </a:xfrm>
          <a:prstGeom prst="rect">
            <a:avLst/>
          </a:prstGeom>
          <a:solidFill>
            <a:srgbClr val="F9A825"/>
          </a:solidFill>
          <a:ln/>
        </p:spPr>
      </p:sp>
      <p:sp>
        <p:nvSpPr>
          <p:cNvPr id="21" name="Text 18"/>
          <p:cNvSpPr/>
          <p:nvPr/>
        </p:nvSpPr>
        <p:spPr>
          <a:xfrm>
            <a:off x="7904988" y="3017520"/>
            <a:ext cx="548640" cy="411480"/>
          </a:xfrm>
          <a:prstGeom prst="rect">
            <a:avLst/>
          </a:prstGeom>
          <a:noFill/>
          <a:ln/>
        </p:spPr>
        <p:txBody>
          <a:bodyPr wrap="square" lIns="0" tIns="0" rIns="0" bIns="0" rtlCol="0" anchor="ctr"/>
          <a:lstStyle/>
          <a:p>
            <a:pPr algn="l" indent="0" marL="0">
              <a:buNone/>
            </a:pPr>
            <a:r>
              <a:rPr lang="en-US" sz="1200" b="1" dirty="0">
                <a:solidFill>
                  <a:srgbClr val="F9A825"/>
                </a:solidFill>
                <a:latin typeface="Arial" pitchFamily="34" charset="0"/>
                <a:ea typeface="Arial" pitchFamily="34" charset="-122"/>
                <a:cs typeface="Arial" pitchFamily="34" charset="-120"/>
              </a:rPr>
              <a:t>32.5%</a:t>
            </a:r>
            <a:endParaRPr lang="en-US" sz="1200" dirty="0"/>
          </a:p>
        </p:txBody>
      </p:sp>
      <p:sp>
        <p:nvSpPr>
          <p:cNvPr id="22" name="Text 19"/>
          <p:cNvSpPr/>
          <p:nvPr/>
        </p:nvSpPr>
        <p:spPr>
          <a:xfrm>
            <a:off x="5577840" y="3703320"/>
            <a:ext cx="868680" cy="411480"/>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SES</a:t>
            </a:r>
            <a:endParaRPr lang="en-US" sz="1100" dirty="0"/>
          </a:p>
        </p:txBody>
      </p:sp>
      <p:sp>
        <p:nvSpPr>
          <p:cNvPr id="23" name="Shape 20"/>
          <p:cNvSpPr/>
          <p:nvPr/>
        </p:nvSpPr>
        <p:spPr>
          <a:xfrm>
            <a:off x="6492240" y="3767328"/>
            <a:ext cx="2103120" cy="283464"/>
          </a:xfrm>
          <a:prstGeom prst="rect">
            <a:avLst/>
          </a:prstGeom>
          <a:solidFill>
            <a:srgbClr val="0D1520"/>
          </a:solidFill>
          <a:ln/>
        </p:spPr>
      </p:sp>
      <p:sp>
        <p:nvSpPr>
          <p:cNvPr id="24" name="Shape 21"/>
          <p:cNvSpPr/>
          <p:nvPr/>
        </p:nvSpPr>
        <p:spPr>
          <a:xfrm>
            <a:off x="6492240" y="3767328"/>
            <a:ext cx="841248" cy="283464"/>
          </a:xfrm>
          <a:prstGeom prst="rect">
            <a:avLst/>
          </a:prstGeom>
          <a:solidFill>
            <a:srgbClr val="E53935"/>
          </a:solidFill>
          <a:ln/>
        </p:spPr>
      </p:sp>
      <p:sp>
        <p:nvSpPr>
          <p:cNvPr id="25" name="Text 22"/>
          <p:cNvSpPr/>
          <p:nvPr/>
        </p:nvSpPr>
        <p:spPr>
          <a:xfrm>
            <a:off x="7379208" y="3703320"/>
            <a:ext cx="548640" cy="411480"/>
          </a:xfrm>
          <a:prstGeom prst="rect">
            <a:avLst/>
          </a:prstGeom>
          <a:noFill/>
          <a:ln/>
        </p:spPr>
        <p:txBody>
          <a:bodyPr wrap="square" lIns="0" tIns="0" rIns="0" bIns="0" rtlCol="0" anchor="ctr"/>
          <a:lstStyle/>
          <a:p>
            <a:pPr algn="l" indent="0" marL="0">
              <a:buNone/>
            </a:pPr>
            <a:r>
              <a:rPr lang="en-US" sz="1200" b="1" dirty="0">
                <a:solidFill>
                  <a:srgbClr val="E53935"/>
                </a:solidFill>
                <a:latin typeface="Arial" pitchFamily="34" charset="0"/>
                <a:ea typeface="Arial" pitchFamily="34" charset="-122"/>
                <a:cs typeface="Arial" pitchFamily="34" charset="-120"/>
              </a:rPr>
              <a:t>20%</a:t>
            </a:r>
            <a:endParaRPr lang="en-US" sz="1200" dirty="0"/>
          </a:p>
        </p:txBody>
      </p:sp>
      <p:sp>
        <p:nvSpPr>
          <p:cNvPr id="26" name="Shape 23"/>
          <p:cNvSpPr/>
          <p:nvPr/>
        </p:nvSpPr>
        <p:spPr>
          <a:xfrm>
            <a:off x="5577840" y="4114800"/>
            <a:ext cx="3200400" cy="411480"/>
          </a:xfrm>
          <a:prstGeom prst="rect">
            <a:avLst/>
          </a:prstGeom>
          <a:solidFill>
            <a:srgbClr val="0D1520"/>
          </a:solidFill>
          <a:ln/>
        </p:spPr>
      </p:sp>
      <p:sp>
        <p:nvSpPr>
          <p:cNvPr id="27" name="Text 24"/>
          <p:cNvSpPr/>
          <p:nvPr/>
        </p:nvSpPr>
        <p:spPr>
          <a:xfrm>
            <a:off x="5669280" y="4114800"/>
            <a:ext cx="3017520" cy="411480"/>
          </a:xfrm>
          <a:prstGeom prst="rect">
            <a:avLst/>
          </a:prstGeom>
          <a:noFill/>
          <a:ln/>
        </p:spPr>
        <p:txBody>
          <a:bodyPr wrap="square" lIns="0" tIns="0" rIns="0" bIns="0" rtlCol="0" anchor="ctr"/>
          <a:lstStyle/>
          <a:p>
            <a:pPr algn="ctr" indent="0" marL="0">
              <a:buNone/>
            </a:pPr>
            <a:r>
              <a:rPr lang="en-US" sz="900" i="1" dirty="0">
                <a:solidFill>
                  <a:srgbClr val="00BCD4"/>
                </a:solidFill>
                <a:latin typeface="Arial" pitchFamily="34" charset="0"/>
                <a:ea typeface="Arial" pitchFamily="34" charset="-122"/>
                <a:cs typeface="Arial" pitchFamily="34" charset="-120"/>
              </a:rPr>
              <a:t>BSTS wins nearly half — confirming</a:t>
            </a:r>
            <a:endParaRPr lang="en-US" sz="900" dirty="0"/>
          </a:p>
          <a:p>
            <a:pPr algn="ctr" indent="0" marL="0">
              <a:buNone/>
            </a:pPr>
            <a:r>
              <a:rPr lang="en-US" sz="900" i="1" dirty="0">
                <a:solidFill>
                  <a:srgbClr val="00BCD4"/>
                </a:solidFill>
                <a:latin typeface="Arial" pitchFamily="34" charset="0"/>
                <a:ea typeface="Arial" pitchFamily="34" charset="-122"/>
                <a:cs typeface="Arial" pitchFamily="34" charset="-120"/>
              </a:rPr>
              <a:t>AutoML (PAL_AUTOML_FIT) recommendation</a:t>
            </a:r>
            <a:endParaRPr lang="en-US" sz="900" dirty="0"/>
          </a:p>
        </p:txBody>
      </p:sp>
      <p:sp>
        <p:nvSpPr>
          <p:cNvPr id="28" name="Text 25"/>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00" dirty="0">
                <a:solidFill>
                  <a:srgbClr val="B0B8C0"/>
                </a:solidFill>
                <a:latin typeface="Arial" pitchFamily="34" charset="0"/>
                <a:ea typeface="Arial" pitchFamily="34" charset="-122"/>
                <a:cs typeface="Arial" pitchFamily="34" charset="-120"/>
              </a:rPr>
              <a:t>Accuracy measured by MAPE on 3-month holdout  ·  All models powered by SAP PAL  ·  Best model auto-selected per accessory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457200" y="228600"/>
            <a:ext cx="2011680" cy="365760"/>
          </a:xfrm>
          <a:prstGeom prst="rect">
            <a:avLst/>
          </a:prstGeom>
          <a:solidFill>
            <a:srgbClr val="F9A825"/>
          </a:solidFill>
          <a:ln/>
        </p:spPr>
      </p:sp>
      <p:sp>
        <p:nvSpPr>
          <p:cNvPr id="4" name="Text 2"/>
          <p:cNvSpPr/>
          <p:nvPr/>
        </p:nvSpPr>
        <p:spPr>
          <a:xfrm>
            <a:off x="457200" y="228600"/>
            <a:ext cx="2011680" cy="36576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KEY TAKEAWAYS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We Learned Building with SAP PAL</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indent="0" marL="0">
              <a:buNone/>
            </a:pPr>
            <a:r>
              <a:rPr lang="en-US" sz="1200" dirty="0">
                <a:solidFill>
                  <a:srgbClr val="B0B8C0"/>
                </a:solidFill>
                <a:latin typeface="Arial" pitchFamily="34" charset="0"/>
                <a:ea typeface="Arial" pitchFamily="34" charset="-122"/>
                <a:cs typeface="Arial" pitchFamily="34" charset="-120"/>
              </a:rPr>
              <a:t>Lessons from 4 iterations, 13 scripts, and hands-on experience with SAP Predictive Analysis Library</a:t>
            </a:r>
            <a:endParaRPr lang="en-US" sz="1200" dirty="0"/>
          </a:p>
        </p:txBody>
      </p:sp>
      <p:sp>
        <p:nvSpPr>
          <p:cNvPr id="7" name="Shape 5"/>
          <p:cNvSpPr/>
          <p:nvPr/>
        </p:nvSpPr>
        <p:spPr>
          <a:xfrm>
            <a:off x="457200" y="1554480"/>
            <a:ext cx="8229600" cy="594360"/>
          </a:xfrm>
          <a:prstGeom prst="rect">
            <a:avLst/>
          </a:prstGeom>
          <a:solidFill>
            <a:srgbClr val="172A3A"/>
          </a:solidFill>
          <a:ln w="12700">
            <a:solidFill>
              <a:srgbClr val="00BCD4"/>
            </a:solidFill>
            <a:prstDash val="solid"/>
          </a:ln>
        </p:spPr>
      </p:sp>
      <p:sp>
        <p:nvSpPr>
          <p:cNvPr id="8" name="Text 6"/>
          <p:cNvSpPr/>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00BCD4"/>
                </a:solidFill>
                <a:latin typeface="Arial" pitchFamily="34" charset="0"/>
                <a:ea typeface="Arial" pitchFamily="34" charset="-122"/>
                <a:cs typeface="Arial" pitchFamily="34" charset="-120"/>
              </a:rPr>
              <a:t>01</a:t>
            </a:r>
            <a:endParaRPr lang="en-US" sz="1600" dirty="0"/>
          </a:p>
        </p:txBody>
      </p:sp>
      <p:sp>
        <p:nvSpPr>
          <p:cNvPr id="9" name="Shape 7"/>
          <p:cNvSpPr/>
          <p:nvPr/>
        </p:nvSpPr>
        <p:spPr>
          <a:xfrm>
            <a:off x="1051560" y="1627632"/>
            <a:ext cx="36576" cy="448056"/>
          </a:xfrm>
          <a:prstGeom prst="rect">
            <a:avLst/>
          </a:prstGeom>
          <a:solidFill>
            <a:srgbClr val="00BCD4"/>
          </a:solidFill>
          <a:ln/>
        </p:spPr>
      </p:sp>
      <p:sp>
        <p:nvSpPr>
          <p:cNvPr id="10" name="Text 8"/>
          <p:cNvSpPr/>
          <p:nvPr/>
        </p:nvSpPr>
        <p:spPr>
          <a:xfrm>
            <a:off x="1188720" y="1572768"/>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Let AutoML Guide, Then Implement Directly</a:t>
            </a:r>
            <a:endParaRPr lang="en-US" sz="1200" dirty="0"/>
          </a:p>
        </p:txBody>
      </p:sp>
      <p:sp>
        <p:nvSpPr>
          <p:cNvPr id="11" name="Text 9"/>
          <p:cNvSpPr/>
          <p:nvPr/>
        </p:nvSpPr>
        <p:spPr>
          <a:xfrm>
            <a:off x="1188720" y="1810512"/>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PAL_AUTOML_FIT recommended BSTS as the best algorithm. But AutoML's prediction function had a technical limitation. So we implemented BSTS directly via hana_ml — getting the best model without the bug.</a:t>
            </a:r>
            <a:endParaRPr lang="en-US" sz="900" dirty="0"/>
          </a:p>
        </p:txBody>
      </p:sp>
      <p:sp>
        <p:nvSpPr>
          <p:cNvPr id="12" name="Shape 10"/>
          <p:cNvSpPr/>
          <p:nvPr/>
        </p:nvSpPr>
        <p:spPr>
          <a:xfrm>
            <a:off x="457200" y="2221992"/>
            <a:ext cx="8229600" cy="594360"/>
          </a:xfrm>
          <a:prstGeom prst="rect">
            <a:avLst/>
          </a:prstGeom>
          <a:solidFill>
            <a:srgbClr val="172A3A"/>
          </a:solidFill>
          <a:ln w="12700">
            <a:solidFill>
              <a:srgbClr val="F9A825"/>
            </a:solidFill>
            <a:prstDash val="solid"/>
          </a:ln>
        </p:spPr>
      </p:sp>
      <p:sp>
        <p:nvSpPr>
          <p:cNvPr id="13" name="Text 11"/>
          <p:cNvSpPr/>
          <p:nvPr/>
        </p:nvSpPr>
        <p:spPr>
          <a:xfrm>
            <a:off x="548640" y="2267712"/>
            <a:ext cx="457200" cy="457200"/>
          </a:xfrm>
          <a:prstGeom prst="rect">
            <a:avLst/>
          </a:prstGeom>
          <a:noFill/>
          <a:ln/>
        </p:spPr>
        <p:txBody>
          <a:bodyPr wrap="square" lIns="0" tIns="0" rIns="0" bIns="0" rtlCol="0" anchor="ctr"/>
          <a:lstStyle/>
          <a:p>
            <a:pPr algn="ctr" indent="0" marL="0">
              <a:buNone/>
            </a:pPr>
            <a:r>
              <a:rPr lang="en-US" sz="1600" b="1" dirty="0">
                <a:solidFill>
                  <a:srgbClr val="F9A825"/>
                </a:solidFill>
                <a:latin typeface="Arial" pitchFamily="34" charset="0"/>
                <a:ea typeface="Arial" pitchFamily="34" charset="-122"/>
                <a:cs typeface="Arial" pitchFamily="34" charset="-120"/>
              </a:rPr>
              <a:t>02</a:t>
            </a:r>
            <a:endParaRPr lang="en-US" sz="1600" dirty="0"/>
          </a:p>
        </p:txBody>
      </p:sp>
      <p:sp>
        <p:nvSpPr>
          <p:cNvPr id="14" name="Shape 12"/>
          <p:cNvSpPr/>
          <p:nvPr/>
        </p:nvSpPr>
        <p:spPr>
          <a:xfrm>
            <a:off x="1051560" y="2295144"/>
            <a:ext cx="36576" cy="448056"/>
          </a:xfrm>
          <a:prstGeom prst="rect">
            <a:avLst/>
          </a:prstGeom>
          <a:solidFill>
            <a:srgbClr val="F9A825"/>
          </a:solidFill>
          <a:ln/>
        </p:spPr>
      </p:sp>
      <p:sp>
        <p:nvSpPr>
          <p:cNvPr id="15" name="Text 13"/>
          <p:cNvSpPr/>
          <p:nvPr/>
        </p:nvSpPr>
        <p:spPr>
          <a:xfrm>
            <a:off x="1188720" y="2240280"/>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One Model Doesn't Fit All Accessories</a:t>
            </a:r>
            <a:endParaRPr lang="en-US" sz="1200" dirty="0"/>
          </a:p>
        </p:txBody>
      </p:sp>
      <p:sp>
        <p:nvSpPr>
          <p:cNvPr id="16" name="Text 14"/>
          <p:cNvSpPr/>
          <p:nvPr/>
        </p:nvSpPr>
        <p:spPr>
          <a:xfrm>
            <a:off x="1188720" y="2478024"/>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Different accessories have different demand patterns. Steady parts favor SES. Seasonal parts favor SARIMA. Complex patterns favor BSTS. Running all 3 and auto-selecting ensures best fit every time.</a:t>
            </a:r>
            <a:endParaRPr lang="en-US" sz="900" dirty="0"/>
          </a:p>
        </p:txBody>
      </p:sp>
      <p:sp>
        <p:nvSpPr>
          <p:cNvPr id="17" name="Shape 15"/>
          <p:cNvSpPr/>
          <p:nvPr/>
        </p:nvSpPr>
        <p:spPr>
          <a:xfrm>
            <a:off x="457200" y="2889504"/>
            <a:ext cx="8229600" cy="594360"/>
          </a:xfrm>
          <a:prstGeom prst="rect">
            <a:avLst/>
          </a:prstGeom>
          <a:solidFill>
            <a:srgbClr val="172A3A"/>
          </a:solidFill>
          <a:ln w="12700">
            <a:solidFill>
              <a:srgbClr val="FF9800"/>
            </a:solidFill>
            <a:prstDash val="solid"/>
          </a:ln>
        </p:spPr>
      </p:sp>
      <p:sp>
        <p:nvSpPr>
          <p:cNvPr id="18" name="Text 16"/>
          <p:cNvSpPr/>
          <p:nvPr/>
        </p:nvSpPr>
        <p:spPr>
          <a:xfrm>
            <a:off x="548640" y="2935224"/>
            <a:ext cx="457200" cy="457200"/>
          </a:xfrm>
          <a:prstGeom prst="rect">
            <a:avLst/>
          </a:prstGeom>
          <a:noFill/>
          <a:ln/>
        </p:spPr>
        <p:txBody>
          <a:bodyPr wrap="square" lIns="0" tIns="0" rIns="0" bIns="0" rtlCol="0" anchor="ctr"/>
          <a:lstStyle/>
          <a:p>
            <a:pPr algn="ctr" indent="0" marL="0">
              <a:buNone/>
            </a:pPr>
            <a:r>
              <a:rPr lang="en-US" sz="1600" b="1" dirty="0">
                <a:solidFill>
                  <a:srgbClr val="FF9800"/>
                </a:solidFill>
                <a:latin typeface="Arial" pitchFamily="34" charset="0"/>
                <a:ea typeface="Arial" pitchFamily="34" charset="-122"/>
                <a:cs typeface="Arial" pitchFamily="34" charset="-120"/>
              </a:rPr>
              <a:t>03</a:t>
            </a:r>
            <a:endParaRPr lang="en-US" sz="1600" dirty="0"/>
          </a:p>
        </p:txBody>
      </p:sp>
      <p:sp>
        <p:nvSpPr>
          <p:cNvPr id="19" name="Shape 17"/>
          <p:cNvSpPr/>
          <p:nvPr/>
        </p:nvSpPr>
        <p:spPr>
          <a:xfrm>
            <a:off x="1051560" y="2962656"/>
            <a:ext cx="36576" cy="448056"/>
          </a:xfrm>
          <a:prstGeom prst="rect">
            <a:avLst/>
          </a:prstGeom>
          <a:solidFill>
            <a:srgbClr val="FF9800"/>
          </a:solidFill>
          <a:ln/>
        </p:spPr>
      </p:sp>
      <p:sp>
        <p:nvSpPr>
          <p:cNvPr id="20" name="Text 18"/>
          <p:cNvSpPr/>
          <p:nvPr/>
        </p:nvSpPr>
        <p:spPr>
          <a:xfrm>
            <a:off x="1188720" y="2907792"/>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Data Quality Is Half the Battle</a:t>
            </a:r>
            <a:endParaRPr lang="en-US" sz="1200" dirty="0"/>
          </a:p>
        </p:txBody>
      </p:sp>
      <p:sp>
        <p:nvSpPr>
          <p:cNvPr id="21" name="Text 19"/>
          <p:cNvSpPr/>
          <p:nvPr/>
        </p:nvSpPr>
        <p:spPr>
          <a:xfrm>
            <a:off x="1188720" y="3145536"/>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Production shutdowns, one-time events, and incomplete months created spikes that fooled the models. Adding outlier detection and data cliff checks via PAL dramatically improved forecast accuracy.</a:t>
            </a:r>
            <a:endParaRPr lang="en-US" sz="900" dirty="0"/>
          </a:p>
        </p:txBody>
      </p:sp>
      <p:sp>
        <p:nvSpPr>
          <p:cNvPr id="22" name="Shape 20"/>
          <p:cNvSpPr/>
          <p:nvPr/>
        </p:nvSpPr>
        <p:spPr>
          <a:xfrm>
            <a:off x="457200" y="3557016"/>
            <a:ext cx="8229600" cy="594360"/>
          </a:xfrm>
          <a:prstGeom prst="rect">
            <a:avLst/>
          </a:prstGeom>
          <a:solidFill>
            <a:srgbClr val="172A3A"/>
          </a:solidFill>
          <a:ln w="12700">
            <a:solidFill>
              <a:srgbClr val="4CAF50"/>
            </a:solidFill>
            <a:prstDash val="solid"/>
          </a:ln>
        </p:spPr>
      </p:sp>
      <p:sp>
        <p:nvSpPr>
          <p:cNvPr id="23" name="Text 21"/>
          <p:cNvSpPr/>
          <p:nvPr/>
        </p:nvSpPr>
        <p:spPr>
          <a:xfrm>
            <a:off x="548640" y="3602736"/>
            <a:ext cx="457200" cy="457200"/>
          </a:xfrm>
          <a:prstGeom prst="rect">
            <a:avLst/>
          </a:prstGeom>
          <a:noFill/>
          <a:ln/>
        </p:spPr>
        <p:txBody>
          <a:bodyPr wrap="square" lIns="0" tIns="0" rIns="0" bIns="0" rtlCol="0" anchor="ctr"/>
          <a:lstStyle/>
          <a:p>
            <a:pPr algn="ctr" indent="0" marL="0">
              <a:buNone/>
            </a:pPr>
            <a:r>
              <a:rPr lang="en-US" sz="1600" b="1" dirty="0">
                <a:solidFill>
                  <a:srgbClr val="4CAF50"/>
                </a:solidFill>
                <a:latin typeface="Arial" pitchFamily="34" charset="0"/>
                <a:ea typeface="Arial" pitchFamily="34" charset="-122"/>
                <a:cs typeface="Arial" pitchFamily="34" charset="-120"/>
              </a:rPr>
              <a:t>04</a:t>
            </a:r>
            <a:endParaRPr lang="en-US" sz="1600" dirty="0"/>
          </a:p>
        </p:txBody>
      </p:sp>
      <p:sp>
        <p:nvSpPr>
          <p:cNvPr id="24" name="Shape 22"/>
          <p:cNvSpPr/>
          <p:nvPr/>
        </p:nvSpPr>
        <p:spPr>
          <a:xfrm>
            <a:off x="1051560" y="3630168"/>
            <a:ext cx="36576" cy="448056"/>
          </a:xfrm>
          <a:prstGeom prst="rect">
            <a:avLst/>
          </a:prstGeom>
          <a:solidFill>
            <a:srgbClr val="4CAF50"/>
          </a:solidFill>
          <a:ln/>
        </p:spPr>
      </p:sp>
      <p:sp>
        <p:nvSpPr>
          <p:cNvPr id="25" name="Text 23"/>
          <p:cNvSpPr/>
          <p:nvPr/>
        </p:nvSpPr>
        <p:spPr>
          <a:xfrm>
            <a:off x="1188720" y="3575304"/>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Parameters Matter — Make Them Tunable</a:t>
            </a:r>
            <a:endParaRPr lang="en-US" sz="1200" dirty="0"/>
          </a:p>
        </p:txBody>
      </p:sp>
      <p:sp>
        <p:nvSpPr>
          <p:cNvPr id="26" name="Text 24"/>
          <p:cNvSpPr/>
          <p:nvPr/>
        </p:nvSpPr>
        <p:spPr>
          <a:xfrm>
            <a:off x="1188720" y="3813048"/>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BSTS niter, SARIMA METHOD, SES ALPHA — small parameter changes produced significant accuracy gains. Exposing them via REST API enables on-demand fine-tuning without redeploying.</a:t>
            </a:r>
            <a:endParaRPr lang="en-US" sz="900" dirty="0"/>
          </a:p>
        </p:txBody>
      </p:sp>
      <p:sp>
        <p:nvSpPr>
          <p:cNvPr id="27" name="Shape 25"/>
          <p:cNvSpPr/>
          <p:nvPr/>
        </p:nvSpPr>
        <p:spPr>
          <a:xfrm>
            <a:off x="457200" y="4224528"/>
            <a:ext cx="8229600" cy="594360"/>
          </a:xfrm>
          <a:prstGeom prst="rect">
            <a:avLst/>
          </a:prstGeom>
          <a:solidFill>
            <a:srgbClr val="172A3A"/>
          </a:solidFill>
          <a:ln w="12700">
            <a:solidFill>
              <a:srgbClr val="2196F3"/>
            </a:solidFill>
            <a:prstDash val="solid"/>
          </a:ln>
        </p:spPr>
      </p:sp>
      <p:sp>
        <p:nvSpPr>
          <p:cNvPr id="28" name="Text 26"/>
          <p:cNvSpPr/>
          <p:nvPr/>
        </p:nvSpPr>
        <p:spPr>
          <a:xfrm>
            <a:off x="548640" y="4270248"/>
            <a:ext cx="457200" cy="457200"/>
          </a:xfrm>
          <a:prstGeom prst="rect">
            <a:avLst/>
          </a:prstGeom>
          <a:noFill/>
          <a:ln/>
        </p:spPr>
        <p:txBody>
          <a:bodyPr wrap="square" lIns="0" tIns="0" rIns="0" bIns="0" rtlCol="0" anchor="ctr"/>
          <a:lstStyle/>
          <a:p>
            <a:pPr algn="ctr" indent="0" marL="0">
              <a:buNone/>
            </a:pPr>
            <a:r>
              <a:rPr lang="en-US" sz="1600" b="1" dirty="0">
                <a:solidFill>
                  <a:srgbClr val="2196F3"/>
                </a:solidFill>
                <a:latin typeface="Arial" pitchFamily="34" charset="0"/>
                <a:ea typeface="Arial" pitchFamily="34" charset="-122"/>
                <a:cs typeface="Arial" pitchFamily="34" charset="-120"/>
              </a:rPr>
              <a:t>05</a:t>
            </a:r>
            <a:endParaRPr lang="en-US" sz="1600" dirty="0"/>
          </a:p>
        </p:txBody>
      </p:sp>
      <p:sp>
        <p:nvSpPr>
          <p:cNvPr id="29" name="Shape 27"/>
          <p:cNvSpPr/>
          <p:nvPr/>
        </p:nvSpPr>
        <p:spPr>
          <a:xfrm>
            <a:off x="1051560" y="4297680"/>
            <a:ext cx="36576" cy="448056"/>
          </a:xfrm>
          <a:prstGeom prst="rect">
            <a:avLst/>
          </a:prstGeom>
          <a:solidFill>
            <a:srgbClr val="2196F3"/>
          </a:solidFill>
          <a:ln/>
        </p:spPr>
      </p:sp>
      <p:sp>
        <p:nvSpPr>
          <p:cNvPr id="30" name="Text 28"/>
          <p:cNvSpPr/>
          <p:nvPr/>
        </p:nvSpPr>
        <p:spPr>
          <a:xfrm>
            <a:off x="1188720" y="4242816"/>
            <a:ext cx="7315200" cy="228600"/>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Everything Runs Inside HANA Cloud</a:t>
            </a:r>
            <a:endParaRPr lang="en-US" sz="1200" dirty="0"/>
          </a:p>
        </p:txBody>
      </p:sp>
      <p:sp>
        <p:nvSpPr>
          <p:cNvPr id="31" name="Text 29"/>
          <p:cNvSpPr/>
          <p:nvPr/>
        </p:nvSpPr>
        <p:spPr>
          <a:xfrm>
            <a:off x="1188720" y="4480560"/>
            <a:ext cx="7315200" cy="274320"/>
          </a:xfrm>
          <a:prstGeom prst="rect">
            <a:avLst/>
          </a:prstGeom>
          <a:noFill/>
          <a:ln/>
        </p:spPr>
        <p:txBody>
          <a:bodyPr wrap="square" lIns="0" tIns="0" rIns="0" bIns="0" rtlCol="0" anchor="t"/>
          <a:lstStyle/>
          <a:p>
            <a:pPr algn="l" indent="0" marL="0">
              <a:buNone/>
            </a:pPr>
            <a:r>
              <a:rPr lang="en-US" sz="900" dirty="0">
                <a:solidFill>
                  <a:srgbClr val="B0B8C0"/>
                </a:solidFill>
                <a:latin typeface="Arial" pitchFamily="34" charset="0"/>
                <a:ea typeface="Arial" pitchFamily="34" charset="-122"/>
                <a:cs typeface="Arial" pitchFamily="34" charset="-120"/>
              </a:rPr>
              <a:t>All ML computation happens inside SAP HANA via PAL. Python just orchestrates — no data leaves the database. This means enterprise security, speed, and scalability from day one.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Accessory Optimizer - SAP PAL Journey</dc:title>
  <dc:subject>PptxGenJS Presentation</dc:subject>
  <dc:creator>MBUSA Vehicle Logistics</dc:creator>
  <cp:lastModifiedBy>MBUSA Vehicle Logistics</cp:lastModifiedBy>
  <cp:revision>1</cp:revision>
  <dcterms:created xsi:type="dcterms:W3CDTF">2026-03-19T23:23:25Z</dcterms:created>
  <dcterms:modified xsi:type="dcterms:W3CDTF">2026-03-19T23:23:25Z</dcterms:modified>
</cp:coreProperties>
</file>